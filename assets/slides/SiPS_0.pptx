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8" r:id="rId1"/>
    <p:sldMasterId id="2147483918" r:id="rId2"/>
  </p:sldMasterIdLst>
  <p:notesMasterIdLst>
    <p:notesMasterId r:id="rId30"/>
  </p:notesMasterIdLst>
  <p:sldIdLst>
    <p:sldId id="256" r:id="rId3"/>
    <p:sldId id="257" r:id="rId4"/>
    <p:sldId id="258" r:id="rId5"/>
    <p:sldId id="261" r:id="rId6"/>
    <p:sldId id="259" r:id="rId7"/>
    <p:sldId id="260" r:id="rId8"/>
    <p:sldId id="288" r:id="rId9"/>
    <p:sldId id="283" r:id="rId10"/>
    <p:sldId id="284" r:id="rId11"/>
    <p:sldId id="285" r:id="rId12"/>
    <p:sldId id="287" r:id="rId13"/>
    <p:sldId id="266" r:id="rId14"/>
    <p:sldId id="281" r:id="rId15"/>
    <p:sldId id="282" r:id="rId16"/>
    <p:sldId id="289" r:id="rId17"/>
    <p:sldId id="269" r:id="rId18"/>
    <p:sldId id="270" r:id="rId19"/>
    <p:sldId id="279" r:id="rId20"/>
    <p:sldId id="290" r:id="rId21"/>
    <p:sldId id="280" r:id="rId22"/>
    <p:sldId id="291" r:id="rId23"/>
    <p:sldId id="272" r:id="rId24"/>
    <p:sldId id="275" r:id="rId25"/>
    <p:sldId id="286" r:id="rId26"/>
    <p:sldId id="276" r:id="rId27"/>
    <p:sldId id="271" r:id="rId28"/>
    <p:sldId id="278" r:id="rId29"/>
  </p:sldIdLst>
  <p:sldSz cx="9144000" cy="6858000" type="screen4x3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36FB73-5B13-1A47-23D2-377F200A2578}" v="1842" dt="2020-08-02T19:05:34.879"/>
    <p1510:client id="{55969425-DF1D-D17B-4D9C-CEF5C03B8D80}" v="7" dt="2020-07-30T18:59:03.483"/>
    <p1510:client id="{AA43BCFC-7FA6-37D8-B4AE-F40634FC91A8}" v="1099" dt="2020-07-30T20:39:23.906"/>
    <p1510:client id="{B7574434-E0E9-B34C-0E41-FDA56AF3F2F7}" v="5628" dt="2020-08-01T20:45:07.3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A443D-4B6D-4272-A811-647BD4C72D05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32BED7-CC46-44AA-AEB6-22F40445B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7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34F6-9CD0-4F38-832A-CAD69914ADEC}" type="datetime1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2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B6E7-4771-491F-9884-0690C8DA04B4}" type="datetime1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88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6A007-3A8C-4DB7-A8F7-576D39FE0E6A}" type="datetime1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630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9AF7-18BC-4F30-8873-968DA877B0A6}" type="datetime1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6E847-D862-40FD-B78D-B2CEC4BBBFF6}" type="datetime1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6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EDF6-D752-4070-8864-19FD0F4F6106}" type="datetime1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35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21BC-3606-4C38-98BE-175B2B7F9963}" type="datetime1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SIPS 2020   Virtual conference, 20-22 October 2020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01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B033290E-8E7A-44C5-915C-7AD45F5E550D}" type="datetime1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SIPS 2020   Virtual conference, 20-22 October 2020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36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E103-BC9B-43C8-8519-1CEB59469E7F}" type="datetime1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843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7196E-33CC-4659-BEED-D782A4724974}" type="datetime1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3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E1C6-36BB-4052-9036-F1982C580548}" type="datetime1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74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328D-EC2A-48E9-ACFF-FD6D72400E1D}" type="datetime1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9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B05C4-A8FA-401F-B866-9DAAA492D885}" type="datetime1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68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68FB4-39A5-42CD-9E6E-917F020ED531}" type="datetime1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86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D91B-999B-4150-9B74-7779F089E503}" type="datetime1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71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4D6B-40EC-472D-B081-C008B770E894}" type="datetime1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57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C5A7-C8EE-45C3-BB7A-3F29F85716C0}" type="datetime1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633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958A-C879-401F-9864-D272F01C0A14}" type="datetime1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952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FC5AC-908F-4853-A70F-97F318F99174}" type="datetime1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286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6EF48-7C0A-4C45-A39C-596ADC27B5B1}" type="datetime1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04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5B4BF-16B9-4182-9164-658591D18385}" type="datetime1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722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4C44D-174D-4408-9F30-7867D5027E9C}" type="datetime1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799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5AB55B1-1F20-4F17-AD0B-F988AB1BF0DB}" type="datetime1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32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B55B1-1F20-4F17-AD0B-F988AB1BF0DB}" type="datetime1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729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9132" y="0"/>
            <a:ext cx="9495694" cy="3566160"/>
          </a:xfrm>
        </p:spPr>
        <p:txBody>
          <a:bodyPr>
            <a:normAutofit/>
          </a:bodyPr>
          <a:lstStyle/>
          <a:p>
            <a:r>
              <a:rPr lang="en-GB" sz="4800" dirty="0">
                <a:solidFill>
                  <a:schemeClr val="tx1"/>
                </a:solidFill>
                <a:ea typeface="+mj-lt"/>
                <a:cs typeface="+mj-lt"/>
              </a:rPr>
              <a:t>Pushing the Limits of Energy Efficiency for Non-Binary LDPC Decoders on GPUs and FPGAs</a:t>
            </a:r>
            <a:br>
              <a:rPr lang="en-GB" sz="4800" dirty="0">
                <a:solidFill>
                  <a:schemeClr val="tx1"/>
                </a:solidFill>
                <a:ea typeface="+mj-lt"/>
                <a:cs typeface="+mj-lt"/>
              </a:rPr>
            </a:br>
            <a:br>
              <a:rPr lang="en-GB" sz="4800" dirty="0">
                <a:solidFill>
                  <a:schemeClr val="tx1"/>
                </a:solidFill>
                <a:cs typeface="Calibri Light"/>
              </a:rPr>
            </a:br>
            <a:endParaRPr lang="en-GB" sz="4800" dirty="0">
              <a:solidFill>
                <a:schemeClr val="tx1"/>
              </a:solidFill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122343"/>
            <a:ext cx="8889023" cy="359498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1800" dirty="0">
                <a:solidFill>
                  <a:srgbClr val="FF0000"/>
                </a:solidFill>
                <a:ea typeface="+mj-lt"/>
                <a:cs typeface="+mj-lt"/>
              </a:rPr>
              <a:t>Srinivasan Subramaniyan</a:t>
            </a:r>
            <a:r>
              <a:rPr lang="en-GB" sz="1800" dirty="0">
                <a:solidFill>
                  <a:schemeClr val="tx1"/>
                </a:solidFill>
                <a:ea typeface="+mj-lt"/>
                <a:cs typeface="+mj-lt"/>
              </a:rPr>
              <a:t>, Oscar Ferraz, Ashuthosh M R‡, Santosh Krishna‡, Guohui Wang†, Joseph R. Cavallaro†, Vitor Silva*, Gabriel Falcao* and Madhura Purnaprajna</a:t>
            </a:r>
          </a:p>
          <a:p>
            <a:endParaRPr lang="en-GB" sz="1800" dirty="0">
              <a:solidFill>
                <a:schemeClr val="tx1"/>
              </a:solidFill>
              <a:cs typeface="Calibri Light"/>
            </a:endParaRPr>
          </a:p>
          <a:p>
            <a:r>
              <a:rPr lang="en-GB" sz="1800" dirty="0">
                <a:solidFill>
                  <a:schemeClr val="tx1"/>
                </a:solidFill>
                <a:ea typeface="+mj-lt"/>
                <a:cs typeface="+mj-lt"/>
              </a:rPr>
              <a:t>Amrita Vishwa Vidyapeetham</a:t>
            </a:r>
          </a:p>
          <a:p>
            <a:r>
              <a:rPr lang="en-GB" sz="1800" dirty="0">
                <a:solidFill>
                  <a:schemeClr val="tx1"/>
                </a:solidFill>
                <a:ea typeface="+mj-lt"/>
                <a:cs typeface="+mj-lt"/>
              </a:rPr>
              <a:t>*University of Coimbra</a:t>
            </a:r>
          </a:p>
          <a:p>
            <a:r>
              <a:rPr lang="en-GB" sz="1800" dirty="0">
                <a:solidFill>
                  <a:schemeClr val="tx1"/>
                </a:solidFill>
                <a:ea typeface="+mj-lt"/>
                <a:cs typeface="+mj-lt"/>
              </a:rPr>
              <a:t>‡</a:t>
            </a:r>
            <a:r>
              <a:rPr lang="en-US" dirty="0">
                <a:ea typeface="+mj-lt"/>
                <a:cs typeface="+mj-lt"/>
              </a:rPr>
              <a:t>PES University</a:t>
            </a:r>
          </a:p>
          <a:p>
            <a:r>
              <a:rPr lang="en-GB" dirty="0">
                <a:cs typeface="Calibri Light"/>
              </a:rPr>
              <a:t>†Rice University</a:t>
            </a:r>
            <a:endParaRPr lang="en-GB" sz="1800" dirty="0">
              <a:solidFill>
                <a:schemeClr val="tx1"/>
              </a:solidFill>
              <a:cs typeface="Calibri Light"/>
            </a:endParaRPr>
          </a:p>
        </p:txBody>
      </p:sp>
      <p:sp>
        <p:nvSpPr>
          <p:cNvPr id="4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89971" y="6492875"/>
            <a:ext cx="5309080" cy="36512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SIPS 2020   Virtual conference, 20-22 October 2020  </a:t>
            </a:r>
          </a:p>
        </p:txBody>
      </p:sp>
      <p:pic>
        <p:nvPicPr>
          <p:cNvPr id="5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DD893C0B-2AE9-4CB8-88D7-C672592D3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0" y="5503087"/>
            <a:ext cx="2743200" cy="1026042"/>
          </a:xfrm>
          <a:prstGeom prst="rect">
            <a:avLst/>
          </a:prstGeom>
        </p:spPr>
      </p:pic>
      <p:pic>
        <p:nvPicPr>
          <p:cNvPr id="6" name="Imagem 6">
            <a:extLst>
              <a:ext uri="{FF2B5EF4-FFF2-40B4-BE49-F238E27FC236}">
                <a16:creationId xmlns:a16="http://schemas.microsoft.com/office/drawing/2014/main" id="{FAAB2E81-D4CB-43F9-91DD-0EDCE6E76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338" y="4341195"/>
            <a:ext cx="3268569" cy="553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A picture containing sitting, drawing&#10;&#10;Description automatically generated">
            <a:extLst>
              <a:ext uri="{FF2B5EF4-FFF2-40B4-BE49-F238E27FC236}">
                <a16:creationId xmlns:a16="http://schemas.microsoft.com/office/drawing/2014/main" id="{3B7BA4E7-6F22-4D31-9C0B-D796BF9D1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955" y="5656605"/>
            <a:ext cx="2743200" cy="682752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2FF3ADC1-79C7-4AC5-9CEB-731554BBB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278" y="3647910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ea typeface="+mj-lt"/>
                <a:cs typeface="+mj-lt"/>
              </a:rPr>
              <a:t>Introduction</a:t>
            </a:r>
            <a:endParaRPr lang="en-US" dirty="0">
              <a:solidFill>
                <a:schemeClr val="tx1"/>
              </a:solidFill>
              <a:cs typeface="Calibri Ligh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1EC1F71-3840-4BA8-85E7-E01CF8DF6E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052" y="3868614"/>
            <a:ext cx="6067389" cy="2359909"/>
          </a:xfrm>
        </p:spPr>
      </p:pic>
      <p:pic>
        <p:nvPicPr>
          <p:cNvPr id="6" name="Picture 6" descr="A satellite in space&#10;&#10;Description automatically generated">
            <a:extLst>
              <a:ext uri="{FF2B5EF4-FFF2-40B4-BE49-F238E27FC236}">
                <a16:creationId xmlns:a16="http://schemas.microsoft.com/office/drawing/2014/main" id="{EA21F04F-9D68-40B4-95FC-A9ED4144C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154" y="4577845"/>
            <a:ext cx="2743200" cy="14979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52B1FC-E28D-40E1-BFBE-7A7A547F9788}"/>
              </a:ext>
            </a:extLst>
          </p:cNvPr>
          <p:cNvSpPr txBox="1"/>
          <p:nvPr/>
        </p:nvSpPr>
        <p:spPr>
          <a:xfrm>
            <a:off x="770627" y="2021457"/>
            <a:ext cx="7186411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GB" sz="2000" dirty="0">
                <a:latin typeface="Times New Roman"/>
                <a:ea typeface="+mn-lt"/>
                <a:cs typeface="+mn-lt"/>
              </a:rPr>
              <a:t>Data transmissions are prone to errors</a:t>
            </a:r>
            <a:endParaRPr lang="en-US" sz="2000" dirty="0">
              <a:latin typeface="Times New Roman"/>
              <a:cs typeface="Calibri"/>
            </a:endParaRPr>
          </a:p>
          <a:p>
            <a:pPr marL="342900" indent="-342900">
              <a:buAutoNum type="arabicPeriod"/>
            </a:pPr>
            <a:endParaRPr lang="en-GB" sz="2000" dirty="0">
              <a:latin typeface="Times New Roman"/>
              <a:cs typeface="Calibri"/>
            </a:endParaRPr>
          </a:p>
          <a:p>
            <a:pPr marL="342900" indent="-342900">
              <a:buAutoNum type="arabicPeriod"/>
            </a:pPr>
            <a:r>
              <a:rPr lang="en-GB" sz="2000" dirty="0">
                <a:latin typeface="Times New Roman"/>
                <a:cs typeface="Calibri"/>
              </a:rPr>
              <a:t>Error Correcting codes helps us to retrieve information</a:t>
            </a:r>
            <a:br>
              <a:rPr lang="en-GB" sz="2000" dirty="0">
                <a:latin typeface="Times New Roman"/>
                <a:cs typeface="Calibri"/>
              </a:rPr>
            </a:br>
            <a:endParaRPr lang="en-GB" sz="2000" dirty="0">
              <a:latin typeface="Times New Roman"/>
              <a:cs typeface="Calibri"/>
            </a:endParaRPr>
          </a:p>
          <a:p>
            <a:pPr marL="342900" indent="-342900">
              <a:buAutoNum type="arabicPeriod"/>
            </a:pPr>
            <a:r>
              <a:rPr lang="en-GB" sz="2000" dirty="0">
                <a:latin typeface="Times New Roman"/>
                <a:cs typeface="Calibri"/>
              </a:rPr>
              <a:t>Error correcting codes increase robustness in data transmission</a:t>
            </a:r>
            <a:br>
              <a:rPr lang="en-GB" sz="2000" dirty="0">
                <a:latin typeface="Times New Roman"/>
                <a:cs typeface="Calibri"/>
              </a:rPr>
            </a:br>
            <a:br>
              <a:rPr lang="en-GB" sz="2000" dirty="0">
                <a:latin typeface="Times New Roman"/>
                <a:cs typeface="Calibri"/>
              </a:rPr>
            </a:br>
            <a:endParaRPr lang="en-GB" sz="2000" dirty="0">
              <a:latin typeface="Times New Roman"/>
              <a:cs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SIPS 2020   Virtual conference, 20-22 October 2020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338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  <a:ea typeface="+mj-lt"/>
                <a:cs typeface="+mj-lt"/>
              </a:rPr>
              <a:t>LDPC Codes</a:t>
            </a:r>
            <a:endParaRPr lang="en-US">
              <a:solidFill>
                <a:schemeClr val="tx1"/>
              </a:solidFill>
              <a:cs typeface="Calibri Ligh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D3E303-4BEC-4F2C-AA3D-82AE14E45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167" y="2190791"/>
            <a:ext cx="7917612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Calibri" panose="020F0502020204030204"/>
              </a:rPr>
              <a:t>These codes were invented by Robert Gallager in his Ph.D. dissertation at M.I.T. in 1960</a:t>
            </a: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Calibri" panose="020F0502020204030204"/>
              </a:rPr>
              <a:t>Operate close to the Shannon limit</a:t>
            </a: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Calibri" panose="020F0502020204030204"/>
              </a:rPr>
              <a:t>Higher BER performance</a:t>
            </a: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Calibri" panose="020F0502020204030204"/>
              </a:rPr>
              <a:t>Galois field arithmetic</a:t>
            </a: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Calibri" panose="020F0502020204030204"/>
              </a:rPr>
              <a:t>Their performance is similar to turbo codes, but they may have some implementation advantages.</a:t>
            </a: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Calibri" panose="020F0502020204030204"/>
              </a:rPr>
              <a:t>More parallelisable compared to Polar codes</a:t>
            </a:r>
          </a:p>
          <a:p>
            <a:pPr marL="457200" indent="-457200">
              <a:buAutoNum type="arabicPeriod"/>
            </a:pPr>
            <a:endParaRPr lang="en-GB" dirty="0">
              <a:solidFill>
                <a:schemeClr val="tx1"/>
              </a:solidFill>
              <a:latin typeface="Times New Roman"/>
              <a:cs typeface="Calibri" panose="020F0502020204030204"/>
            </a:endParaRPr>
          </a:p>
          <a:p>
            <a:pPr marL="457200" indent="-457200">
              <a:buAutoNum type="arabicPeriod"/>
            </a:pPr>
            <a:endParaRPr lang="en-GB" dirty="0">
              <a:solidFill>
                <a:schemeClr val="tx1"/>
              </a:solidFill>
              <a:latin typeface="Times New Roman"/>
              <a:cs typeface="Calibri" panose="020F050202020403020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3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  <a:cs typeface="Calibri Light"/>
              </a:rPr>
              <a:t>Binary vs Non-Binary</a:t>
            </a:r>
          </a:p>
        </p:txBody>
      </p:sp>
      <p:pic>
        <p:nvPicPr>
          <p:cNvPr id="8" name="Picture 9" descr="A picture containing text, map&#10;&#10;Description automatically generated">
            <a:extLst>
              <a:ext uri="{FF2B5EF4-FFF2-40B4-BE49-F238E27FC236}">
                <a16:creationId xmlns:a16="http://schemas.microsoft.com/office/drawing/2014/main" id="{5B6B467E-4C7A-4CE3-A4C2-4FEC542E1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335" y="1931998"/>
            <a:ext cx="7732142" cy="4282152"/>
          </a:xfrm>
        </p:spPr>
      </p:pic>
      <p:pic>
        <p:nvPicPr>
          <p:cNvPr id="10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E504B8AB-2725-412B-A134-171D49727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241" y="1716657"/>
            <a:ext cx="2437972" cy="4488610"/>
          </a:xfrm>
          <a:prstGeom prst="rect">
            <a:avLst/>
          </a:prstGeom>
        </p:spPr>
      </p:pic>
      <p:pic>
        <p:nvPicPr>
          <p:cNvPr id="12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B2049EBF-8264-41F4-865D-7A0027F8E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570" y="1742849"/>
            <a:ext cx="5503652" cy="4436228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5176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ea typeface="+mj-lt"/>
                <a:cs typeface="+mj-lt"/>
              </a:rPr>
              <a:t>Contribution of the Paper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D3E303-4BEC-4F2C-AA3D-82AE14E45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167" y="2190791"/>
            <a:ext cx="7917612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Calibri"/>
              </a:rPr>
              <a:t>High throughput GPU NB-LDPC decoder implementation</a:t>
            </a:r>
            <a:endParaRPr lang="en-US" dirty="0">
              <a:solidFill>
                <a:schemeClr val="tx1"/>
              </a:solidFill>
              <a:latin typeface="Times New Roman"/>
              <a:cs typeface="Calibri"/>
            </a:endParaRP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Calibri"/>
              </a:rPr>
              <a:t>HLS based design space exploration</a:t>
            </a:r>
            <a:endParaRPr lang="en-US" dirty="0">
              <a:solidFill>
                <a:schemeClr val="tx1"/>
              </a:solidFill>
              <a:latin typeface="Times New Roman"/>
              <a:cs typeface="Calibri"/>
            </a:endParaRP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Calibri"/>
              </a:rPr>
              <a:t>Custom RTL implementation</a:t>
            </a: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Calibri"/>
              </a:rPr>
              <a:t>Roofline model-based comparison </a:t>
            </a: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Calibri"/>
              </a:rPr>
              <a:t>Energy efficiency analysis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53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96" y="257850"/>
            <a:ext cx="7543800" cy="1450757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  <a:ea typeface="+mj-lt"/>
                <a:cs typeface="+mj-lt"/>
              </a:rPr>
              <a:t>Min-Max Algorithm</a:t>
            </a:r>
            <a:endParaRPr lang="en-US"/>
          </a:p>
        </p:txBody>
      </p:sp>
      <p:pic>
        <p:nvPicPr>
          <p:cNvPr id="10" name="Picture 10" descr="A close up of a map&#10;&#10;Description automatically generated">
            <a:extLst>
              <a:ext uri="{FF2B5EF4-FFF2-40B4-BE49-F238E27FC236}">
                <a16:creationId xmlns:a16="http://schemas.microsoft.com/office/drawing/2014/main" id="{A010A526-5BC4-46B2-B2CC-70047F685A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2689" y="1846263"/>
            <a:ext cx="6543071" cy="4022725"/>
          </a:xfrm>
        </p:spPr>
      </p:pic>
      <p:pic>
        <p:nvPicPr>
          <p:cNvPr id="11" name="Picture 11" descr="A picture containing clock, drawing, meter&#10;&#10;Description automatically generated">
            <a:extLst>
              <a:ext uri="{FF2B5EF4-FFF2-40B4-BE49-F238E27FC236}">
                <a16:creationId xmlns:a16="http://schemas.microsoft.com/office/drawing/2014/main" id="{6059E430-32EE-456C-8C5F-FF934068A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53" y="3660593"/>
            <a:ext cx="5244861" cy="2599192"/>
          </a:xfrm>
          <a:prstGeom prst="rect">
            <a:avLst/>
          </a:prstGeom>
        </p:spPr>
      </p:pic>
      <p:pic>
        <p:nvPicPr>
          <p:cNvPr id="12" name="Picture 12" descr="A picture containing clock, drawing, meter&#10;&#10;Description automatically generated">
            <a:extLst>
              <a:ext uri="{FF2B5EF4-FFF2-40B4-BE49-F238E27FC236}">
                <a16:creationId xmlns:a16="http://schemas.microsoft.com/office/drawing/2014/main" id="{28B2A397-00DE-4A55-B5C8-5E71EBFB8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853" y="3603084"/>
            <a:ext cx="2398144" cy="2584813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8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131" y="706199"/>
            <a:ext cx="9346223" cy="356616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Mapping Parallelism On Embedded Devices</a:t>
            </a:r>
          </a:p>
        </p:txBody>
      </p:sp>
    </p:spTree>
    <p:extLst>
      <p:ext uri="{BB962C8B-B14F-4D97-AF65-F5344CB8AC3E}">
        <p14:creationId xmlns:p14="http://schemas.microsoft.com/office/powerpoint/2010/main" val="825247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44" y="-942"/>
            <a:ext cx="9082176" cy="2370907"/>
          </a:xfrm>
        </p:spPr>
        <p:txBody>
          <a:bodyPr>
            <a:normAutofit/>
          </a:bodyPr>
          <a:lstStyle/>
          <a:p>
            <a:br>
              <a:rPr lang="en-GB" dirty="0">
                <a:solidFill>
                  <a:schemeClr val="tx1"/>
                </a:solidFill>
                <a:ea typeface="+mj-lt"/>
                <a:cs typeface="+mj-lt"/>
              </a:rPr>
            </a:br>
            <a:r>
              <a:rPr lang="en-GB">
                <a:solidFill>
                  <a:schemeClr val="tx1"/>
                </a:solidFill>
                <a:ea typeface="+mj-lt"/>
                <a:cs typeface="+mj-lt"/>
              </a:rPr>
              <a:t>GPU: Multi-threading and fast local memory access</a:t>
            </a:r>
          </a:p>
          <a:p>
            <a:endParaRPr lang="en-GB" dirty="0">
              <a:solidFill>
                <a:schemeClr val="tx1"/>
              </a:solidFill>
              <a:cs typeface="Calibri Ligh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D3E303-4BEC-4F2C-AA3D-82AE14E45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167" y="2190791"/>
            <a:ext cx="7917612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  <a:t>3 Kernels (F&amp;B, CNP, VNP)</a:t>
            </a:r>
            <a:endParaRPr lang="en-US" dirty="0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  <a:t>Dependencies b/w</a:t>
            </a:r>
            <a:b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  <a:t>F &amp; B  metrics </a:t>
            </a:r>
            <a:b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  <a:t>CNP and VNP Beta kernels</a:t>
            </a:r>
            <a:endParaRPr lang="en-US" dirty="0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  <a:t>1024 threads</a:t>
            </a:r>
            <a:endParaRPr lang="en-US" dirty="0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  <a:t>Shared memory implementation</a:t>
            </a:r>
            <a:endParaRPr lang="en-US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  <a:t>Challenge in scalability</a:t>
            </a:r>
            <a:b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endParaRPr lang="en-GB" dirty="0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</p:txBody>
      </p:sp>
      <p:pic>
        <p:nvPicPr>
          <p:cNvPr id="4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57A89CC1-31C2-402F-9F0F-4C1AC232E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412" y="1915689"/>
            <a:ext cx="4364560" cy="4299747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36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44" y="-942"/>
            <a:ext cx="9082176" cy="2370907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/>
                </a:solidFill>
                <a:ea typeface="+mj-lt"/>
                <a:cs typeface="+mj-lt"/>
              </a:rPr>
              <a:t>FPGA: HLS Implementation</a:t>
            </a:r>
            <a:endParaRPr lang="en-GB">
              <a:ea typeface="+mj-lt"/>
              <a:cs typeface="+mj-lt"/>
            </a:endParaRPr>
          </a:p>
          <a:p>
            <a:endParaRPr lang="en-GB" dirty="0">
              <a:solidFill>
                <a:schemeClr val="tx1"/>
              </a:solidFill>
              <a:cs typeface="Calibri Ligh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D3E303-4BEC-4F2C-AA3D-82AE14E45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29" y="1888866"/>
            <a:ext cx="3027907" cy="4023360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  <a:t>HLS implementation focused on</a:t>
            </a:r>
            <a:b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  <a:t>Low latency and high throughput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  <a:t>Custom bit allocation</a:t>
            </a:r>
            <a:endParaRPr lang="en-US" dirty="0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  <a:t>Optimising the Galois field operators</a:t>
            </a:r>
            <a:endParaRPr lang="en-GB" dirty="0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  <a:t>Combination of loop unrolling and array partitioning </a:t>
            </a:r>
            <a:endParaRPr lang="en-US" dirty="0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en-GB" dirty="0">
                <a:ea typeface="+mn-lt"/>
                <a:cs typeface="+mn-lt"/>
              </a:rPr>
            </a:br>
            <a:br>
              <a:rPr lang="en-GB" dirty="0">
                <a:ea typeface="+mn-lt"/>
                <a:cs typeface="+mn-lt"/>
              </a:rPr>
            </a:br>
            <a:endParaRPr lang="en-GB" dirty="0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GB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</p:txBody>
      </p:sp>
      <p:pic>
        <p:nvPicPr>
          <p:cNvPr id="6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3B8D9506-C26D-4413-BEB8-776DF2F93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691" y="2232466"/>
            <a:ext cx="5735711" cy="367976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920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735" y="200341"/>
            <a:ext cx="9082176" cy="2370907"/>
          </a:xfrm>
        </p:spPr>
        <p:txBody>
          <a:bodyPr>
            <a:normAutofit/>
          </a:bodyPr>
          <a:lstStyle/>
          <a:p>
            <a:br>
              <a:rPr lang="en-GB" dirty="0">
                <a:solidFill>
                  <a:schemeClr val="tx1"/>
                </a:solidFill>
                <a:ea typeface="+mj-lt"/>
                <a:cs typeface="+mj-lt"/>
              </a:rPr>
            </a:br>
            <a:r>
              <a:rPr lang="en-GB">
                <a:solidFill>
                  <a:schemeClr val="tx1"/>
                </a:solidFill>
                <a:ea typeface="+mj-lt"/>
                <a:cs typeface="+mj-lt"/>
              </a:rPr>
              <a:t>FPGA : RTL Implementation</a:t>
            </a:r>
          </a:p>
          <a:p>
            <a:endParaRPr lang="en-GB" dirty="0">
              <a:solidFill>
                <a:schemeClr val="tx1"/>
              </a:solidFill>
              <a:ea typeface="+mj-lt"/>
              <a:cs typeface="+mj-lt"/>
            </a:endParaRPr>
          </a:p>
          <a:p>
            <a:endParaRPr lang="en-GB" dirty="0">
              <a:solidFill>
                <a:schemeClr val="tx1"/>
              </a:solidFill>
              <a:cs typeface="Calibri Ligh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D3E303-4BEC-4F2C-AA3D-82AE14E45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29" y="1888866"/>
            <a:ext cx="7917612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Times New Roman"/>
              </a:rPr>
              <a:t>2 x (a + 1) cycles to assign  </a:t>
            </a:r>
            <a:b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GB">
                <a:solidFill>
                  <a:schemeClr val="tx1"/>
                </a:solidFill>
                <a:latin typeface="Times New Roman"/>
                <a:cs typeface="Times New Roman"/>
              </a:rPr>
              <a:t>F&amp;B Metrics</a:t>
            </a:r>
            <a:endParaRPr lang="en-US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Times New Roman"/>
              </a:rPr>
              <a:t>Other columns :(d c −1)×(4+a)</a:t>
            </a:r>
            <a:endParaRPr lang="en-US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Times New Roman"/>
              </a:rPr>
              <a:t>Total no of cycles : 19 + (7 × a) </a:t>
            </a:r>
            <a:endParaRPr lang="en-US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Times New Roman"/>
              </a:rPr>
              <a:t>VNP block is : (a × 3) + (a + 1)</a:t>
            </a:r>
            <a:endParaRPr lang="en-US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Times New Roman"/>
              </a:rPr>
              <a:t>No of cycles for entire design </a:t>
            </a:r>
            <a:b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GB">
                <a:solidFill>
                  <a:schemeClr val="tx1"/>
                </a:solidFill>
                <a:latin typeface="Times New Roman"/>
                <a:cs typeface="Times New Roman"/>
              </a:rPr>
              <a:t>=10 × ((11 × a) + 20)</a:t>
            </a:r>
            <a:endParaRPr lang="en-US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Arrays are stored in BRAM</a:t>
            </a:r>
            <a:endParaRPr lang="en-US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</p:txBody>
      </p:sp>
      <p:pic>
        <p:nvPicPr>
          <p:cNvPr id="4" name="Picture 8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7EE7A64B-3CA3-4987-B989-A50D24014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965" y="1730715"/>
            <a:ext cx="4726620" cy="418151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56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0"/>
            <a:ext cx="7543800" cy="356616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         Experimental Setup</a:t>
            </a:r>
          </a:p>
        </p:txBody>
      </p:sp>
    </p:spTree>
    <p:extLst>
      <p:ext uri="{BB962C8B-B14F-4D97-AF65-F5344CB8AC3E}">
        <p14:creationId xmlns:p14="http://schemas.microsoft.com/office/powerpoint/2010/main" val="958602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90" y="221370"/>
            <a:ext cx="8334554" cy="1450757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/>
                </a:solidFill>
                <a:ea typeface="+mj-lt"/>
                <a:cs typeface="+mj-lt"/>
              </a:rPr>
              <a:t>Design Constraints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463FF5C-55FE-4D13-991B-741E1B5C3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endParaRPr lang="en-GB">
              <a:solidFill>
                <a:schemeClr val="tx1"/>
              </a:solidFill>
              <a:latin typeface="Times New Roman"/>
              <a:cs typeface="Calibri" panose="020F0502020204030204"/>
            </a:endParaRPr>
          </a:p>
          <a:p>
            <a:pPr marL="457200" indent="-457200"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Calibri" panose="020F0502020204030204"/>
              </a:rPr>
              <a:t>10 iterations</a:t>
            </a:r>
          </a:p>
          <a:p>
            <a:pPr marL="457200" indent="-457200"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Calibri" panose="020F0502020204030204"/>
              </a:rPr>
              <a:t>H matrix dimmension</a:t>
            </a:r>
            <a:r>
              <a:rPr lang="en-GB" dirty="0">
                <a:solidFill>
                  <a:schemeClr val="tx1"/>
                </a:solidFill>
                <a:latin typeface="Times New Roman"/>
                <a:cs typeface="Calibri" panose="020F0502020204030204"/>
              </a:rPr>
              <a:t> (256,384)</a:t>
            </a: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Calibri" panose="020F0502020204030204"/>
              </a:rPr>
              <a:t>Regular NB-LDPC code</a:t>
            </a: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Calibri" panose="020F0502020204030204"/>
              </a:rPr>
              <a:t>dc=3</a:t>
            </a:r>
          </a:p>
          <a:p>
            <a:pPr marL="457200" indent="-457200"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Calibri" panose="020F0502020204030204"/>
              </a:rPr>
              <a:t>dv=2</a:t>
            </a:r>
          </a:p>
          <a:p>
            <a:pPr marL="457200" indent="-457200"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Calibri" panose="020F0502020204030204"/>
              </a:rPr>
              <a:t>SNR= 2db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90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90" y="221370"/>
            <a:ext cx="8334554" cy="1450757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/>
                </a:solidFill>
                <a:ea typeface="+mj-lt"/>
                <a:cs typeface="+mj-lt"/>
              </a:rPr>
              <a:t> GPU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463FF5C-55FE-4D13-991B-741E1B5C3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Times New Roman"/>
              </a:rPr>
              <a:t>Jetson TX2</a:t>
            </a:r>
            <a:b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GB">
                <a:solidFill>
                  <a:schemeClr val="tx1"/>
                </a:solidFill>
                <a:latin typeface="Times New Roman"/>
                <a:cs typeface="Times New Roman"/>
              </a:rPr>
              <a:t>a) ARM Cortex –A57 CPU (4 cores)</a:t>
            </a:r>
            <a:b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GB">
                <a:solidFill>
                  <a:schemeClr val="tx1"/>
                </a:solidFill>
                <a:latin typeface="Times New Roman"/>
                <a:cs typeface="Times New Roman"/>
              </a:rPr>
              <a:t>b) Nvidia Denver 2 CPU (2 cores)</a:t>
            </a:r>
            <a:b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GB">
                <a:solidFill>
                  <a:schemeClr val="tx1"/>
                </a:solidFill>
                <a:latin typeface="Times New Roman"/>
                <a:cs typeface="Times New Roman"/>
              </a:rPr>
              <a:t>c) Nvidia GP10B (256 CUDA cores)</a:t>
            </a:r>
            <a:b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GB">
                <a:solidFill>
                  <a:schemeClr val="tx1"/>
                </a:solidFill>
                <a:latin typeface="Times New Roman"/>
                <a:cs typeface="Times New Roman"/>
              </a:rPr>
              <a:t>d) Power consumption less than 15 W</a:t>
            </a:r>
            <a:endParaRPr lang="en-US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GB" dirty="0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Times New Roman"/>
              </a:rPr>
              <a:t>Implemented in CUDA</a:t>
            </a:r>
            <a:endParaRPr lang="en-US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GB" dirty="0">
              <a:solidFill>
                <a:schemeClr val="tx1"/>
              </a:solidFill>
              <a:latin typeface="Times New Roman"/>
              <a:cs typeface="Calibri" panose="020F0502020204030204"/>
            </a:endParaRPr>
          </a:p>
        </p:txBody>
      </p:sp>
      <p:pic>
        <p:nvPicPr>
          <p:cNvPr id="4" name="Picture 5" descr="A close up of electronics&#10;&#10;Description automatically generated">
            <a:extLst>
              <a:ext uri="{FF2B5EF4-FFF2-40B4-BE49-F238E27FC236}">
                <a16:creationId xmlns:a16="http://schemas.microsoft.com/office/drawing/2014/main" id="{DFDF815A-E8D9-44C9-ACE4-6A362EDE9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306" y="3519253"/>
            <a:ext cx="4123426" cy="2651833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0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90" y="221370"/>
            <a:ext cx="8334554" cy="1450757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/>
                </a:solidFill>
                <a:ea typeface="+mj-lt"/>
                <a:cs typeface="+mj-lt"/>
              </a:rPr>
              <a:t>FPGA</a:t>
            </a:r>
            <a:endParaRPr lang="en-GB">
              <a:ea typeface="+mj-lt"/>
              <a:cs typeface="+mj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463FF5C-55FE-4D13-991B-741E1B5C3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Times New Roman"/>
              </a:rPr>
              <a:t>Virtex UltraScale+ XCVU13p-FSGA2577-1-i. </a:t>
            </a:r>
            <a:b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endParaRPr lang="en-US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Times New Roman"/>
              </a:rPr>
              <a:t>Implemented using Xilinx SDSoc 2019.1</a:t>
            </a:r>
            <a:b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endParaRPr lang="en-US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Times New Roman"/>
              </a:rPr>
              <a:t>Nimbix online platform 192 GB RAM (20 CPU cores)</a:t>
            </a:r>
            <a:br>
              <a:rPr lang="en-GB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endParaRPr lang="en-US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Times New Roman"/>
              </a:rPr>
              <a:t>Overall power consumption less than 15W</a:t>
            </a:r>
            <a:endParaRPr lang="en-US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GB" dirty="0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GB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9" descr="A close up of electronics&#10;&#10;Description automatically generated">
            <a:extLst>
              <a:ext uri="{FF2B5EF4-FFF2-40B4-BE49-F238E27FC236}">
                <a16:creationId xmlns:a16="http://schemas.microsoft.com/office/drawing/2014/main" id="{30799C26-7D97-4115-B544-12CC05B3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39" y="4007206"/>
            <a:ext cx="4258573" cy="2202074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709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2768" y="319337"/>
            <a:ext cx="7543800" cy="3566160"/>
          </a:xfrm>
        </p:spPr>
        <p:txBody>
          <a:bodyPr>
            <a:normAutofit/>
          </a:bodyPr>
          <a:lstStyle/>
          <a:p>
            <a:r>
              <a:rPr lang="pt-BR" sz="4800" dirty="0">
                <a:solidFill>
                  <a:schemeClr val="tx1"/>
                </a:solidFill>
              </a:rPr>
              <a:t>Experiments And Results</a:t>
            </a:r>
            <a:endParaRPr lang="en-US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85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90" y="221370"/>
            <a:ext cx="8334554" cy="1450757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/>
                </a:solidFill>
                <a:ea typeface="+mj-lt"/>
                <a:cs typeface="+mj-lt"/>
              </a:rPr>
              <a:t>GPU- Results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77023CC-3EE4-4BBB-BE71-A397A7D0B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Calibri"/>
              </a:rPr>
              <a:t>Multi-threading , running 1024 in multiple blocks</a:t>
            </a: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cs typeface="Calibri"/>
              </a:rPr>
              <a:t>Shared memory (48KB for each block)</a:t>
            </a:r>
          </a:p>
          <a:p>
            <a:pPr marL="457200" indent="-457200"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Calibri"/>
              </a:rPr>
              <a:t>Full shared memory occupancy except for first kernel in GF (4)</a:t>
            </a:r>
          </a:p>
          <a:p>
            <a:pPr marL="457200" indent="-457200"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Calibri"/>
              </a:rPr>
              <a:t>Table below shows the variation of throughput vs frequency</a:t>
            </a:r>
          </a:p>
          <a:p>
            <a:pPr marL="0" indent="0">
              <a:buNone/>
            </a:pPr>
            <a:endParaRPr lang="en-GB">
              <a:solidFill>
                <a:schemeClr val="tx1"/>
              </a:solidFill>
              <a:latin typeface="Times New Roman"/>
              <a:cs typeface="Calibri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C1A165E9-BF02-4DB3-B4D7-FBE792B16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519019"/>
              </p:ext>
            </p:extLst>
          </p:nvPr>
        </p:nvGraphicFramePr>
        <p:xfrm>
          <a:off x="1509622" y="4226943"/>
          <a:ext cx="55498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52609567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420920673"/>
                    </a:ext>
                  </a:extLst>
                </a:gridCol>
                <a:gridCol w="1968499">
                  <a:extLst>
                    <a:ext uri="{9D8B030D-6E8A-4147-A177-3AD203B41FA5}">
                      <a16:colId xmlns:a16="http://schemas.microsoft.com/office/drawing/2014/main" val="2944636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Galois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Throughput (Mbps)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Frequency(Mhz)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55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1.856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12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2.335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164084"/>
                  </a:ext>
                </a:extLst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53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16" y="5710"/>
            <a:ext cx="8334554" cy="1450757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/>
                </a:solidFill>
                <a:ea typeface="+mj-lt"/>
                <a:cs typeface="+mj-lt"/>
              </a:rPr>
              <a:t>FPGA- Description of Optimisations Implemented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4C1BB6-DA2E-4F6C-84BA-9F5F3E761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12" y="1802602"/>
            <a:ext cx="7543801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Calibri"/>
              </a:rPr>
              <a:t>m_axi interface is used</a:t>
            </a: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57200" indent="-457200"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cs typeface="Calibri"/>
              </a:rPr>
              <a:t>8 optimisation strategies were used</a:t>
            </a:r>
            <a:br>
              <a:rPr lang="en-GB">
                <a:solidFill>
                  <a:schemeClr val="tx1"/>
                </a:solidFill>
                <a:latin typeface="Times New Roman"/>
                <a:cs typeface="Calibri"/>
              </a:rPr>
            </a:br>
            <a:r>
              <a:rPr lang="en-GB">
                <a:solidFill>
                  <a:schemeClr val="tx1"/>
                </a:solidFill>
                <a:latin typeface="Times New Roman"/>
                <a:cs typeface="Calibri"/>
              </a:rPr>
              <a:t>I) </a:t>
            </a: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    </a:t>
            </a:r>
            <a:br>
              <a:rPr lang="en-GB">
                <a:solidFill>
                  <a:schemeClr val="tx1"/>
                </a:solidFill>
                <a:latin typeface="Times New Roman"/>
                <a:cs typeface="Calibri"/>
              </a:rPr>
            </a:br>
            <a:r>
              <a:rPr lang="en-GB">
                <a:solidFill>
                  <a:schemeClr val="tx1"/>
                </a:solidFill>
                <a:latin typeface="Times New Roman"/>
                <a:cs typeface="Calibri"/>
              </a:rPr>
              <a:t>II)</a:t>
            </a: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    III</a:t>
            </a:r>
            <a:r>
              <a:rPr lang="en-GB">
                <a:solidFill>
                  <a:schemeClr val="tx1"/>
                </a:solidFill>
                <a:latin typeface="Times New Roman"/>
                <a:cs typeface="Calibri"/>
              </a:rPr>
              <a:t>)</a:t>
            </a: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  </a:t>
            </a:r>
            <a:r>
              <a:rPr lang="en-GB">
                <a:solidFill>
                  <a:schemeClr val="tx1"/>
                </a:solidFill>
                <a:latin typeface="Times New Roman"/>
                <a:cs typeface="Calibri"/>
              </a:rPr>
              <a:t>IV) V)</a:t>
            </a: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  </a:t>
            </a:r>
            <a:r>
              <a:rPr lang="en-GB">
                <a:solidFill>
                  <a:schemeClr val="tx1"/>
                </a:solidFill>
                <a:latin typeface="Times New Roman"/>
                <a:cs typeface="Calibri"/>
              </a:rPr>
              <a:t>VI)VII) </a:t>
            </a:r>
            <a:r>
              <a:rPr lang="en-GB">
                <a:ea typeface="+mn-lt"/>
                <a:cs typeface="+mn-lt"/>
              </a:rPr>
              <a:t>Pipelining the VN &amp; CN with complete array partitioning</a:t>
            </a:r>
            <a:br>
              <a:rPr lang="en-GB">
                <a:solidFill>
                  <a:schemeClr val="tx1"/>
                </a:solidFill>
                <a:latin typeface="Times New Roman"/>
                <a:cs typeface="Calibri"/>
              </a:rPr>
            </a:br>
            <a:r>
              <a:rPr lang="en-GB">
                <a:solidFill>
                  <a:schemeClr val="tx1"/>
                </a:solidFill>
                <a:latin typeface="Times New Roman"/>
                <a:cs typeface="Calibri"/>
              </a:rPr>
              <a:t>VIII) </a:t>
            </a:r>
            <a:r>
              <a:rPr lang="en-GB">
                <a:ea typeface="+mn-lt"/>
                <a:cs typeface="+mn-lt"/>
              </a:rPr>
              <a:t>I</a:t>
            </a:r>
            <a:endParaRPr lang="en-GB">
              <a:latin typeface="Times New Roman"/>
              <a:cs typeface="Calibri"/>
            </a:endParaRP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8D64AC0E-0712-4244-AAB0-4D300A567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532197"/>
              </p:ext>
            </p:extLst>
          </p:nvPr>
        </p:nvGraphicFramePr>
        <p:xfrm>
          <a:off x="301925" y="2185359"/>
          <a:ext cx="8577156" cy="4156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599">
                  <a:extLst>
                    <a:ext uri="{9D8B030D-6E8A-4147-A177-3AD203B41FA5}">
                      <a16:colId xmlns:a16="http://schemas.microsoft.com/office/drawing/2014/main" val="1334011257"/>
                    </a:ext>
                  </a:extLst>
                </a:gridCol>
                <a:gridCol w="7713557">
                  <a:extLst>
                    <a:ext uri="{9D8B030D-6E8A-4147-A177-3AD203B41FA5}">
                      <a16:colId xmlns:a16="http://schemas.microsoft.com/office/drawing/2014/main" val="4274940430"/>
                    </a:ext>
                  </a:extLst>
                </a:gridCol>
              </a:tblGrid>
              <a:tr h="3283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Index</a:t>
                      </a:r>
                      <a:endParaRPr lang="en-US" sz="200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Description</a:t>
                      </a:r>
                      <a:endParaRPr lang="en-US" sz="200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192580"/>
                  </a:ext>
                </a:extLst>
              </a:tr>
              <a:tr h="328343">
                <a:tc>
                  <a:txBody>
                    <a:bodyPr/>
                    <a:lstStyle/>
                    <a:p>
                      <a:r>
                        <a:rPr lang="en-GB" sz="2000">
                          <a:solidFill>
                            <a:schemeClr val="tx1"/>
                          </a:solidFill>
                          <a:latin typeface="Times New Roman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 b="0" i="0" u="none" strike="noStrike" noProof="0"/>
                        <a:t>C sequential version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72282"/>
                  </a:ext>
                </a:extLst>
              </a:tr>
              <a:tr h="3283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>
                          <a:solidFill>
                            <a:schemeClr val="tx1"/>
                          </a:solidFill>
                          <a:latin typeface="Times New Roman"/>
                        </a:rPr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 b="0" i="0" u="none" strike="noStrike" noProof="0"/>
                        <a:t>Array block partitioning + loop unrolling of inner loops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206006"/>
                  </a:ext>
                </a:extLst>
              </a:tr>
              <a:tr h="3283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>
                          <a:solidFill>
                            <a:schemeClr val="tx1"/>
                          </a:solidFill>
                          <a:latin typeface="Times New Roman"/>
                        </a:rPr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 b="0" i="0" u="none" strike="noStrike" noProof="0"/>
                        <a:t>II + pipelining the VN alone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39440"/>
                  </a:ext>
                </a:extLst>
              </a:tr>
              <a:tr h="328343">
                <a:tc>
                  <a:txBody>
                    <a:bodyPr/>
                    <a:lstStyle/>
                    <a:p>
                      <a:r>
                        <a:rPr lang="en-GB" sz="2000">
                          <a:solidFill>
                            <a:schemeClr val="tx1"/>
                          </a:solidFill>
                          <a:latin typeface="Times New Roman"/>
                        </a:rP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 b="0" i="0" u="none" strike="noStrike" noProof="0"/>
                        <a:t>Pipelining the CN alone with complete array partitioning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853121"/>
                  </a:ext>
                </a:extLst>
              </a:tr>
              <a:tr h="328343">
                <a:tc>
                  <a:txBody>
                    <a:bodyPr/>
                    <a:lstStyle/>
                    <a:p>
                      <a:r>
                        <a:rPr lang="en-GB" sz="2000">
                          <a:solidFill>
                            <a:schemeClr val="tx1"/>
                          </a:solidFill>
                          <a:latin typeface="Times New Roman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 b="0" i="0" u="none" strike="noStrike" noProof="0"/>
                        <a:t>Pipelining the CN + 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68407"/>
                  </a:ext>
                </a:extLst>
              </a:tr>
              <a:tr h="847336">
                <a:tc>
                  <a:txBody>
                    <a:bodyPr/>
                    <a:lstStyle/>
                    <a:p>
                      <a:r>
                        <a:rPr lang="en-GB" sz="2000">
                          <a:solidFill>
                            <a:schemeClr val="tx1"/>
                          </a:solidFill>
                          <a:latin typeface="Times New Roman"/>
                        </a:rPr>
                        <a:t>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 b="0" i="0" u="none" strike="noStrike" noProof="0"/>
                        <a:t>Pipelining the CN with complete array partitioning +unrolling    inner loops in VN</a:t>
                      </a:r>
                      <a:br>
                        <a:rPr lang="en-GB" sz="2000" b="0" i="0" u="none" strike="noStrike" noProof="0"/>
                      </a:br>
                      <a:endParaRPr lang="en-GB" sz="2000" b="0" i="0" u="none" strike="noStrike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049773"/>
                  </a:ext>
                </a:extLst>
              </a:tr>
              <a:tr h="773193">
                <a:tc>
                  <a:txBody>
                    <a:bodyPr/>
                    <a:lstStyle/>
                    <a:p>
                      <a:r>
                        <a:rPr lang="en-GB" sz="2000">
                          <a:solidFill>
                            <a:schemeClr val="tx1"/>
                          </a:solidFill>
                          <a:latin typeface="Times New Roman"/>
                        </a:rPr>
                        <a:t>VII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 b="0" i="0" u="none" strike="noStrike" noProof="0" dirty="0"/>
                        <a:t>Implementation using custom bit allocation + using instances + VII</a:t>
                      </a:r>
                      <a:br>
                        <a:rPr lang="en-GB" sz="2000" b="0" i="0" u="none" strike="noStrike" noProof="0" dirty="0"/>
                      </a:br>
                      <a:endParaRPr lang="en-GB" sz="2000" b="0" i="0" u="none" strike="noStrike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43890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16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50" y="5710"/>
            <a:ext cx="8737120" cy="145075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  <a:ea typeface="+mj-lt"/>
                <a:cs typeface="+mj-lt"/>
              </a:rPr>
              <a:t>FPGA- Frequency/Latency vs Galois Field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C23C1D87-EE13-4283-AA1A-273406951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39" y="1816685"/>
            <a:ext cx="8830032" cy="3872776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818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50" y="5710"/>
            <a:ext cx="8737120" cy="145075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  <a:ea typeface="+mj-lt"/>
                <a:cs typeface="+mj-lt"/>
              </a:rPr>
              <a:t>FPGA- Frequency/Latency vs Galois Field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4C1BB6-DA2E-4F6C-84BA-9F5F3E761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80" y="1816979"/>
            <a:ext cx="7543801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Optimization VIII is the best one for the HLS implementaion</a:t>
            </a:r>
            <a:b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</a:b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      • Best Latency is 4.6 K cycles for GF(4)</a:t>
            </a:r>
            <a:b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</a:b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      • Best Frequency </a:t>
            </a: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is 572 MHz  for GF(4)</a:t>
            </a:r>
            <a:b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</a:br>
            <a: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       </a:t>
            </a:r>
            <a:endParaRPr lang="en-GB">
              <a:solidFill>
                <a:schemeClr val="tx1"/>
              </a:solidFill>
              <a:latin typeface="Times New Roman"/>
              <a:cs typeface="Calibri" panose="020F0502020204030204"/>
            </a:endParaRPr>
          </a:p>
          <a:p>
            <a:pPr marL="457200" indent="-457200"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For the RTL implementation</a:t>
            </a:r>
            <a:b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</a:b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      • Best Latency  is 640 cycles for GF (4)</a:t>
            </a:r>
            <a:b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</a:b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      • Best Frequency is 100 MHz for GF (4)</a:t>
            </a:r>
            <a:br>
              <a:rPr lang="en-GB" dirty="0">
                <a:latin typeface="Times New Roman"/>
                <a:ea typeface="+mn-lt"/>
                <a:cs typeface="+mn-lt"/>
              </a:rPr>
            </a:br>
            <a:endParaRPr lang="en-GB" dirty="0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br>
              <a:rPr lang="en-GB" dirty="0">
                <a:ea typeface="+mn-lt"/>
                <a:cs typeface="+mn-lt"/>
              </a:rPr>
            </a:br>
            <a:br>
              <a:rPr lang="en-GB" dirty="0">
                <a:ea typeface="+mn-lt"/>
                <a:cs typeface="+mn-lt"/>
              </a:rPr>
            </a:br>
            <a:endParaRPr lang="en-GB">
              <a:solidFill>
                <a:schemeClr val="tx1"/>
              </a:solidFill>
              <a:latin typeface="Times New Roman"/>
              <a:cs typeface="Calibri" panose="020F050202020403020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05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4" y="235748"/>
            <a:ext cx="9225950" cy="1939587"/>
          </a:xfrm>
        </p:spPr>
        <p:txBody>
          <a:bodyPr vert="horz" lIns="91440" tIns="45720" rIns="91440" bIns="45720" rtlCol="0" anchor="b">
            <a:noAutofit/>
          </a:bodyPr>
          <a:lstStyle/>
          <a:p>
            <a:br>
              <a:rPr lang="en-GB" sz="5400" dirty="0">
                <a:ea typeface="+mj-lt"/>
                <a:cs typeface="+mj-lt"/>
              </a:rPr>
            </a:br>
            <a:br>
              <a:rPr lang="en-GB" sz="5400" dirty="0">
                <a:ea typeface="+mj-lt"/>
                <a:cs typeface="+mj-lt"/>
              </a:rPr>
            </a:br>
            <a:br>
              <a:rPr lang="en-GB" sz="5400" dirty="0">
                <a:ea typeface="+mj-lt"/>
                <a:cs typeface="+mj-lt"/>
              </a:rPr>
            </a:br>
            <a:r>
              <a:rPr lang="en-GB">
                <a:solidFill>
                  <a:schemeClr val="tx1"/>
                </a:solidFill>
                <a:ea typeface="+mj-lt"/>
                <a:cs typeface="+mj-lt"/>
              </a:rPr>
              <a:t>FPGA :Throughput/Power vs Galois Field's</a:t>
            </a:r>
            <a:br>
              <a:rPr lang="en-GB" sz="5400" dirty="0">
                <a:ea typeface="+mj-lt"/>
                <a:cs typeface="+mj-lt"/>
              </a:rPr>
            </a:br>
            <a:endParaRPr lang="en-GB" sz="5400">
              <a:solidFill>
                <a:schemeClr val="tx1"/>
              </a:solidFill>
              <a:ea typeface="+mj-lt"/>
              <a:cs typeface="+mj-lt"/>
            </a:endParaRPr>
          </a:p>
        </p:txBody>
      </p:sp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C23C1D87-EE13-4283-AA1A-273406951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00" y="2010900"/>
            <a:ext cx="8669599" cy="3660228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52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4" y="235748"/>
            <a:ext cx="9225950" cy="1939587"/>
          </a:xfrm>
        </p:spPr>
        <p:txBody>
          <a:bodyPr vert="horz" lIns="91440" tIns="45720" rIns="91440" bIns="45720" rtlCol="0" anchor="b">
            <a:noAutofit/>
          </a:bodyPr>
          <a:lstStyle/>
          <a:p>
            <a:br>
              <a:rPr lang="en-GB" sz="5400" dirty="0">
                <a:ea typeface="+mj-lt"/>
                <a:cs typeface="+mj-lt"/>
              </a:rPr>
            </a:br>
            <a:br>
              <a:rPr lang="en-GB" sz="5400" dirty="0">
                <a:ea typeface="+mj-lt"/>
                <a:cs typeface="+mj-lt"/>
              </a:rPr>
            </a:br>
            <a:br>
              <a:rPr lang="en-GB" sz="5400" dirty="0">
                <a:ea typeface="+mj-lt"/>
                <a:cs typeface="+mj-lt"/>
              </a:rPr>
            </a:br>
            <a:r>
              <a:rPr lang="en-GB">
                <a:solidFill>
                  <a:schemeClr val="tx1"/>
                </a:solidFill>
                <a:ea typeface="+mj-lt"/>
                <a:cs typeface="+mj-lt"/>
              </a:rPr>
              <a:t>FPGA :Throughput/Power vs Galois Field's</a:t>
            </a:r>
            <a:br>
              <a:rPr lang="en-GB" sz="5400" dirty="0">
                <a:ea typeface="+mj-lt"/>
                <a:cs typeface="+mj-lt"/>
              </a:rPr>
            </a:br>
            <a:endParaRPr lang="en-GB" sz="5400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4C1BB6-DA2E-4F6C-84BA-9F5F3E761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80" y="1816979"/>
            <a:ext cx="7543801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Optimization VIII is the best one for the HLS implementaion</a:t>
            </a:r>
            <a:b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</a:b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      • Best throughput was obtained for GF (4) at 95 Mbps</a:t>
            </a:r>
            <a:b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</a:b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      • Least power consumption was for GF (4) at 3.4W</a:t>
            </a:r>
            <a:br>
              <a:rPr lang="en-GB" dirty="0">
                <a:latin typeface="Times New Roman"/>
                <a:ea typeface="+mn-lt"/>
                <a:cs typeface="+mn-lt"/>
              </a:rPr>
            </a:br>
            <a: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       </a:t>
            </a:r>
            <a:endParaRPr lang="en-GB" dirty="0">
              <a:solidFill>
                <a:schemeClr val="tx1"/>
              </a:solidFill>
              <a:latin typeface="Times New Roman"/>
              <a:cs typeface="Calibri" panose="020F0502020204030204"/>
            </a:endParaRPr>
          </a:p>
          <a:p>
            <a:pPr marL="457200" indent="-457200"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For the RTL implementation</a:t>
            </a:r>
            <a:b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</a:b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      • Best throughput was obtained for GF(4) at 202 Mbps</a:t>
            </a:r>
            <a:b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</a:b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      • Best power was obtained for GF(4) at 9.6 W</a:t>
            </a:r>
            <a:endParaRPr lang="en-GB" dirty="0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br>
              <a:rPr lang="en-GB" dirty="0">
                <a:ea typeface="+mn-lt"/>
                <a:cs typeface="+mn-lt"/>
              </a:rPr>
            </a:br>
            <a:br>
              <a:rPr lang="en-GB" dirty="0">
                <a:ea typeface="+mn-lt"/>
                <a:cs typeface="+mn-lt"/>
              </a:rPr>
            </a:br>
            <a:endParaRPr lang="en-GB">
              <a:solidFill>
                <a:schemeClr val="tx1"/>
              </a:solidFill>
              <a:latin typeface="Times New Roman"/>
              <a:cs typeface="Calibri" panose="020F050202020403020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20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39" y="48842"/>
            <a:ext cx="8334554" cy="1450757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/>
                </a:solidFill>
                <a:ea typeface="+mj-lt"/>
                <a:cs typeface="+mj-lt"/>
              </a:rPr>
              <a:t>Area Utilisation for HLS and RTL implementation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77023CC-3EE4-4BBB-BE71-A397A7D0B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185" y="1759470"/>
            <a:ext cx="7543801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GB">
                <a:solidFill>
                  <a:schemeClr val="tx1"/>
                </a:solidFill>
                <a:latin typeface="Times New Roman"/>
                <a:cs typeface="Calibri"/>
              </a:rPr>
              <a:t>The table list the resource utilisation for FPGAs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BA1132E6-0426-44DA-A7FE-6BF88B117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121323"/>
              </p:ext>
            </p:extLst>
          </p:nvPr>
        </p:nvGraphicFramePr>
        <p:xfrm>
          <a:off x="171825" y="2047089"/>
          <a:ext cx="8686768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631390795"/>
                    </a:ext>
                  </a:extLst>
                </a:gridCol>
                <a:gridCol w="1155699">
                  <a:extLst>
                    <a:ext uri="{9D8B030D-6E8A-4147-A177-3AD203B41FA5}">
                      <a16:colId xmlns:a16="http://schemas.microsoft.com/office/drawing/2014/main" val="823660761"/>
                    </a:ext>
                  </a:extLst>
                </a:gridCol>
                <a:gridCol w="1282699">
                  <a:extLst>
                    <a:ext uri="{9D8B030D-6E8A-4147-A177-3AD203B41FA5}">
                      <a16:colId xmlns:a16="http://schemas.microsoft.com/office/drawing/2014/main" val="2889351449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1586794610"/>
                    </a:ext>
                  </a:extLst>
                </a:gridCol>
                <a:gridCol w="1181074">
                  <a:extLst>
                    <a:ext uri="{9D8B030D-6E8A-4147-A177-3AD203B41FA5}">
                      <a16:colId xmlns:a16="http://schemas.microsoft.com/office/drawing/2014/main" val="1586132572"/>
                    </a:ext>
                  </a:extLst>
                </a:gridCol>
                <a:gridCol w="1523998">
                  <a:extLst>
                    <a:ext uri="{9D8B030D-6E8A-4147-A177-3AD203B41FA5}">
                      <a16:colId xmlns:a16="http://schemas.microsoft.com/office/drawing/2014/main" val="2362160380"/>
                    </a:ext>
                  </a:extLst>
                </a:gridCol>
                <a:gridCol w="1485898">
                  <a:extLst>
                    <a:ext uri="{9D8B030D-6E8A-4147-A177-3AD203B41FA5}">
                      <a16:colId xmlns:a16="http://schemas.microsoft.com/office/drawing/2014/main" val="1802546181"/>
                    </a:ext>
                  </a:extLst>
                </a:gridCol>
              </a:tblGrid>
              <a:tr h="62229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>
                          <a:latin typeface="Calibri"/>
                        </a:rPr>
                        <a:t>Index</a:t>
                      </a:r>
                    </a:p>
                    <a:p>
                      <a:pPr lvl="0">
                        <a:buNone/>
                      </a:pPr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        GF (4)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             GF(8)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943671"/>
                  </a:ext>
                </a:extLst>
              </a:tr>
              <a:tr h="328606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BRAM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LUT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BRAM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LUT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511612"/>
                  </a:ext>
                </a:extLst>
              </a:tr>
              <a:tr h="328606">
                <a:tc>
                  <a:txBody>
                    <a:bodyPr/>
                    <a:lstStyle/>
                    <a:p>
                      <a:r>
                        <a:rPr lang="en-GB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18 (0.6)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3440 (0.1)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5900 (0.3)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30 (1.1)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5721 (0.1)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8939 (0.5)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5779"/>
                  </a:ext>
                </a:extLst>
              </a:tr>
              <a:tr h="328606">
                <a:tc>
                  <a:txBody>
                    <a:bodyPr/>
                    <a:lstStyle/>
                    <a:p>
                      <a:r>
                        <a:rPr lang="en-GB" dirty="0"/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23 (0.9)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8371 (0.2)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10200(0.6)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35(1.3)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11403 (0.3)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15105 (0.8)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870084"/>
                  </a:ext>
                </a:extLst>
              </a:tr>
              <a:tr h="328606">
                <a:tc>
                  <a:txBody>
                    <a:bodyPr/>
                    <a:lstStyle/>
                    <a:p>
                      <a:r>
                        <a:rPr lang="en-GB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24(0.9)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9804(0.3)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11527(0.7)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36(1.3)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13856(0.4)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18895(1.1)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954206"/>
                  </a:ext>
                </a:extLst>
              </a:tr>
              <a:tr h="328606">
                <a:tc>
                  <a:txBody>
                    <a:bodyPr/>
                    <a:lstStyle/>
                    <a:p>
                      <a:r>
                        <a:rPr lang="en-GB"/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24(0.8)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11584(0.4)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13319(0.7)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40(1.4)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22479(0.6)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32286(1.8)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628542"/>
                  </a:ext>
                </a:extLst>
              </a:tr>
              <a:tr h="328606">
                <a:tc>
                  <a:txBody>
                    <a:bodyPr/>
                    <a:lstStyle/>
                    <a:p>
                      <a:r>
                        <a:rPr lang="en-GB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18(0.8)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24431(0.7)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23500(1.3)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36(1.3)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34233(0.9)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44775(2.5)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135114"/>
                  </a:ext>
                </a:extLst>
              </a:tr>
              <a:tr h="328606">
                <a:tc>
                  <a:txBody>
                    <a:bodyPr/>
                    <a:lstStyle/>
                    <a:p>
                      <a:r>
                        <a:rPr lang="en-GB"/>
                        <a:t>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24(0.9)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11458(0.3)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13034(0.7)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40(1.4)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22828(0.6)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32315(1.8)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98811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en-GB"/>
                        <a:t>VII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24(0.1)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11489(0.3)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13073(0.8)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40(1.4)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22999(0.6)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32649(1.8)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47848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VIII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48(1.78)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137508(4)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637639(38)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96(3.56)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275016(8)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1275278(76)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250193"/>
                  </a:ext>
                </a:extLst>
              </a:tr>
              <a:tr h="32860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RTL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768 (28.6)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83932(2.7)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333587(19)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768(28.6)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188586(5.46)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1380989(80)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084868"/>
                  </a:ext>
                </a:extLst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677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39" y="48842"/>
            <a:ext cx="8334554" cy="1450757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/>
                </a:solidFill>
                <a:ea typeface="+mj-lt"/>
                <a:cs typeface="+mj-lt"/>
              </a:rPr>
              <a:t>Roofline model analysis</a:t>
            </a:r>
            <a:endParaRPr lang="en-US">
              <a:solidFill>
                <a:schemeClr val="tx1"/>
              </a:solidFill>
              <a:cs typeface="Calibri Ligh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77023CC-3EE4-4BBB-BE71-A397A7D0B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185" y="1759470"/>
            <a:ext cx="7543801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HLS falls between GPU and RTL</a:t>
            </a: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7" descr="A close up of a map&#10;&#10;Description automatically generated">
            <a:extLst>
              <a:ext uri="{FF2B5EF4-FFF2-40B4-BE49-F238E27FC236}">
                <a16:creationId xmlns:a16="http://schemas.microsoft.com/office/drawing/2014/main" id="{2E6DC187-979E-4637-B620-089EA3806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9" y="2535481"/>
            <a:ext cx="9001426" cy="374772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54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4C8B-AF8B-4EFA-995E-D7506C33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79" y="-942"/>
            <a:ext cx="9010290" cy="2442794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  <a:ea typeface="+mj-lt"/>
                <a:cs typeface="+mj-lt"/>
              </a:rPr>
              <a:t>Energy consumption  and  Efficiency </a:t>
            </a:r>
          </a:p>
          <a:p>
            <a:endParaRPr lang="en-GB" dirty="0">
              <a:solidFill>
                <a:schemeClr val="tx1"/>
              </a:solidFill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E475B-CB9B-4B8D-9505-ECC25CFDA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10" y="2147658"/>
            <a:ext cx="8852139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FPGA has the highest efficiency among CPU&amp;GPU</a:t>
            </a:r>
            <a:endParaRPr lang="en-US" dirty="0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Among the FPGA implementations </a:t>
            </a:r>
            <a:b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</a:br>
            <a: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  • RTL has the best Energy consumption for GF (4) </a:t>
            </a:r>
            <a:b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</a:br>
            <a: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  • RTL has the best Efficiency for GF (4)</a:t>
            </a:r>
            <a:b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</a:br>
            <a: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       </a:t>
            </a:r>
            <a:b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</a:br>
            <a: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  </a:t>
            </a:r>
            <a:b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</a:br>
            <a:endParaRPr lang="en-GB" dirty="0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GB" dirty="0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GB" dirty="0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GB" dirty="0">
              <a:solidFill>
                <a:schemeClr val="tx1"/>
              </a:solidFill>
              <a:latin typeface="Times New Roman"/>
              <a:cs typeface="Calibri"/>
            </a:endParaRP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6DCA0FE4-4DCD-4075-8AF4-18A89C5B33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3203416"/>
              </p:ext>
            </p:extLst>
          </p:nvPr>
        </p:nvGraphicFramePr>
        <p:xfrm>
          <a:off x="800102" y="3998163"/>
          <a:ext cx="754379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347987442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46547635"/>
                    </a:ext>
                  </a:extLst>
                </a:gridCol>
                <a:gridCol w="787399">
                  <a:extLst>
                    <a:ext uri="{9D8B030D-6E8A-4147-A177-3AD203B41FA5}">
                      <a16:colId xmlns:a16="http://schemas.microsoft.com/office/drawing/2014/main" val="136029607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1256752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41465346"/>
                    </a:ext>
                  </a:extLst>
                </a:gridCol>
                <a:gridCol w="774696">
                  <a:extLst>
                    <a:ext uri="{9D8B030D-6E8A-4147-A177-3AD203B41FA5}">
                      <a16:colId xmlns:a16="http://schemas.microsoft.com/office/drawing/2014/main" val="412762712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09654079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23684017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568901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GB"/>
                        <a:t>Energy consumption (uJ)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GB"/>
                        <a:t>Efficiency (Mbps/W)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510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Galois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HLS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RTL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HLS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RTL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892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GF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5180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22.16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421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GF(8)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16390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2465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8.42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019404"/>
                  </a:ext>
                </a:extLst>
              </a:tr>
            </a:tbl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54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4C8B-AF8B-4EFA-995E-D7506C333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  <a:cs typeface="Calibri Light"/>
              </a:rPr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E475B-CB9B-4B8D-9505-ECC25CFDA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10" y="2147658"/>
            <a:ext cx="8852139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Multiple decoders were instantiated in parallel to exploit parallelism</a:t>
            </a:r>
            <a:endParaRPr lang="en-US">
              <a:solidFill>
                <a:schemeClr val="tx1"/>
              </a:solidFill>
              <a:latin typeface="Times New Roman"/>
              <a:cs typeface="Calibri"/>
            </a:endParaRPr>
          </a:p>
          <a:p>
            <a:pPr marL="457200" indent="-457200"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For GF(4) we were able to replicate 4 cores resulting in a throughput of 800 Mbps</a:t>
            </a:r>
          </a:p>
          <a:p>
            <a:pPr marL="457200" indent="-457200"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Future work addresses more efficient architectures for higher Galois Fields</a:t>
            </a:r>
            <a:endParaRPr lang="en-GB">
              <a:solidFill>
                <a:schemeClr val="tx1"/>
              </a:solidFill>
              <a:latin typeface="Times New Roman"/>
              <a:cs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43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F40-4C16-4570-8D64-A9FF7538E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39" y="264502"/>
            <a:ext cx="8334554" cy="145075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  <a:ea typeface="+mj-lt"/>
                <a:cs typeface="+mj-lt"/>
              </a:rPr>
              <a:t>       </a:t>
            </a:r>
            <a:r>
              <a:rPr lang="en-GB">
                <a:solidFill>
                  <a:schemeClr val="tx1"/>
                </a:solidFill>
                <a:ea typeface="+mj-lt"/>
                <a:cs typeface="+mj-lt"/>
              </a:rPr>
              <a:t>      Acknowledgement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4C1BB6-DA2E-4F6C-84BA-9F5F3E761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921" y="2104526"/>
            <a:ext cx="7960744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None/>
            </a:pPr>
            <a: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 ECHO is a joint work supported under the Indo-Portugal Bilateral Scientific  and Technological Cooperation funded by Instituto de </a:t>
            </a:r>
            <a:r>
              <a:rPr lang="en-GB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Telecomunicações</a:t>
            </a:r>
            <a: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 and </a:t>
            </a:r>
            <a:r>
              <a:rPr lang="en-GB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Fundação</a:t>
            </a:r>
            <a: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 para a </a:t>
            </a:r>
            <a:r>
              <a:rPr lang="en-GB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Ciência</a:t>
            </a:r>
            <a: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 e a </a:t>
            </a:r>
            <a:r>
              <a:rPr lang="en-GB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Tecnologia</a:t>
            </a:r>
            <a: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 in Portugal (UIDB/EEA/50008/2020 and PTDC/ EEI-HAC/30485/2017) and the Department of Science and Technology (INT/PORTUGAL/P-12/2017), Government of India. This work was also supported under “Just-in-time Customisation: Research Platform for Accelerating Algorithms-to-Systems” funded within the Early Career Research Award by Science and Engineering Research </a:t>
            </a:r>
            <a:r>
              <a:rPr lang="en-GB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Board,India</a:t>
            </a:r>
            <a:r>
              <a:rPr lang="en-GB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 (ECR/2016/001765).</a:t>
            </a:r>
            <a:endParaRPr lang="en-GB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777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A picture containing sitting, drawing&#10;&#10;Description automatically generated">
            <a:extLst>
              <a:ext uri="{FF2B5EF4-FFF2-40B4-BE49-F238E27FC236}">
                <a16:creationId xmlns:a16="http://schemas.microsoft.com/office/drawing/2014/main" id="{3B7BA4E7-6F22-4D31-9C0B-D796BF9D1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861" y="5005273"/>
            <a:ext cx="2743200" cy="682752"/>
          </a:xfrm>
          <a:prstGeom prst="rect">
            <a:avLst/>
          </a:prstGeom>
        </p:spPr>
      </p:pic>
      <p:pic>
        <p:nvPicPr>
          <p:cNvPr id="7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2FF3ADC1-79C7-4AC5-9CEB-731554BBB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270" y="2848560"/>
            <a:ext cx="1714500" cy="1714500"/>
          </a:xfrm>
          <a:prstGeom prst="rect">
            <a:avLst/>
          </a:prstGeom>
        </p:spPr>
      </p:pic>
      <p:pic>
        <p:nvPicPr>
          <p:cNvPr id="9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DD893C0B-2AE9-4CB8-88D7-C672592D3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940" y="4852517"/>
            <a:ext cx="2743200" cy="102604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SIPS 2020   Virtual conference, 20-22 October 2020 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27</a:t>
            </a:fld>
            <a:endParaRPr lang="en-US"/>
          </a:p>
        </p:txBody>
      </p:sp>
      <p:pic>
        <p:nvPicPr>
          <p:cNvPr id="11" name="Imagem 6">
            <a:extLst>
              <a:ext uri="{FF2B5EF4-FFF2-40B4-BE49-F238E27FC236}">
                <a16:creationId xmlns:a16="http://schemas.microsoft.com/office/drawing/2014/main" id="{FAAB2E81-D4CB-43F9-91DD-0EDCE6E76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571" y="3429000"/>
            <a:ext cx="3268569" cy="553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9A6FC3F3-92EF-40C8-B543-6F55FB515FD5}"/>
              </a:ext>
            </a:extLst>
          </p:cNvPr>
          <p:cNvSpPr txBox="1">
            <a:spLocks/>
          </p:cNvSpPr>
          <p:nvPr/>
        </p:nvSpPr>
        <p:spPr>
          <a:xfrm>
            <a:off x="0" y="1970940"/>
            <a:ext cx="9144000" cy="402336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Calibri" panose="020F0502020204030204" pitchFamily="34" charset="0"/>
              <a:buNone/>
            </a:pPr>
            <a:r>
              <a:rPr lang="en-GB" sz="4200" dirty="0">
                <a:solidFill>
                  <a:schemeClr val="tx1"/>
                </a:solidFill>
                <a:ea typeface="+mn-lt"/>
                <a:cs typeface="+mn-lt"/>
              </a:rPr>
              <a:t>Thank you</a:t>
            </a:r>
            <a:endParaRPr lang="en-GB" sz="4200" dirty="0">
              <a:solidFill>
                <a:schemeClr val="tx1"/>
              </a:solidFill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935130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286</TotalTime>
  <Words>1427</Words>
  <Application>Microsoft Macintosh PowerPoint</Application>
  <PresentationFormat>On-screen Show (4:3)</PresentationFormat>
  <Paragraphs>273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Retrospect</vt:lpstr>
      <vt:lpstr>Office Theme</vt:lpstr>
      <vt:lpstr>Pushing the Limits of Energy Efficiency for Non-Binary LDPC Decoders on GPUs and FPGAs  </vt:lpstr>
      <vt:lpstr>Introduction</vt:lpstr>
      <vt:lpstr>LDPC Codes</vt:lpstr>
      <vt:lpstr>Binary vs Non-Binary</vt:lpstr>
      <vt:lpstr>Contribution of the Paper</vt:lpstr>
      <vt:lpstr>Min-Max Algorithm</vt:lpstr>
      <vt:lpstr>Mapping Parallelism On Embedded Devices</vt:lpstr>
      <vt:lpstr> GPU: Multi-threading and fast local memory access </vt:lpstr>
      <vt:lpstr>FPGA: HLS Implementation </vt:lpstr>
      <vt:lpstr> FPGA : RTL Implementation  </vt:lpstr>
      <vt:lpstr>         Experimental Setup</vt:lpstr>
      <vt:lpstr>Design Constraints</vt:lpstr>
      <vt:lpstr> GPU</vt:lpstr>
      <vt:lpstr>FPGA</vt:lpstr>
      <vt:lpstr>Experiments And Results</vt:lpstr>
      <vt:lpstr>GPU- Results</vt:lpstr>
      <vt:lpstr>FPGA- Description of Optimisations Implemented</vt:lpstr>
      <vt:lpstr>FPGA- Frequency/Latency vs Galois Field</vt:lpstr>
      <vt:lpstr>FPGA- Frequency/Latency vs Galois Field</vt:lpstr>
      <vt:lpstr>   FPGA :Throughput/Power vs Galois Field's </vt:lpstr>
      <vt:lpstr>   FPGA :Throughput/Power vs Galois Field's </vt:lpstr>
      <vt:lpstr>Area Utilisation for HLS and RTL implementation</vt:lpstr>
      <vt:lpstr>Roofline model analysis</vt:lpstr>
      <vt:lpstr>Energy consumption  and  Efficiency  </vt:lpstr>
      <vt:lpstr>Conclusion and future work</vt:lpstr>
      <vt:lpstr>             Acknowledgement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Subramaniyan, Srinivasan</cp:lastModifiedBy>
  <cp:revision>409</cp:revision>
  <dcterms:created xsi:type="dcterms:W3CDTF">2020-07-30T09:42:00Z</dcterms:created>
  <dcterms:modified xsi:type="dcterms:W3CDTF">2026-06-30T05:39:37Z</dcterms:modified>
</cp:coreProperties>
</file>