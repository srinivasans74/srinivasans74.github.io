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4"/>
  </p:sldMasterIdLst>
  <p:notesMasterIdLst>
    <p:notesMasterId r:id="rId24"/>
  </p:notesMasterIdLst>
  <p:handoutMasterIdLst>
    <p:handoutMasterId r:id="rId25"/>
  </p:handoutMasterIdLst>
  <p:sldIdLst>
    <p:sldId id="256" r:id="rId5"/>
    <p:sldId id="1059" r:id="rId6"/>
    <p:sldId id="1052" r:id="rId7"/>
    <p:sldId id="1041" r:id="rId8"/>
    <p:sldId id="1058" r:id="rId9"/>
    <p:sldId id="1046" r:id="rId10"/>
    <p:sldId id="1045" r:id="rId11"/>
    <p:sldId id="1044" r:id="rId12"/>
    <p:sldId id="1047" r:id="rId13"/>
    <p:sldId id="1060" r:id="rId14"/>
    <p:sldId id="1053" r:id="rId15"/>
    <p:sldId id="1054" r:id="rId16"/>
    <p:sldId id="1048" r:id="rId17"/>
    <p:sldId id="1049" r:id="rId18"/>
    <p:sldId id="1050" r:id="rId19"/>
    <p:sldId id="1039" r:id="rId20"/>
    <p:sldId id="1056" r:id="rId21"/>
    <p:sldId id="1051" r:id="rId22"/>
    <p:sldId id="1055" r:id="rId23"/>
  </p:sldIdLst>
  <p:sldSz cx="9144000" cy="6858000" type="screen4x3"/>
  <p:notesSz cx="6797675" cy="9874250"/>
  <p:defaultTextStyle>
    <a:defPPr>
      <a:defRPr lang="en-US"/>
    </a:defPPr>
    <a:lvl1pPr algn="l" rtl="0" eaLnBrk="0" fontAlgn="base" hangingPunct="0">
      <a:spcBef>
        <a:spcPct val="20000"/>
      </a:spcBef>
      <a:spcAft>
        <a:spcPct val="0"/>
      </a:spcAft>
      <a:buClr>
        <a:schemeClr val="tx2"/>
      </a:buClr>
      <a:buFont typeface="Wingdings" pitchFamily="2" charset="2"/>
      <a:buChar char="§"/>
      <a:defRPr sz="2400" kern="1200">
        <a:solidFill>
          <a:schemeClr val="tx1"/>
        </a:solidFill>
        <a:latin typeface="Arial" pitchFamily="34" charset="0"/>
        <a:ea typeface="+mn-ea"/>
        <a:cs typeface="Arial" pitchFamily="34" charset="0"/>
      </a:defRPr>
    </a:lvl1pPr>
    <a:lvl2pPr marL="457200" algn="l" rtl="0" eaLnBrk="0" fontAlgn="base" hangingPunct="0">
      <a:spcBef>
        <a:spcPct val="20000"/>
      </a:spcBef>
      <a:spcAft>
        <a:spcPct val="0"/>
      </a:spcAft>
      <a:buClr>
        <a:schemeClr val="tx2"/>
      </a:buClr>
      <a:buFont typeface="Wingdings" pitchFamily="2" charset="2"/>
      <a:buChar char="§"/>
      <a:defRPr sz="2400" kern="1200">
        <a:solidFill>
          <a:schemeClr val="tx1"/>
        </a:solidFill>
        <a:latin typeface="Arial" pitchFamily="34" charset="0"/>
        <a:ea typeface="+mn-ea"/>
        <a:cs typeface="Arial" pitchFamily="34" charset="0"/>
      </a:defRPr>
    </a:lvl2pPr>
    <a:lvl3pPr marL="914400" algn="l" rtl="0" eaLnBrk="0" fontAlgn="base" hangingPunct="0">
      <a:spcBef>
        <a:spcPct val="20000"/>
      </a:spcBef>
      <a:spcAft>
        <a:spcPct val="0"/>
      </a:spcAft>
      <a:buClr>
        <a:schemeClr val="tx2"/>
      </a:buClr>
      <a:buFont typeface="Wingdings" pitchFamily="2" charset="2"/>
      <a:buChar char="§"/>
      <a:defRPr sz="2400" kern="1200">
        <a:solidFill>
          <a:schemeClr val="tx1"/>
        </a:solidFill>
        <a:latin typeface="Arial" pitchFamily="34" charset="0"/>
        <a:ea typeface="+mn-ea"/>
        <a:cs typeface="Arial" pitchFamily="34" charset="0"/>
      </a:defRPr>
    </a:lvl3pPr>
    <a:lvl4pPr marL="1371600" algn="l" rtl="0" eaLnBrk="0" fontAlgn="base" hangingPunct="0">
      <a:spcBef>
        <a:spcPct val="20000"/>
      </a:spcBef>
      <a:spcAft>
        <a:spcPct val="0"/>
      </a:spcAft>
      <a:buClr>
        <a:schemeClr val="tx2"/>
      </a:buClr>
      <a:buFont typeface="Wingdings" pitchFamily="2" charset="2"/>
      <a:buChar char="§"/>
      <a:defRPr sz="2400" kern="1200">
        <a:solidFill>
          <a:schemeClr val="tx1"/>
        </a:solidFill>
        <a:latin typeface="Arial" pitchFamily="34" charset="0"/>
        <a:ea typeface="+mn-ea"/>
        <a:cs typeface="Arial" pitchFamily="34" charset="0"/>
      </a:defRPr>
    </a:lvl4pPr>
    <a:lvl5pPr marL="1828800" algn="l" rtl="0" eaLnBrk="0" fontAlgn="base" hangingPunct="0">
      <a:spcBef>
        <a:spcPct val="20000"/>
      </a:spcBef>
      <a:spcAft>
        <a:spcPct val="0"/>
      </a:spcAft>
      <a:buClr>
        <a:schemeClr val="tx2"/>
      </a:buClr>
      <a:buFont typeface="Wingdings" pitchFamily="2" charset="2"/>
      <a:buChar char="§"/>
      <a:defRPr sz="2400" kern="1200">
        <a:solidFill>
          <a:schemeClr val="tx1"/>
        </a:solidFill>
        <a:latin typeface="Arial" pitchFamily="34" charset="0"/>
        <a:ea typeface="+mn-ea"/>
        <a:cs typeface="Arial" pitchFamily="34" charset="0"/>
      </a:defRPr>
    </a:lvl5pPr>
    <a:lvl6pPr marL="2286000" algn="l" defTabSz="914400" rtl="0" eaLnBrk="1" latinLnBrk="0" hangingPunct="1">
      <a:defRPr sz="2400" kern="1200">
        <a:solidFill>
          <a:schemeClr val="tx1"/>
        </a:solidFill>
        <a:latin typeface="Arial" pitchFamily="34" charset="0"/>
        <a:ea typeface="+mn-ea"/>
        <a:cs typeface="Arial" pitchFamily="34" charset="0"/>
      </a:defRPr>
    </a:lvl6pPr>
    <a:lvl7pPr marL="2743200" algn="l" defTabSz="914400" rtl="0" eaLnBrk="1" latinLnBrk="0" hangingPunct="1">
      <a:defRPr sz="2400" kern="1200">
        <a:solidFill>
          <a:schemeClr val="tx1"/>
        </a:solidFill>
        <a:latin typeface="Arial" pitchFamily="34" charset="0"/>
        <a:ea typeface="+mn-ea"/>
        <a:cs typeface="Arial" pitchFamily="34" charset="0"/>
      </a:defRPr>
    </a:lvl7pPr>
    <a:lvl8pPr marL="3200400" algn="l" defTabSz="914400" rtl="0" eaLnBrk="1" latinLnBrk="0" hangingPunct="1">
      <a:defRPr sz="2400" kern="1200">
        <a:solidFill>
          <a:schemeClr val="tx1"/>
        </a:solidFill>
        <a:latin typeface="Arial" pitchFamily="34" charset="0"/>
        <a:ea typeface="+mn-ea"/>
        <a:cs typeface="Arial" pitchFamily="34" charset="0"/>
      </a:defRPr>
    </a:lvl8pPr>
    <a:lvl9pPr marL="3657600" algn="l" defTabSz="914400" rtl="0" eaLnBrk="1" latinLnBrk="0" hangingPunct="1">
      <a:defRPr sz="2400" kern="1200">
        <a:solidFill>
          <a:schemeClr val="tx1"/>
        </a:solidFill>
        <a:latin typeface="Arial" pitchFamily="34" charset="0"/>
        <a:ea typeface="+mn-ea"/>
        <a:cs typeface="Arial"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961C1F"/>
    <a:srgbClr val="960000"/>
    <a:srgbClr val="B00000"/>
    <a:srgbClr val="CCFFFF"/>
    <a:srgbClr val="FF3300"/>
    <a:srgbClr val="FFFFCC"/>
    <a:srgbClr val="0066FF"/>
    <a:srgbClr val="FFFF99"/>
    <a:srgbClr val="FFCC99"/>
    <a:srgbClr val="FFCC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837" autoAdjust="0"/>
  </p:normalViewPr>
  <p:slideViewPr>
    <p:cSldViewPr>
      <p:cViewPr varScale="1">
        <p:scale>
          <a:sx n="79" d="100"/>
          <a:sy n="79" d="100"/>
        </p:scale>
        <p:origin x="1598" y="77"/>
      </p:cViewPr>
      <p:guideLst>
        <p:guide orient="horz" pos="2160"/>
        <p:guide pos="2880"/>
      </p:guideLst>
    </p:cSldViewPr>
  </p:slideViewPr>
  <p:outlineViewPr>
    <p:cViewPr>
      <p:scale>
        <a:sx n="25" d="100"/>
        <a:sy n="25" d="100"/>
      </p:scale>
      <p:origin x="0" y="4416"/>
    </p:cViewPr>
  </p:outlineViewPr>
  <p:notesTextViewPr>
    <p:cViewPr>
      <p:scale>
        <a:sx n="125" d="100"/>
        <a:sy n="125" d="100"/>
      </p:scale>
      <p:origin x="0" y="0"/>
    </p:cViewPr>
  </p:notesTextViewPr>
  <p:sorterViewPr>
    <p:cViewPr>
      <p:scale>
        <a:sx n="100" d="100"/>
        <a:sy n="100" d="100"/>
      </p:scale>
      <p:origin x="0" y="366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52386" name="Rectangle 2"/>
          <p:cNvSpPr>
            <a:spLocks noGrp="1" noChangeArrowheads="1"/>
          </p:cNvSpPr>
          <p:nvPr>
            <p:ph type="hdr" sz="quarter"/>
          </p:nvPr>
        </p:nvSpPr>
        <p:spPr bwMode="auto">
          <a:xfrm>
            <a:off x="0" y="0"/>
            <a:ext cx="2946400"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spcBef>
                <a:spcPct val="0"/>
              </a:spcBef>
              <a:buClrTx/>
              <a:buFontTx/>
              <a:buNone/>
              <a:defRPr sz="1200">
                <a:latin typeface="Times New Roman" pitchFamily="18" charset="0"/>
              </a:defRPr>
            </a:lvl1pPr>
          </a:lstStyle>
          <a:p>
            <a:endParaRPr lang="zh-CN" altLang="en-US"/>
          </a:p>
        </p:txBody>
      </p:sp>
      <p:sp>
        <p:nvSpPr>
          <p:cNvPr id="1552387" name="Rectangle 3"/>
          <p:cNvSpPr>
            <a:spLocks noGrp="1" noChangeArrowheads="1"/>
          </p:cNvSpPr>
          <p:nvPr>
            <p:ph type="dt" sz="quarter" idx="1"/>
          </p:nvPr>
        </p:nvSpPr>
        <p:spPr bwMode="auto">
          <a:xfrm>
            <a:off x="3849688" y="0"/>
            <a:ext cx="2946400"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spcBef>
                <a:spcPct val="0"/>
              </a:spcBef>
              <a:buClrTx/>
              <a:buFontTx/>
              <a:buNone/>
              <a:defRPr sz="1200">
                <a:latin typeface="Times New Roman" pitchFamily="18" charset="0"/>
              </a:defRPr>
            </a:lvl1pPr>
          </a:lstStyle>
          <a:p>
            <a:endParaRPr lang="en-US" altLang="zh-CN"/>
          </a:p>
        </p:txBody>
      </p:sp>
      <p:sp>
        <p:nvSpPr>
          <p:cNvPr id="1552388" name="Rectangle 4"/>
          <p:cNvSpPr>
            <a:spLocks noGrp="1" noChangeArrowheads="1"/>
          </p:cNvSpPr>
          <p:nvPr>
            <p:ph type="ftr" sz="quarter" idx="2"/>
          </p:nvPr>
        </p:nvSpPr>
        <p:spPr bwMode="auto">
          <a:xfrm>
            <a:off x="0" y="9378950"/>
            <a:ext cx="2946400" cy="49371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spcBef>
                <a:spcPct val="0"/>
              </a:spcBef>
              <a:buClrTx/>
              <a:buFontTx/>
              <a:buNone/>
              <a:defRPr sz="1200">
                <a:latin typeface="Times New Roman" pitchFamily="18" charset="0"/>
              </a:defRPr>
            </a:lvl1pPr>
          </a:lstStyle>
          <a:p>
            <a:endParaRPr lang="en-US" altLang="zh-CN"/>
          </a:p>
        </p:txBody>
      </p:sp>
      <p:sp>
        <p:nvSpPr>
          <p:cNvPr id="1552389" name="Rectangle 5"/>
          <p:cNvSpPr>
            <a:spLocks noGrp="1" noChangeArrowheads="1"/>
          </p:cNvSpPr>
          <p:nvPr>
            <p:ph type="sldNum" sz="quarter" idx="3"/>
          </p:nvPr>
        </p:nvSpPr>
        <p:spPr bwMode="auto">
          <a:xfrm>
            <a:off x="3849688" y="9378950"/>
            <a:ext cx="2946400" cy="49371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spcBef>
                <a:spcPct val="0"/>
              </a:spcBef>
              <a:buClrTx/>
              <a:buFontTx/>
              <a:buNone/>
              <a:defRPr sz="1200">
                <a:latin typeface="Times New Roman" pitchFamily="18" charset="0"/>
              </a:defRPr>
            </a:lvl1pPr>
          </a:lstStyle>
          <a:p>
            <a:fld id="{0BCB0E57-6791-457E-905F-80BD58651612}" type="slidenum">
              <a:rPr lang="zh-CN" altLang="en-US"/>
              <a:pPr/>
              <a:t>‹#›</a:t>
            </a:fld>
            <a:endParaRPr lang="en-US" altLang="zh-CN"/>
          </a:p>
        </p:txBody>
      </p:sp>
    </p:spTree>
    <p:extLst>
      <p:ext uri="{BB962C8B-B14F-4D97-AF65-F5344CB8AC3E}">
        <p14:creationId xmlns:p14="http://schemas.microsoft.com/office/powerpoint/2010/main" val="31213943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5714" name="Rectangle 2"/>
          <p:cNvSpPr>
            <a:spLocks noGrp="1" noChangeArrowheads="1"/>
          </p:cNvSpPr>
          <p:nvPr>
            <p:ph type="hdr" sz="quarter"/>
          </p:nvPr>
        </p:nvSpPr>
        <p:spPr bwMode="auto">
          <a:xfrm>
            <a:off x="0" y="0"/>
            <a:ext cx="2946400"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buClrTx/>
              <a:buFontTx/>
              <a:buNone/>
              <a:defRPr sz="1200"/>
            </a:lvl1pPr>
          </a:lstStyle>
          <a:p>
            <a:endParaRPr lang="zh-CN" altLang="en-US"/>
          </a:p>
        </p:txBody>
      </p:sp>
      <p:sp>
        <p:nvSpPr>
          <p:cNvPr id="115715" name="Rectangle 3"/>
          <p:cNvSpPr>
            <a:spLocks noGrp="1" noChangeArrowheads="1"/>
          </p:cNvSpPr>
          <p:nvPr>
            <p:ph type="dt" idx="1"/>
          </p:nvPr>
        </p:nvSpPr>
        <p:spPr bwMode="auto">
          <a:xfrm>
            <a:off x="3851275" y="0"/>
            <a:ext cx="2946400" cy="4937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ClrTx/>
              <a:buFontTx/>
              <a:buNone/>
              <a:defRPr sz="1200"/>
            </a:lvl1pPr>
          </a:lstStyle>
          <a:p>
            <a:endParaRPr lang="en-US" altLang="zh-CN"/>
          </a:p>
        </p:txBody>
      </p:sp>
      <p:sp>
        <p:nvSpPr>
          <p:cNvPr id="13316" name="Rectangle 4"/>
          <p:cNvSpPr>
            <a:spLocks noGrp="1" noRot="1" noChangeAspect="1" noChangeArrowheads="1" noTextEdit="1"/>
          </p:cNvSpPr>
          <p:nvPr>
            <p:ph type="sldImg" idx="2"/>
          </p:nvPr>
        </p:nvSpPr>
        <p:spPr bwMode="auto">
          <a:xfrm>
            <a:off x="931863" y="741363"/>
            <a:ext cx="4935537" cy="37020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5717" name="Rectangle 5"/>
          <p:cNvSpPr>
            <a:spLocks noGrp="1" noChangeArrowheads="1"/>
          </p:cNvSpPr>
          <p:nvPr>
            <p:ph type="body" sz="quarter" idx="3"/>
          </p:nvPr>
        </p:nvSpPr>
        <p:spPr bwMode="auto">
          <a:xfrm>
            <a:off x="906463" y="4691063"/>
            <a:ext cx="4984750" cy="444341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115718" name="Rectangle 6"/>
          <p:cNvSpPr>
            <a:spLocks noGrp="1" noChangeArrowheads="1"/>
          </p:cNvSpPr>
          <p:nvPr>
            <p:ph type="ftr" sz="quarter" idx="4"/>
          </p:nvPr>
        </p:nvSpPr>
        <p:spPr bwMode="auto">
          <a:xfrm>
            <a:off x="0" y="9380538"/>
            <a:ext cx="2946400"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spcBef>
                <a:spcPct val="0"/>
              </a:spcBef>
              <a:buClrTx/>
              <a:buFontTx/>
              <a:buNone/>
              <a:defRPr sz="1200"/>
            </a:lvl1pPr>
          </a:lstStyle>
          <a:p>
            <a:endParaRPr lang="en-US" altLang="zh-CN"/>
          </a:p>
        </p:txBody>
      </p:sp>
      <p:sp>
        <p:nvSpPr>
          <p:cNvPr id="115719" name="Rectangle 7"/>
          <p:cNvSpPr>
            <a:spLocks noGrp="1" noChangeArrowheads="1"/>
          </p:cNvSpPr>
          <p:nvPr>
            <p:ph type="sldNum" sz="quarter" idx="5"/>
          </p:nvPr>
        </p:nvSpPr>
        <p:spPr bwMode="auto">
          <a:xfrm>
            <a:off x="3851275" y="9380538"/>
            <a:ext cx="2946400" cy="493712"/>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buClrTx/>
              <a:buFontTx/>
              <a:buNone/>
              <a:defRPr sz="1200"/>
            </a:lvl1pPr>
          </a:lstStyle>
          <a:p>
            <a:fld id="{56737F01-BE5A-4CE6-AE4F-725A91F75609}" type="slidenum">
              <a:rPr lang="zh-CN" altLang="en-US"/>
              <a:pPr/>
              <a:t>‹#›</a:t>
            </a:fld>
            <a:endParaRPr lang="en-US" altLang="zh-CN"/>
          </a:p>
        </p:txBody>
      </p:sp>
    </p:spTree>
    <p:extLst>
      <p:ext uri="{BB962C8B-B14F-4D97-AF65-F5344CB8AC3E}">
        <p14:creationId xmlns:p14="http://schemas.microsoft.com/office/powerpoint/2010/main" val="156322994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0"/>
              </a:spcBef>
              <a:defRPr sz="3400" u="sng">
                <a:solidFill>
                  <a:schemeClr val="tx1"/>
                </a:solidFill>
                <a:latin typeface="Arial" pitchFamily="34" charset="0"/>
                <a:cs typeface="Arial" pitchFamily="34" charset="0"/>
              </a:defRPr>
            </a:lvl1pPr>
            <a:lvl2pPr marL="742950" indent="-285750">
              <a:spcBef>
                <a:spcPct val="0"/>
              </a:spcBef>
              <a:defRPr sz="3400" u="sng">
                <a:solidFill>
                  <a:schemeClr val="tx1"/>
                </a:solidFill>
                <a:latin typeface="Arial" pitchFamily="34" charset="0"/>
                <a:cs typeface="Arial" pitchFamily="34" charset="0"/>
              </a:defRPr>
            </a:lvl2pPr>
            <a:lvl3pPr marL="1143000" indent="-228600">
              <a:spcBef>
                <a:spcPct val="0"/>
              </a:spcBef>
              <a:defRPr sz="3400" u="sng">
                <a:solidFill>
                  <a:schemeClr val="tx1"/>
                </a:solidFill>
                <a:latin typeface="Arial" pitchFamily="34" charset="0"/>
                <a:cs typeface="Arial" pitchFamily="34" charset="0"/>
              </a:defRPr>
            </a:lvl3pPr>
            <a:lvl4pPr marL="1600200" indent="-228600">
              <a:spcBef>
                <a:spcPct val="0"/>
              </a:spcBef>
              <a:defRPr sz="3400" u="sng">
                <a:solidFill>
                  <a:schemeClr val="tx1"/>
                </a:solidFill>
                <a:latin typeface="Arial" pitchFamily="34" charset="0"/>
                <a:cs typeface="Arial" pitchFamily="34" charset="0"/>
              </a:defRPr>
            </a:lvl4pPr>
            <a:lvl5pPr marL="2057400" indent="-228600">
              <a:spcBef>
                <a:spcPct val="0"/>
              </a:spcBef>
              <a:defRPr sz="3400" u="sng">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3400" u="sng">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3400" u="sng">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3400" u="sng">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3400" u="sng">
                <a:solidFill>
                  <a:schemeClr val="tx1"/>
                </a:solidFill>
                <a:latin typeface="Arial" pitchFamily="34" charset="0"/>
                <a:cs typeface="Arial" pitchFamily="34" charset="0"/>
              </a:defRPr>
            </a:lvl9pPr>
          </a:lstStyle>
          <a:p>
            <a:fld id="{E6E33D74-812E-47B4-A533-6381902583AD}" type="slidenum">
              <a:rPr lang="zh-CN" altLang="en-US" sz="1200" u="none"/>
              <a:pPr/>
              <a:t>1</a:t>
            </a:fld>
            <a:endParaRPr lang="en-US" altLang="zh-CN" sz="1200" u="none"/>
          </a:p>
        </p:txBody>
      </p:sp>
      <p:sp>
        <p:nvSpPr>
          <p:cNvPr id="16386" name="Rectangle 2"/>
          <p:cNvSpPr>
            <a:spLocks noGrp="1" noRot="1" noChangeAspect="1" noChangeArrowheads="1" noTextEdit="1"/>
          </p:cNvSpPr>
          <p:nvPr>
            <p:ph type="sldImg"/>
          </p:nvPr>
        </p:nvSpPr>
        <p:spPr>
          <a:ln/>
        </p:spPr>
      </p:sp>
      <p:sp>
        <p:nvSpPr>
          <p:cNvPr id="1638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To start with this presentation, let’s think about one scenario that would happen in the real industry.</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Imagine that we have an AI datacenter cluster that has around 200 Nvidia V100 GPUs. Now, As the development of Aritificial Intelligence, especially the hot topic of large language model. Both of industry and academia are hungry for datacenter computing power for both of training and inference jobs. As a result, we would like to upgrade the data center and buy a bunch of more advanced GPUs.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So we buy 60 H100 GPUs.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We realize that there is a problem with the power infrastructure. Lets do a simple math, for your information, the TDP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 The previous power infrastructure is designed for satisfying the theoretical maximum power draw of those 200 v100 GPUs. When we move those newly purchased h100 in, the theoretical maximum power draw of all servers would exceed the actual power infrastructure capacity.</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We got a serious question: </a:t>
            </a:r>
            <a:r>
              <a:rPr lang="en-US" altLang="zh-CN" sz="1200" kern="0" dirty="0"/>
              <a:t>How can those GPU be safely hosted in this power infrastructure?</a:t>
            </a:r>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Well, actually, I can give you two choices here. </a:t>
            </a:r>
          </a:p>
          <a:p>
            <a:r>
              <a:rPr lang="en-US" altLang="zh-CN" dirty="0"/>
              <a:t>One choice is to build another datacenter to accommodate, but this would consume a huge amount of money for the upgrades of the power infrastructure.</a:t>
            </a:r>
          </a:p>
          <a:p>
            <a:r>
              <a:rPr lang="en-US" altLang="zh-CN" dirty="0"/>
              <a:t>I can give you guys another choice, which is power oversubscription.  </a:t>
            </a:r>
          </a:p>
          <a:p>
            <a:endParaRPr lang="en-US" dirty="0"/>
          </a:p>
        </p:txBody>
      </p:sp>
      <p:sp>
        <p:nvSpPr>
          <p:cNvPr id="4" name="Slide Number Placeholder 3"/>
          <p:cNvSpPr>
            <a:spLocks noGrp="1"/>
          </p:cNvSpPr>
          <p:nvPr>
            <p:ph type="sldNum" sz="quarter" idx="5"/>
          </p:nvPr>
        </p:nvSpPr>
        <p:spPr/>
        <p:txBody>
          <a:bodyPr/>
          <a:lstStyle/>
          <a:p>
            <a:fld id="{56737F01-BE5A-4CE6-AE4F-725A91F75609}" type="slidenum">
              <a:rPr lang="zh-CN" altLang="en-US" smtClean="0"/>
              <a:pPr/>
              <a:t>2</a:t>
            </a:fld>
            <a:endParaRPr lang="en-US" altLang="zh-CN"/>
          </a:p>
        </p:txBody>
      </p:sp>
    </p:spTree>
    <p:extLst>
      <p:ext uri="{BB962C8B-B14F-4D97-AF65-F5344CB8AC3E}">
        <p14:creationId xmlns:p14="http://schemas.microsoft.com/office/powerpoint/2010/main" val="40290535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1F2ED-F0DC-E489-2C7F-61C8B8739A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DE302-594A-5488-24DC-62DD5CC809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AB01CD-D0ED-8ED2-63F7-FC891865B62B}"/>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So power oversubscription is just to deploy more servers in the same infrastructure. Because it is observed that data center power consumption is typically far less than the theoretical maximum power draw of deployed equipment. This technique can create new data center capacity without additional construction.</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However, power oversubscription must be used together with power capping, which monitors the power consumption in real time and caps their peak power draw to prevent power overload to enable safe power oversubscription.</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These pair of technique has been adopted by many companies, for example, </a:t>
            </a:r>
          </a:p>
        </p:txBody>
      </p:sp>
      <p:sp>
        <p:nvSpPr>
          <p:cNvPr id="4" name="Slide Number Placeholder 3">
            <a:extLst>
              <a:ext uri="{FF2B5EF4-FFF2-40B4-BE49-F238E27FC236}">
                <a16:creationId xmlns:a16="http://schemas.microsoft.com/office/drawing/2014/main" id="{D044CDD2-CFE0-ED4A-9F6C-C5CBC57DCF0B}"/>
              </a:ext>
            </a:extLst>
          </p:cNvPr>
          <p:cNvSpPr>
            <a:spLocks noGrp="1"/>
          </p:cNvSpPr>
          <p:nvPr>
            <p:ph type="sldNum" sz="quarter" idx="10"/>
          </p:nvPr>
        </p:nvSpPr>
        <p:spPr/>
        <p:txBody>
          <a:bodyPr/>
          <a:lstStyle/>
          <a:p>
            <a:fld id="{56737F01-BE5A-4CE6-AE4F-725A91F75609}" type="slidenum">
              <a:rPr lang="zh-CN" altLang="en-US" smtClean="0"/>
              <a:pPr/>
              <a:t>3</a:t>
            </a:fld>
            <a:endParaRPr lang="en-US" altLang="zh-CN"/>
          </a:p>
        </p:txBody>
      </p:sp>
    </p:spTree>
    <p:extLst>
      <p:ext uri="{BB962C8B-B14F-4D97-AF65-F5344CB8AC3E}">
        <p14:creationId xmlns:p14="http://schemas.microsoft.com/office/powerpoint/2010/main" val="19755854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276B3-4A48-66C9-E317-3F4D610516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F1519F-1B9E-06B2-6B1F-9DF2E62006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4C74FA-9586-9931-D0E0-9C1497CB7286}"/>
              </a:ext>
            </a:extLst>
          </p:cNvPr>
          <p:cNvSpPr>
            <a:spLocks noGrp="1"/>
          </p:cNvSpPr>
          <p:nvPr>
            <p:ph type="body" idx="1"/>
          </p:nvPr>
        </p:nvSpPr>
        <p:spPr/>
        <p:txBody>
          <a:bodyPr/>
          <a:lstStyle/>
          <a:p>
            <a:r>
              <a:rPr lang="en-US" dirty="0"/>
              <a:t>Lets look into the power capping techniques,</a:t>
            </a:r>
          </a:p>
          <a:p>
            <a:r>
              <a:rPr lang="en-US" dirty="0"/>
              <a:t>T</a:t>
            </a:r>
            <a:r>
              <a:rPr lang="en-US" altLang="zh-CN" dirty="0"/>
              <a:t>raditional power capping techniques focuses on the CPU DVFS.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t>The full name of DVFS is </a:t>
            </a:r>
            <a:r>
              <a:rPr lang="en-US" sz="1200" dirty="0"/>
              <a:t>Dynamic Voltage and Frequency Scaling, which is controlling the CPU socket power consumption by adjusting the voltage and frequency of CPU.</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t>However, AI the game changer. As the development of deep learning, especially the large language model in recent years, machine learning inference and training workload makes GPU servers dominates the datacenter power usage.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You can see the pie chart on the right, which is a power consumption analysis of a GPU server with 8 A100 GPUs </a:t>
            </a:r>
            <a:r>
              <a:rPr lang="en-US" sz="1200" dirty="0"/>
              <a:t> from a paper published by Microsoft in Asplos 2024. This chart shows that the majority of server consumption is from GPUs, and only a very small portion of entire server’s power consumption is from CPU. As a results, if we just do CPU DVFS to Inference servers, the impact is very small.</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t>This type of GPU server is very commonly used for machine learning inference, with one host CPU and multiple GPUs. While the inference jobs is assigned on each GPU,  CPU is also involved in certain necessary tasks for machine learning inference, including data preprocessing.</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t>There are some existing power capping methods for inference servers, however, their research either only care about frequency scaling and changing batch size on one GPU, or on both CPU and GPU but isolate one from another and control them seperately.</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t>However, CPU and GPU are actually coordinate with each other for ML inference jobs. For example, CPU could do the preprocessing and feed the data to GPU. So that GPU wouldn’t have to wait CPU for further operations. However, to the best of our knowledge, our proposed framework, CapGPU, is the first coordinate CPU and each GPU for better inference performance.</a:t>
            </a:r>
          </a:p>
        </p:txBody>
      </p:sp>
      <p:sp>
        <p:nvSpPr>
          <p:cNvPr id="4" name="Slide Number Placeholder 3">
            <a:extLst>
              <a:ext uri="{FF2B5EF4-FFF2-40B4-BE49-F238E27FC236}">
                <a16:creationId xmlns:a16="http://schemas.microsoft.com/office/drawing/2014/main" id="{6A1993C8-2D7C-A2FE-F1F0-C8882FF1AB17}"/>
              </a:ext>
            </a:extLst>
          </p:cNvPr>
          <p:cNvSpPr>
            <a:spLocks noGrp="1"/>
          </p:cNvSpPr>
          <p:nvPr>
            <p:ph type="sldNum" sz="quarter" idx="10"/>
          </p:nvPr>
        </p:nvSpPr>
        <p:spPr/>
        <p:txBody>
          <a:bodyPr/>
          <a:lstStyle/>
          <a:p>
            <a:fld id="{56737F01-BE5A-4CE6-AE4F-725A91F75609}" type="slidenum">
              <a:rPr lang="zh-CN" altLang="en-US" smtClean="0"/>
              <a:pPr/>
              <a:t>4</a:t>
            </a:fld>
            <a:endParaRPr lang="en-US" altLang="zh-CN"/>
          </a:p>
        </p:txBody>
      </p:sp>
    </p:spTree>
    <p:extLst>
      <p:ext uri="{BB962C8B-B14F-4D97-AF65-F5344CB8AC3E}">
        <p14:creationId xmlns:p14="http://schemas.microsoft.com/office/powerpoint/2010/main" val="27964608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the figure here, the straight line in the middle of it represents the power setpoint.</a:t>
            </a:r>
          </a:p>
          <a:p>
            <a:r>
              <a:rPr lang="en-US" dirty="0"/>
              <a:t>For both of CPU task and GPU task, </a:t>
            </a:r>
          </a:p>
          <a:p>
            <a:r>
              <a:rPr lang="en-US" dirty="0"/>
              <a:t>If the power is under the setpoint, the performance will be slow, which is because frequency will be decreased as power goes down.</a:t>
            </a:r>
          </a:p>
          <a:p>
            <a:r>
              <a:rPr lang="en-US" dirty="0"/>
              <a:t>If the power is above the setpoint, the power oversubscription will be unsafe.</a:t>
            </a:r>
          </a:p>
          <a:p>
            <a:r>
              <a:rPr lang="en-US" dirty="0"/>
              <a:t>So the most desirable situation for power capping is the power just reach and remains at the predefined setpoint target. </a:t>
            </a:r>
          </a:p>
          <a:p>
            <a:endParaRPr lang="en-US" dirty="0"/>
          </a:p>
          <a:p>
            <a:endParaRPr lang="en-US" dirty="0"/>
          </a:p>
          <a:p>
            <a:r>
              <a:rPr lang="en-US" dirty="0"/>
              <a:t>Based on this idea, the goal of this paper could be summarized as three main points.</a:t>
            </a:r>
          </a:p>
          <a:p>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Firstly, </a:t>
            </a:r>
            <a:r>
              <a:rPr lang="en-US" sz="1200" dirty="0"/>
              <a:t>Precise power control </a:t>
            </a:r>
            <a:r>
              <a:rPr lang="en-US" altLang="zh-CN" sz="1200" dirty="0"/>
              <a:t>to the</a:t>
            </a:r>
            <a:r>
              <a:rPr lang="en-US" sz="1200" dirty="0"/>
              <a:t> </a:t>
            </a:r>
            <a:r>
              <a:rPr lang="en-US" sz="1200" dirty="0">
                <a:solidFill>
                  <a:srgbClr val="961C1F"/>
                </a:solidFill>
              </a:rPr>
              <a:t>Power Limit.</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As in the real industry scenario, power capping must ensure that it could cap the </a:t>
            </a:r>
            <a:r>
              <a:rPr lang="en-US" sz="1200" dirty="0"/>
              <a:t>peak power consumption to prevent power overload. In another word, the real time power consumption of a server, must be lower than or equal to a predefined power setpoint. It is also notable that the setpoint is also possible to change subject to real world need.</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t> However, as we said before, the higher power consumption, the better performance a server could achieve. So we would like to let the real time power consumption to be as close to the setpoint as possible, so we can get a better machine learning performance.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t>Secondly, we have to satisfy each GPU’s inference </a:t>
            </a:r>
            <a:r>
              <a:rPr lang="en-US" sz="1200" dirty="0">
                <a:solidFill>
                  <a:srgbClr val="961C1F"/>
                </a:solidFill>
              </a:rPr>
              <a:t>Service-Level Objective</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Inference tasks in modern data centers often have strict Service-level Objective. Usually when we are talking about SLO, it refers to latency in our scenario, which requires that their latency remain below a specified value, like how long we can receive our answer from a prompt to ChatGPT.</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t>In some situations, the SLO would change.</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t>If a power capping design just try to control the power without looking after the SLO requirement, probably the power limit won’t be exceeded, but a lot of task’s SLO will be violated.</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t>That is the reason why we have a specific design for SLO in this project.</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t>Thirdly, We definitely would like to achieve the best possible ML inference throughput for best possible performance.</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56737F01-BE5A-4CE6-AE4F-725A91F75609}" type="slidenum">
              <a:rPr lang="zh-CN" altLang="en-US" smtClean="0"/>
              <a:pPr/>
              <a:t>5</a:t>
            </a:fld>
            <a:endParaRPr lang="en-US" altLang="zh-CN"/>
          </a:p>
        </p:txBody>
      </p:sp>
    </p:spTree>
    <p:extLst>
      <p:ext uri="{BB962C8B-B14F-4D97-AF65-F5344CB8AC3E}">
        <p14:creationId xmlns:p14="http://schemas.microsoft.com/office/powerpoint/2010/main" val="26667649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formalize the control problem that </a:t>
            </a:r>
            <a:r>
              <a:rPr lang="en-US" dirty="0" err="1"/>
              <a:t>CapGPU</a:t>
            </a:r>
            <a:r>
              <a:rPr lang="en-US" dirty="0"/>
              <a:t> is trying to solve.</a:t>
            </a:r>
          </a:p>
          <a:p>
            <a:r>
              <a:rPr lang="en-US" dirty="0"/>
              <a:t>Our </a:t>
            </a:r>
            <a:r>
              <a:rPr lang="en-US" b="1" dirty="0"/>
              <a:t>control objective</a:t>
            </a:r>
            <a:r>
              <a:rPr lang="en-US" dirty="0"/>
              <a:t> is simple: we want to minimize the difference between a target power </a:t>
            </a:r>
            <a:r>
              <a:rPr lang="en-US" b="1" dirty="0"/>
              <a:t>setpoint</a:t>
            </a:r>
            <a:r>
              <a:rPr lang="en-US" dirty="0"/>
              <a:t>, denoted as Ps, and the actual </a:t>
            </a:r>
            <a:r>
              <a:rPr lang="en-US" b="1" dirty="0"/>
              <a:t>measured power</a:t>
            </a:r>
            <a:r>
              <a:rPr lang="en-US" dirty="0"/>
              <a:t>, p(k), at time step k.</a:t>
            </a:r>
          </a:p>
          <a:p>
            <a:r>
              <a:rPr lang="en-US" dirty="0"/>
              <a:t>We express this as an optimization problem:</a:t>
            </a:r>
          </a:p>
          <a:p>
            <a:r>
              <a:rPr lang="en-US" dirty="0"/>
              <a:t>We want to </a:t>
            </a:r>
            <a:r>
              <a:rPr lang="en-US" b="1" dirty="0"/>
              <a:t>minimize</a:t>
            </a:r>
            <a:r>
              <a:rPr lang="en-US" dirty="0"/>
              <a:t> a cost function f(u(k)), where</a:t>
            </a:r>
            <a:br>
              <a:rPr lang="en-US" dirty="0"/>
            </a:br>
            <a:r>
              <a:rPr lang="en-US" dirty="0"/>
              <a:t>f is the square of Ps−p(k)</a:t>
            </a:r>
            <a:r>
              <a:rPr lang="zh-CN" altLang="en-US" dirty="0"/>
              <a:t>，</a:t>
            </a:r>
            <a:r>
              <a:rPr lang="en-US" dirty="0"/>
              <a:t>which penalizes any deviation from the setpoint.</a:t>
            </a:r>
          </a:p>
          <a:p>
            <a:r>
              <a:rPr lang="en-US" dirty="0"/>
              <a:t>The control input u(k) is a vector consisting of CPU and GPU frequencies:</a:t>
            </a:r>
          </a:p>
          <a:p>
            <a:r>
              <a:rPr lang="en-US" dirty="0"/>
              <a:t>This optimization is subject to </a:t>
            </a:r>
            <a:r>
              <a:rPr lang="en-US" b="1" dirty="0"/>
              <a:t>frequency constraints</a:t>
            </a:r>
            <a:r>
              <a:rPr lang="en-US" dirty="0"/>
              <a:t> for both CPU and GPU:</a:t>
            </a:r>
          </a:p>
          <a:p>
            <a:r>
              <a:rPr lang="en-US" dirty="0"/>
              <a:t>In another words, our goal is to tune CPU and GPU frequencies such that the system’s total power stays as close as possible to a desired budget — while satisfying some hardware limits.</a:t>
            </a:r>
          </a:p>
          <a:p>
            <a:endParaRPr lang="en-US" dirty="0"/>
          </a:p>
        </p:txBody>
      </p:sp>
      <p:sp>
        <p:nvSpPr>
          <p:cNvPr id="4" name="Slide Number Placeholder 3"/>
          <p:cNvSpPr>
            <a:spLocks noGrp="1"/>
          </p:cNvSpPr>
          <p:nvPr>
            <p:ph type="sldNum" sz="quarter" idx="5"/>
          </p:nvPr>
        </p:nvSpPr>
        <p:spPr/>
        <p:txBody>
          <a:bodyPr/>
          <a:lstStyle/>
          <a:p>
            <a:fld id="{56737F01-BE5A-4CE6-AE4F-725A91F75609}" type="slidenum">
              <a:rPr lang="zh-CN" altLang="en-US" smtClean="0"/>
              <a:pPr/>
              <a:t>6</a:t>
            </a:fld>
            <a:endParaRPr lang="en-US" altLang="zh-CN"/>
          </a:p>
        </p:txBody>
      </p:sp>
    </p:spTree>
    <p:extLst>
      <p:ext uri="{BB962C8B-B14F-4D97-AF65-F5344CB8AC3E}">
        <p14:creationId xmlns:p14="http://schemas.microsoft.com/office/powerpoint/2010/main" val="9346357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Our proposed solution </a:t>
            </a:r>
            <a:r>
              <a:rPr lang="en-US" dirty="0" err="1"/>
              <a:t>CapGPU</a:t>
            </a:r>
            <a:r>
              <a:rPr lang="en-US" dirty="0"/>
              <a:t> is a Multi Input Multi Output feedback control framework. I will introduce how the feed back control loop work in our designed system.</a:t>
            </a:r>
            <a:endParaRPr lang="en-US" b="1"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Firstly, we have a power meter which can measure the average power consumption of entire server of previous control period. This total power consumption serves as the controlled variable in the loop. This power value will also be passed to the controller through a feedback path.</a:t>
            </a:r>
          </a:p>
          <a:p>
            <a:endParaRPr lang="en-US" dirty="0"/>
          </a:p>
          <a:p>
            <a:r>
              <a:rPr lang="en-US" dirty="0"/>
              <a:t>On the CPU side, we divide the CPU cores into 2 parts, we allocate one core for </a:t>
            </a:r>
            <a:r>
              <a:rPr lang="en-US" dirty="0" err="1"/>
              <a:t>CapGPU</a:t>
            </a:r>
            <a:r>
              <a:rPr lang="en-US" dirty="0"/>
              <a:t> controller, and other cores running the data preprocessing workload. For cores running data preprocessing workload, they will receive the CPU frequency given by the controller and output their real-time throughput as a feedback to controller.</a:t>
            </a:r>
          </a:p>
          <a:p>
            <a:endParaRPr lang="en-US" dirty="0"/>
          </a:p>
          <a:p>
            <a:r>
              <a:rPr lang="en-US" dirty="0"/>
              <a:t>On the GPU side, We would assign each one GPU on the server with one inference workload. Each GPU is equipped with:</a:t>
            </a:r>
          </a:p>
          <a:p>
            <a:r>
              <a:rPr lang="en-US" dirty="0"/>
              <a:t>A </a:t>
            </a:r>
            <a:r>
              <a:rPr lang="en-US" b="1" dirty="0"/>
              <a:t>Throughput Monitor</a:t>
            </a:r>
            <a:r>
              <a:rPr lang="en-US" dirty="0"/>
              <a:t> that measures inference performance.</a:t>
            </a:r>
          </a:p>
          <a:p>
            <a:r>
              <a:rPr lang="en-US" dirty="0"/>
              <a:t>A </a:t>
            </a:r>
            <a:r>
              <a:rPr lang="en-US" b="1" dirty="0"/>
              <a:t>GPU Frequency (GF)</a:t>
            </a:r>
            <a:r>
              <a:rPr lang="en-US" dirty="0"/>
              <a:t> control knob, which </a:t>
            </a:r>
            <a:r>
              <a:rPr lang="en-US" dirty="0" err="1"/>
              <a:t>CapGPU</a:t>
            </a:r>
            <a:r>
              <a:rPr lang="en-US" dirty="0"/>
              <a:t> adjusts individually for each GPU.</a:t>
            </a:r>
          </a:p>
          <a:p>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b="0" dirty="0"/>
              <a:t>The core element of the entire system is the CapGPU controller, which receive all throughput message from cpu and gpu as well as the measured power data, while outputting new frequency value of GPU and CPU for the next step. We choose a model predictive controller for this feedback control, which will be discussed in details in the following slides.</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b="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The </a:t>
            </a:r>
            <a:r>
              <a:rPr lang="en-US" b="1" dirty="0"/>
              <a:t>feedback closed loop control</a:t>
            </a:r>
            <a:r>
              <a:rPr lang="en-US" dirty="0"/>
              <a:t> continuously observes power and throughput performance of both GPU and CPU. dynamically adjusts both CPU and GPU frequencies to meet the power budget while maximizing overall throughput.</a:t>
            </a:r>
            <a:endParaRPr lang="en-US" b="0" dirty="0"/>
          </a:p>
          <a:p>
            <a:endParaRPr lang="en-US" dirty="0"/>
          </a:p>
        </p:txBody>
      </p:sp>
      <p:sp>
        <p:nvSpPr>
          <p:cNvPr id="4" name="Slide Number Placeholder 3"/>
          <p:cNvSpPr>
            <a:spLocks noGrp="1"/>
          </p:cNvSpPr>
          <p:nvPr>
            <p:ph type="sldNum" sz="quarter" idx="5"/>
          </p:nvPr>
        </p:nvSpPr>
        <p:spPr/>
        <p:txBody>
          <a:bodyPr/>
          <a:lstStyle/>
          <a:p>
            <a:fld id="{56737F01-BE5A-4CE6-AE4F-725A91F75609}" type="slidenum">
              <a:rPr lang="zh-CN" altLang="en-US" smtClean="0"/>
              <a:pPr/>
              <a:t>7</a:t>
            </a:fld>
            <a:endParaRPr lang="en-US" altLang="zh-CN"/>
          </a:p>
        </p:txBody>
      </p:sp>
    </p:spTree>
    <p:extLst>
      <p:ext uri="{BB962C8B-B14F-4D97-AF65-F5344CB8AC3E}">
        <p14:creationId xmlns:p14="http://schemas.microsoft.com/office/powerpoint/2010/main" val="28315397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We choose </a:t>
            </a:r>
            <a:r>
              <a:rPr lang="en-US" sz="1200" dirty="0"/>
              <a:t>CPU and GPU frequency scaling as  actuation knobs because there are plenty of well-defined interfaces for frequency scaling on GPU and CPUs. For example, nvidia has nvidia-smi or NVML, AMD has rocm, and Intel has cpupower.</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t>Based on these two actuation knobs, we generate two system model with the help of system identification.</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t>The first one is power model. As we introduced before, the power of server is highly related with CPU and GPU frequency. The power model could be modeled with a quadratic model. However, for the simplicity, for each of them, we deployed a linear model to model the relationship. Here we can see from the left hand side, </a:t>
            </a:r>
            <a:r>
              <a:rPr lang="en-US" dirty="0"/>
              <a:t>our predicted power, which is the orange dashed line in the figure, closely matches the measured power, indicating a good fit. This model will be pushed to </a:t>
            </a:r>
            <a:r>
              <a:rPr lang="en-US" dirty="0" err="1"/>
              <a:t>contyroller</a:t>
            </a:r>
            <a:r>
              <a:rPr lang="en-US" dirty="0"/>
              <a:t> to predict the server power of the next step.</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Another one is Latency model. This model is highly associated with SLO control. The idea is, if we could control the latency lower than the SLO, which means that the frequency should be higher than a certain value, the SLO of this workload will be satisfied. Our model also closely matches the measured values.</a:t>
            </a:r>
          </a:p>
        </p:txBody>
      </p:sp>
      <p:sp>
        <p:nvSpPr>
          <p:cNvPr id="4" name="Slide Number Placeholder 3"/>
          <p:cNvSpPr>
            <a:spLocks noGrp="1"/>
          </p:cNvSpPr>
          <p:nvPr>
            <p:ph type="sldNum" sz="quarter" idx="5"/>
          </p:nvPr>
        </p:nvSpPr>
        <p:spPr/>
        <p:txBody>
          <a:bodyPr/>
          <a:lstStyle/>
          <a:p>
            <a:fld id="{56737F01-BE5A-4CE6-AE4F-725A91F75609}" type="slidenum">
              <a:rPr lang="zh-CN" altLang="en-US" smtClean="0"/>
              <a:pPr/>
              <a:t>8</a:t>
            </a:fld>
            <a:endParaRPr lang="en-US" altLang="zh-CN"/>
          </a:p>
        </p:txBody>
      </p:sp>
    </p:spTree>
    <p:extLst>
      <p:ext uri="{BB962C8B-B14F-4D97-AF65-F5344CB8AC3E}">
        <p14:creationId xmlns:p14="http://schemas.microsoft.com/office/powerpoint/2010/main" val="24369485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slides, I will introduce the model predictive controller in details.</a:t>
            </a:r>
          </a:p>
          <a:p>
            <a:r>
              <a:rPr lang="en-US" dirty="0"/>
              <a:t>So why we choose the model predictive controller? It is because the MPC could solve problem with constrainst and dynamic allocation easily.</a:t>
            </a:r>
          </a:p>
          <a:p>
            <a:r>
              <a:rPr lang="en-US" dirty="0"/>
              <a:t>At each control step, the MPC receives two inputs, the predefined power budget ps and measured power pk.</a:t>
            </a:r>
          </a:p>
          <a:p>
            <a:r>
              <a:rPr lang="en-US" dirty="0"/>
              <a:t>The </a:t>
            </a:r>
            <a:r>
              <a:rPr lang="en-US" b="1" dirty="0"/>
              <a:t>optimization solver</a:t>
            </a:r>
            <a:r>
              <a:rPr lang="en-US" dirty="0"/>
              <a:t> uses:</a:t>
            </a:r>
          </a:p>
          <a:p>
            <a:r>
              <a:rPr lang="en-US" dirty="0"/>
              <a:t>A </a:t>
            </a:r>
            <a:r>
              <a:rPr lang="en-US" b="1" dirty="0"/>
              <a:t>power model</a:t>
            </a:r>
            <a:r>
              <a:rPr lang="en-US" dirty="0"/>
              <a:t> to predict how frequency changes will affect future power.</a:t>
            </a:r>
          </a:p>
          <a:p>
            <a:r>
              <a:rPr lang="en-US" b="1" dirty="0"/>
              <a:t>SLO constraints</a:t>
            </a:r>
            <a:r>
              <a:rPr lang="en-US" dirty="0"/>
              <a:t>, which ensure that the service level objectives are satisfied.</a:t>
            </a:r>
          </a:p>
          <a:p>
            <a:r>
              <a:rPr lang="en-US" dirty="0"/>
              <a:t>And A </a:t>
            </a:r>
            <a:r>
              <a:rPr lang="en-US" b="1" dirty="0"/>
              <a:t>cost function</a:t>
            </a:r>
            <a:r>
              <a:rPr lang="en-US" dirty="0"/>
              <a:t>, which penalizes deviation from the power budget</a:t>
            </a:r>
          </a:p>
          <a:p>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The first term of cost function is trying to minimize the difference beween power ans setpoint.</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The second term is used to manage the control step, in case the total power has too much fluctuations.</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Finally at the end of each control step, the controller will outputs </a:t>
            </a:r>
            <a:r>
              <a:rPr lang="en-US" sz="1200" dirty="0"/>
              <a:t>F</a:t>
            </a:r>
            <a:r>
              <a:rPr lang="en-US" altLang="zh-CN" sz="1200" dirty="0"/>
              <a:t>requency Changes for </a:t>
            </a:r>
            <a:r>
              <a:rPr lang="en-US" altLang="zh-CN" sz="1200" dirty="0">
                <a:solidFill>
                  <a:srgbClr val="961C1F"/>
                </a:solidFill>
              </a:rPr>
              <a:t>each GPU </a:t>
            </a:r>
            <a:r>
              <a:rPr lang="en-US" altLang="zh-CN" sz="1200" dirty="0"/>
              <a:t>and CPU.</a:t>
            </a:r>
            <a:endParaRPr lang="en-US" sz="1200"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56737F01-BE5A-4CE6-AE4F-725A91F75609}" type="slidenum">
              <a:rPr lang="zh-CN" altLang="en-US" smtClean="0"/>
              <a:pPr/>
              <a:t>9</a:t>
            </a:fld>
            <a:endParaRPr lang="en-US" altLang="zh-CN"/>
          </a:p>
        </p:txBody>
      </p:sp>
    </p:spTree>
    <p:extLst>
      <p:ext uri="{BB962C8B-B14F-4D97-AF65-F5344CB8AC3E}">
        <p14:creationId xmlns:p14="http://schemas.microsoft.com/office/powerpoint/2010/main" val="9398841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We also utilize a weight assignment mechanism to allocate power among CPU and GPUs.</a:t>
            </a:r>
          </a:p>
          <a:p>
            <a:r>
              <a:rPr lang="en-US" altLang="zh-CN" dirty="0"/>
              <a:t>Since differenct components have different workload intensities. Static penalty weights may unfairly penalize busy componenets.</a:t>
            </a:r>
          </a:p>
          <a:p>
            <a:r>
              <a:rPr lang="en-US" altLang="zh-CN" dirty="0"/>
              <a:t>As we talked in the framework slide, we receive both of CPU and GPU throughput and utilize here for the dynamic penalties, while T denotes the throughput.</a:t>
            </a:r>
          </a:p>
          <a:p>
            <a:r>
              <a:rPr lang="en-US" altLang="zh-CN" dirty="0"/>
              <a:t>So this weight assignment machanism is achieved by assigning smaller penlty weights to high throughput units in MPC cost.</a:t>
            </a:r>
          </a:p>
          <a:p>
            <a:r>
              <a:rPr lang="en-US" altLang="zh-CN" dirty="0"/>
              <a:t>So MPC tends to increase the frequency of busier components.</a:t>
            </a:r>
            <a:endParaRPr lang="zh-CN" altLang="en-US" dirty="0"/>
          </a:p>
        </p:txBody>
      </p:sp>
      <p:sp>
        <p:nvSpPr>
          <p:cNvPr id="4" name="灯片编号占位符 3"/>
          <p:cNvSpPr>
            <a:spLocks noGrp="1"/>
          </p:cNvSpPr>
          <p:nvPr>
            <p:ph type="sldNum" sz="quarter" idx="5"/>
          </p:nvPr>
        </p:nvSpPr>
        <p:spPr/>
        <p:txBody>
          <a:bodyPr/>
          <a:lstStyle/>
          <a:p>
            <a:fld id="{56737F01-BE5A-4CE6-AE4F-725A91F75609}" type="slidenum">
              <a:rPr lang="zh-CN" altLang="en-US" smtClean="0"/>
              <a:pPr/>
              <a:t>10</a:t>
            </a:fld>
            <a:endParaRPr lang="en-US" altLang="zh-CN"/>
          </a:p>
        </p:txBody>
      </p:sp>
    </p:spTree>
    <p:extLst>
      <p:ext uri="{BB962C8B-B14F-4D97-AF65-F5344CB8AC3E}">
        <p14:creationId xmlns:p14="http://schemas.microsoft.com/office/powerpoint/2010/main" val="36795090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done our experiment on a test bed with 3 V100 GPUs and one Intel processor.</a:t>
            </a:r>
          </a:p>
          <a:p>
            <a:r>
              <a:rPr lang="en-US" dirty="0"/>
              <a:t>For the frequency modulators, </a:t>
            </a:r>
          </a:p>
          <a:p>
            <a:r>
              <a:rPr lang="en-US" dirty="0"/>
              <a:t>We choose the CPU power for CPU DVFS, nvidia-smi for GPU frequency scaling.</a:t>
            </a:r>
          </a:p>
          <a:p>
            <a:r>
              <a:rPr lang="en-US" dirty="0"/>
              <a:t>As both of CPU and GPU, the available frequency levels in the sytem are dicrete. We utilize a technique called Delta-sigma to approximate a fractional level.</a:t>
            </a:r>
          </a:p>
          <a:p>
            <a:r>
              <a:rPr lang="en-US" dirty="0"/>
              <a:t>For example, to reach 2.25GHz, we do 2,2,2, and 3 on a subinterval.</a:t>
            </a:r>
          </a:p>
          <a:p>
            <a:endParaRPr lang="en-US" dirty="0"/>
          </a:p>
          <a:p>
            <a:r>
              <a:rPr lang="en-US" dirty="0"/>
              <a:t>We assigned each GPU on the server with one machine learning inference workload, with swin transformer, resnet 50, and vgg 16.</a:t>
            </a:r>
          </a:p>
          <a:p>
            <a:r>
              <a:rPr lang="en-US" dirty="0"/>
              <a:t>It is also notable that </a:t>
            </a:r>
            <a:r>
              <a:rPr lang="en-US" dirty="0" err="1"/>
              <a:t>swin</a:t>
            </a:r>
            <a:r>
              <a:rPr lang="en-US" dirty="0"/>
              <a:t> transformer is a transformer based deep learning workload. We would like to show that our framework can also work well with transformers.</a:t>
            </a:r>
          </a:p>
          <a:p>
            <a:r>
              <a:rPr lang="en-US" dirty="0"/>
              <a:t>For CPU, we choose a data analysis workload based on the </a:t>
            </a:r>
            <a:r>
              <a:rPr lang="en-US" dirty="0" err="1"/>
              <a:t>ALibbaPai</a:t>
            </a:r>
            <a:r>
              <a:rPr lang="en-US" dirty="0"/>
              <a:t> dataset to mimic  the data preprocessing workload in the real industry</a:t>
            </a:r>
          </a:p>
        </p:txBody>
      </p:sp>
      <p:sp>
        <p:nvSpPr>
          <p:cNvPr id="4" name="Slide Number Placeholder 3"/>
          <p:cNvSpPr>
            <a:spLocks noGrp="1"/>
          </p:cNvSpPr>
          <p:nvPr>
            <p:ph type="sldNum" sz="quarter" idx="5"/>
          </p:nvPr>
        </p:nvSpPr>
        <p:spPr/>
        <p:txBody>
          <a:bodyPr/>
          <a:lstStyle/>
          <a:p>
            <a:fld id="{56737F01-BE5A-4CE6-AE4F-725A91F75609}" type="slidenum">
              <a:rPr lang="zh-CN" altLang="en-US" smtClean="0"/>
              <a:pPr/>
              <a:t>11</a:t>
            </a:fld>
            <a:endParaRPr lang="en-US" altLang="zh-CN"/>
          </a:p>
        </p:txBody>
      </p:sp>
    </p:spTree>
    <p:extLst>
      <p:ext uri="{BB962C8B-B14F-4D97-AF65-F5344CB8AC3E}">
        <p14:creationId xmlns:p14="http://schemas.microsoft.com/office/powerpoint/2010/main" val="35334781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experiments, we use 4 state of the art baselines for comparison with our </a:t>
            </a:r>
            <a:r>
              <a:rPr lang="en-US" dirty="0" err="1"/>
              <a:t>CapGPU</a:t>
            </a:r>
            <a:r>
              <a:rPr lang="en-US" dirty="0"/>
              <a:t> framework.</a:t>
            </a:r>
          </a:p>
          <a:p>
            <a:r>
              <a:rPr lang="en-US" dirty="0"/>
              <a:t>The first baseline is fixed-step, which is also the most commonly used </a:t>
            </a:r>
            <a:r>
              <a:rPr lang="en-US" dirty="0" err="1"/>
              <a:t>techinique</a:t>
            </a:r>
            <a:r>
              <a:rPr lang="en-US" dirty="0"/>
              <a:t> by industry. </a:t>
            </a:r>
            <a:r>
              <a:rPr lang="en-US" sz="1200" dirty="0"/>
              <a:t>a controller that only changes frequency of GPU and CPU with fixed value.</a:t>
            </a:r>
          </a:p>
          <a:p>
            <a:endParaRPr lang="en-US" sz="1200" dirty="0"/>
          </a:p>
          <a:p>
            <a:r>
              <a:rPr lang="en-US" dirty="0"/>
              <a:t>The second one is GPU-Only. Instead of a coordinate allocation between each GPU and CPU, they will only use</a:t>
            </a:r>
            <a:r>
              <a:rPr lang="en-US" sz="1200" dirty="0"/>
              <a:t> a proportional controller to control power by adjusting GPU frequency. It is notable that since only a proportional controller is used,</a:t>
            </a:r>
          </a:p>
          <a:p>
            <a:r>
              <a:rPr lang="en-US" sz="1200" dirty="0"/>
              <a:t>This controller cannot allocate different power consumption for each hardware based on real-time throughput and would be possible violate SLO.</a:t>
            </a:r>
          </a:p>
          <a:p>
            <a:endParaRPr lang="en-US" sz="1200" dirty="0"/>
          </a:p>
          <a:p>
            <a:r>
              <a:rPr lang="en-US" dirty="0"/>
              <a:t>The third one is CPU-Only, which is similar to GPU only but this technique only adjusting the CPU frequency, representing the traditional power capping techniques.</a:t>
            </a:r>
          </a:p>
          <a:p>
            <a:endParaRPr lang="en-US" dirty="0"/>
          </a:p>
          <a:p>
            <a:r>
              <a:rPr lang="en-US" dirty="0"/>
              <a:t>The last one is CPU + GPU. Although this technique control the CPU and GPU </a:t>
            </a:r>
          </a:p>
          <a:p>
            <a:endParaRPr lang="en-US" dirty="0"/>
          </a:p>
        </p:txBody>
      </p:sp>
      <p:sp>
        <p:nvSpPr>
          <p:cNvPr id="4" name="Slide Number Placeholder 3"/>
          <p:cNvSpPr>
            <a:spLocks noGrp="1"/>
          </p:cNvSpPr>
          <p:nvPr>
            <p:ph type="sldNum" sz="quarter" idx="5"/>
          </p:nvPr>
        </p:nvSpPr>
        <p:spPr/>
        <p:txBody>
          <a:bodyPr/>
          <a:lstStyle/>
          <a:p>
            <a:fld id="{56737F01-BE5A-4CE6-AE4F-725A91F75609}" type="slidenum">
              <a:rPr lang="zh-CN" altLang="en-US" smtClean="0"/>
              <a:pPr/>
              <a:t>12</a:t>
            </a:fld>
            <a:endParaRPr lang="en-US" altLang="zh-CN"/>
          </a:p>
        </p:txBody>
      </p:sp>
    </p:spTree>
    <p:extLst>
      <p:ext uri="{BB962C8B-B14F-4D97-AF65-F5344CB8AC3E}">
        <p14:creationId xmlns:p14="http://schemas.microsoft.com/office/powerpoint/2010/main" val="31085502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evaluation we did the comparison with baselines,</a:t>
            </a:r>
          </a:p>
          <a:p>
            <a:r>
              <a:rPr lang="en-US" dirty="0"/>
              <a:t>While some baseline cannot even converge to the setpoints. Like CPU-Only cannot converge to setpoint is because the impact of cpu dvfs is comparably small when it is comparing with GPU. And GPU+CPU cannot converge to setpoint sometimes is because it is hard to find the suitable power allocation when cpu and gpu are doing two isolation loops. CapGPU has the most precise control as well as taking the minimum time to converge.</a:t>
            </a:r>
          </a:p>
          <a:p>
            <a:endParaRPr lang="en-US" dirty="0"/>
          </a:p>
          <a:p>
            <a:r>
              <a:rPr lang="en-US" dirty="0"/>
              <a:t>The right hand side can show that capGPU is able to converge to any power setpoint in the available range.</a:t>
            </a:r>
          </a:p>
          <a:p>
            <a:r>
              <a:rPr lang="en-US" dirty="0"/>
              <a:t>(</a:t>
            </a:r>
            <a:r>
              <a:rPr lang="zh-CN" altLang="en-US" dirty="0"/>
              <a:t>不需要再念最后一行</a:t>
            </a:r>
            <a:endParaRPr lang="en-US" dirty="0"/>
          </a:p>
        </p:txBody>
      </p:sp>
      <p:sp>
        <p:nvSpPr>
          <p:cNvPr id="4" name="Slide Number Placeholder 3"/>
          <p:cNvSpPr>
            <a:spLocks noGrp="1"/>
          </p:cNvSpPr>
          <p:nvPr>
            <p:ph type="sldNum" sz="quarter" idx="5"/>
          </p:nvPr>
        </p:nvSpPr>
        <p:spPr/>
        <p:txBody>
          <a:bodyPr/>
          <a:lstStyle/>
          <a:p>
            <a:fld id="{56737F01-BE5A-4CE6-AE4F-725A91F75609}" type="slidenum">
              <a:rPr lang="zh-CN" altLang="en-US" smtClean="0"/>
              <a:pPr/>
              <a:t>13</a:t>
            </a:fld>
            <a:endParaRPr lang="en-US" altLang="zh-CN"/>
          </a:p>
        </p:txBody>
      </p:sp>
    </p:spTree>
    <p:extLst>
      <p:ext uri="{BB962C8B-B14F-4D97-AF65-F5344CB8AC3E}">
        <p14:creationId xmlns:p14="http://schemas.microsoft.com/office/powerpoint/2010/main" val="32445847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a:t>
            </a:r>
            <a:r>
              <a:rPr lang="zh-CN" altLang="en-US" dirty="0"/>
              <a:t> </a:t>
            </a:r>
            <a:r>
              <a:rPr lang="en-US" altLang="zh-CN" dirty="0"/>
              <a:t>this</a:t>
            </a:r>
            <a:r>
              <a:rPr lang="zh-CN" altLang="en-US" dirty="0"/>
              <a:t> </a:t>
            </a:r>
            <a:r>
              <a:rPr lang="en-US" altLang="zh-CN" dirty="0"/>
              <a:t>evaluation, we compare the performance of all the solutions for different setpoints. </a:t>
            </a:r>
          </a:p>
          <a:p>
            <a:r>
              <a:rPr lang="en-US" altLang="zh-CN" dirty="0"/>
              <a:t>You may want to ask why we just show 3 methods in this figure, which is because the last experiments shows that not all methods are able to converge to setpoint, so we just remove those methods for this evaluation.</a:t>
            </a:r>
          </a:p>
          <a:p>
            <a:r>
              <a:rPr lang="en-US" altLang="zh-CN" dirty="0"/>
              <a:t>The left handside is GPU throughput and right hand side is latency.  CapGPU is the green column.</a:t>
            </a:r>
          </a:p>
          <a:p>
            <a:r>
              <a:rPr lang="en-US" altLang="zh-CN" dirty="0"/>
              <a:t>It is clearly that CapGPU delivers the highest GPU inference throughput and the lowest latency, which means that CapGPU shows the best performance among State of the art techniques.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sz="1200" dirty="0"/>
              <a:t>More results are shown in the paper</a:t>
            </a:r>
            <a:r>
              <a:rPr lang="en-US" altLang="zh-CN" dirty="0"/>
              <a:t>, please check our paper for more results!</a:t>
            </a:r>
            <a:endParaRPr lang="zh-CN" altLang="en-US" dirty="0"/>
          </a:p>
        </p:txBody>
      </p:sp>
      <p:sp>
        <p:nvSpPr>
          <p:cNvPr id="4" name="灯片编号占位符 3"/>
          <p:cNvSpPr>
            <a:spLocks noGrp="1"/>
          </p:cNvSpPr>
          <p:nvPr>
            <p:ph type="sldNum" sz="quarter" idx="5"/>
          </p:nvPr>
        </p:nvSpPr>
        <p:spPr/>
        <p:txBody>
          <a:bodyPr/>
          <a:lstStyle/>
          <a:p>
            <a:fld id="{56737F01-BE5A-4CE6-AE4F-725A91F75609}" type="slidenum">
              <a:rPr lang="zh-CN" altLang="en-US" smtClean="0"/>
              <a:pPr/>
              <a:t>14</a:t>
            </a:fld>
            <a:endParaRPr lang="en-US" altLang="zh-CN"/>
          </a:p>
        </p:txBody>
      </p:sp>
    </p:spTree>
    <p:extLst>
      <p:ext uri="{BB962C8B-B14F-4D97-AF65-F5344CB8AC3E}">
        <p14:creationId xmlns:p14="http://schemas.microsoft.com/office/powerpoint/2010/main" val="41737304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evaluation is about varying SLO. Let me explain why we need this scenario here.</a:t>
            </a:r>
          </a:p>
          <a:p>
            <a:r>
              <a:rPr lang="en-US" dirty="0"/>
              <a:t>In many cloud-based ML inference services, SLO requirements often become stricter during periods of high demand. </a:t>
            </a:r>
          </a:p>
          <a:p>
            <a:r>
              <a:rPr lang="en-US" dirty="0"/>
              <a:t>For example on a art event on ChatGPT, thousands of users submitted prompts simultaneously, expecting quick image generation.</a:t>
            </a:r>
          </a:p>
          <a:p>
            <a:r>
              <a:rPr lang="en-US" dirty="0"/>
              <a:t>In such a situation, cloud service provider may ask for a stricter latency constraints to ensure quick response.</a:t>
            </a:r>
          </a:p>
          <a:p>
            <a:endParaRPr lang="en-US" dirty="0"/>
          </a:p>
          <a:p>
            <a:r>
              <a:rPr lang="en-US" dirty="0"/>
              <a:t>We push the changing slo in the middle of the run, in the left hand side, we show our baseline with no SLO specific design, </a:t>
            </a:r>
          </a:p>
          <a:p>
            <a:endParaRPr lang="en-US" dirty="0"/>
          </a:p>
          <a:p>
            <a:r>
              <a:rPr lang="en-US" dirty="0"/>
              <a:t>For example, lets look at the purple line, which is the latency curve of GPU2 while the SLO requirement for this GPU is shown in the green dashed line.</a:t>
            </a:r>
            <a:r>
              <a:rPr lang="en-US" altLang="zh-CN" dirty="0"/>
              <a:t> we noticed that for both of fixed-step and GPU-only,  actually the latency of them would not change with SLO requirement.</a:t>
            </a:r>
          </a:p>
          <a:p>
            <a:endParaRPr lang="en-US" dirty="0"/>
          </a:p>
          <a:p>
            <a:r>
              <a:rPr lang="en-US" dirty="0"/>
              <a:t>But in the right hand side. Is the results with CapGPU. We cansee the latency would change with the SLO requirement immediately because of the utilization of SLO constraints in MPC.</a:t>
            </a:r>
          </a:p>
          <a:p>
            <a:endParaRPr lang="en-US" dirty="0"/>
          </a:p>
          <a:p>
            <a:r>
              <a:rPr lang="en-US" dirty="0"/>
              <a:t>We also did an evaluation on time varying power setpoint in our paper, which also get a pretty good results comparing to baselines. You can check our paper if you are interested in that.</a:t>
            </a:r>
          </a:p>
        </p:txBody>
      </p:sp>
      <p:sp>
        <p:nvSpPr>
          <p:cNvPr id="4" name="Slide Number Placeholder 3"/>
          <p:cNvSpPr>
            <a:spLocks noGrp="1"/>
          </p:cNvSpPr>
          <p:nvPr>
            <p:ph type="sldNum" sz="quarter" idx="5"/>
          </p:nvPr>
        </p:nvSpPr>
        <p:spPr/>
        <p:txBody>
          <a:bodyPr/>
          <a:lstStyle/>
          <a:p>
            <a:fld id="{56737F01-BE5A-4CE6-AE4F-725A91F75609}" type="slidenum">
              <a:rPr lang="zh-CN" altLang="en-US" smtClean="0"/>
              <a:pPr/>
              <a:t>15</a:t>
            </a:fld>
            <a:endParaRPr lang="en-US" altLang="zh-CN"/>
          </a:p>
        </p:txBody>
      </p:sp>
    </p:spTree>
    <p:extLst>
      <p:ext uri="{BB962C8B-B14F-4D97-AF65-F5344CB8AC3E}">
        <p14:creationId xmlns:p14="http://schemas.microsoft.com/office/powerpoint/2010/main" val="29694036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in this presentation,  we went through Power oversubscription, And analysed the power demand of mordern inference server, </a:t>
            </a:r>
            <a:r>
              <a:rPr lang="en-US" altLang="zh-CN" dirty="0"/>
              <a:t>which are the reasons why we have to do a power capping for inference GPU servers.</a:t>
            </a:r>
            <a:endParaRPr lang="en-US" dirty="0"/>
          </a:p>
          <a:p>
            <a:r>
              <a:rPr lang="en-US" dirty="0"/>
              <a:t>We also did a literature review for existing power techniques, and found that they cannot take the coordinated control of both GPU And CPU.</a:t>
            </a:r>
          </a:p>
          <a:p>
            <a:r>
              <a:rPr lang="en-US" dirty="0"/>
              <a:t>So we proposed the CapGPU, as the first </a:t>
            </a:r>
            <a:r>
              <a:rPr lang="en-US" altLang="zh-CN" sz="1200" dirty="0"/>
              <a:t>MIMO power capping method coordinating both GPU and CPU on ML inference server. </a:t>
            </a:r>
          </a:p>
          <a:p>
            <a:r>
              <a:rPr lang="en-US" sz="1200" dirty="0"/>
              <a:t>With several evaluation on the test bed, we claimed that capGPU has more precise power control, higher inference throughput, and better inference latency guarantees comparing with 4 sota power capping techniques.</a:t>
            </a:r>
            <a:endParaRPr lang="en-US" dirty="0"/>
          </a:p>
          <a:p>
            <a:endParaRPr lang="en-US" dirty="0"/>
          </a:p>
        </p:txBody>
      </p:sp>
      <p:sp>
        <p:nvSpPr>
          <p:cNvPr id="4" name="Slide Number Placeholder 3"/>
          <p:cNvSpPr>
            <a:spLocks noGrp="1"/>
          </p:cNvSpPr>
          <p:nvPr>
            <p:ph type="sldNum" sz="quarter" idx="10"/>
          </p:nvPr>
        </p:nvSpPr>
        <p:spPr/>
        <p:txBody>
          <a:bodyPr/>
          <a:lstStyle/>
          <a:p>
            <a:fld id="{56737F01-BE5A-4CE6-AE4F-725A91F75609}" type="slidenum">
              <a:rPr lang="zh-CN" altLang="en-US" smtClean="0"/>
              <a:pPr/>
              <a:t>16</a:t>
            </a:fld>
            <a:endParaRPr lang="en-US" altLang="zh-CN"/>
          </a:p>
        </p:txBody>
      </p:sp>
    </p:spTree>
    <p:extLst>
      <p:ext uri="{BB962C8B-B14F-4D97-AF65-F5344CB8AC3E}">
        <p14:creationId xmlns:p14="http://schemas.microsoft.com/office/powerpoint/2010/main" val="37147064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define stability as the server’s </a:t>
            </a:r>
            <a:r>
              <a:rPr lang="en-US" b="1" dirty="0"/>
              <a:t>total power</a:t>
            </a:r>
            <a:r>
              <a:rPr lang="en-US" dirty="0"/>
              <a:t> converging to the target setpoint over time — that is,</a:t>
            </a:r>
          </a:p>
          <a:p>
            <a:r>
              <a:rPr lang="en-US" dirty="0"/>
              <a:t>“The limit of </a:t>
            </a:r>
            <a:r>
              <a:rPr lang="en-US" b="1" dirty="0"/>
              <a:t>p of k</a:t>
            </a:r>
            <a:r>
              <a:rPr lang="en-US" dirty="0"/>
              <a:t> as </a:t>
            </a:r>
            <a:r>
              <a:rPr lang="en-US" b="1" dirty="0"/>
              <a:t>k approaches infinity</a:t>
            </a:r>
            <a:r>
              <a:rPr lang="en-US" dirty="0"/>
              <a:t> equals </a:t>
            </a:r>
            <a:r>
              <a:rPr lang="en-US" b="1" dirty="0"/>
              <a:t>P sub s</a:t>
            </a:r>
            <a:endParaRPr lang="en-US" dirty="0"/>
          </a:p>
          <a:p>
            <a:endParaRPr lang="en-US" dirty="0"/>
          </a:p>
          <a:p>
            <a:r>
              <a:rPr lang="en-US" dirty="0"/>
              <a:t>To prove this, we follow a control-theoretic process:</a:t>
            </a:r>
          </a:p>
          <a:p>
            <a:r>
              <a:rPr lang="en-US" b="1" dirty="0"/>
              <a:t>Nominal control inputs</a:t>
            </a:r>
            <a:r>
              <a:rPr lang="en-US" dirty="0"/>
              <a:t> are computed using the estimated system model, which relates CPU/GPU frequencies to total power.</a:t>
            </a:r>
          </a:p>
          <a:p>
            <a:r>
              <a:rPr lang="en-US" dirty="0"/>
              <a:t>But in reality, the actual system may behave slightly differently — so we model this deviation with a new parameter matrix A′A'A′.</a:t>
            </a:r>
          </a:p>
          <a:p>
            <a:r>
              <a:rPr lang="en-US" dirty="0"/>
              <a:t>We then substitute our nominal control inputs into this actual system to form the </a:t>
            </a:r>
            <a:r>
              <a:rPr lang="en-US" b="1" dirty="0"/>
              <a:t>closed-loop system</a:t>
            </a:r>
            <a:r>
              <a:rPr lang="en-US" dirty="0"/>
              <a:t>.</a:t>
            </a:r>
          </a:p>
          <a:p>
            <a:r>
              <a:rPr lang="en-US" dirty="0"/>
              <a:t>Finally, we perform </a:t>
            </a:r>
            <a:r>
              <a:rPr lang="en-US" b="1" dirty="0"/>
              <a:t>pole analysis</a:t>
            </a:r>
            <a:r>
              <a:rPr lang="en-US" dirty="0"/>
              <a:t>. If all poles lie within the unit circle in the complex plane, the system is guaranteed to converge — which it does under our design.</a:t>
            </a:r>
          </a:p>
          <a:p>
            <a:r>
              <a:rPr lang="en-US" dirty="0"/>
              <a:t>In short, </a:t>
            </a:r>
            <a:r>
              <a:rPr lang="en-US" dirty="0" err="1"/>
              <a:t>CapGPU</a:t>
            </a:r>
            <a:r>
              <a:rPr lang="en-US" dirty="0"/>
              <a:t> ensures that power control is not only adaptive, but also mathematically stable, even when hardware behavior shifts slightly</a:t>
            </a:r>
          </a:p>
          <a:p>
            <a:endParaRPr lang="en-US" dirty="0"/>
          </a:p>
        </p:txBody>
      </p:sp>
      <p:sp>
        <p:nvSpPr>
          <p:cNvPr id="4" name="Slide Number Placeholder 3"/>
          <p:cNvSpPr>
            <a:spLocks noGrp="1"/>
          </p:cNvSpPr>
          <p:nvPr>
            <p:ph type="sldNum" sz="quarter" idx="5"/>
          </p:nvPr>
        </p:nvSpPr>
        <p:spPr/>
        <p:txBody>
          <a:bodyPr/>
          <a:lstStyle/>
          <a:p>
            <a:fld id="{56737F01-BE5A-4CE6-AE4F-725A91F75609}" type="slidenum">
              <a:rPr lang="zh-CN" altLang="en-US" smtClean="0"/>
              <a:pPr/>
              <a:t>19</a:t>
            </a:fld>
            <a:endParaRPr lang="en-US" altLang="zh-CN"/>
          </a:p>
        </p:txBody>
      </p:sp>
    </p:spTree>
    <p:extLst>
      <p:ext uri="{BB962C8B-B14F-4D97-AF65-F5344CB8AC3E}">
        <p14:creationId xmlns:p14="http://schemas.microsoft.com/office/powerpoint/2010/main" val="385257788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9218" name="Rectangle 2"/>
          <p:cNvSpPr>
            <a:spLocks noGrp="1" noChangeArrowheads="1"/>
          </p:cNvSpPr>
          <p:nvPr>
            <p:ph type="ctrTitle" sz="quarter"/>
          </p:nvPr>
        </p:nvSpPr>
        <p:spPr>
          <a:xfrm>
            <a:off x="1673225" y="1616075"/>
            <a:ext cx="6556375" cy="1143000"/>
          </a:xfrm>
        </p:spPr>
        <p:txBody>
          <a:bodyPr lIns="91176" rIns="91176" anchor="b"/>
          <a:lstStyle>
            <a:lvl1pPr>
              <a:defRPr sz="3600">
                <a:solidFill>
                  <a:srgbClr val="961C1F"/>
                </a:solidFill>
              </a:defRPr>
            </a:lvl1pPr>
          </a:lstStyle>
          <a:p>
            <a:r>
              <a:rPr lang="en-US" altLang="zh-CN" dirty="0"/>
              <a:t>Click to edit Master title style</a:t>
            </a:r>
          </a:p>
        </p:txBody>
      </p:sp>
      <p:sp>
        <p:nvSpPr>
          <p:cNvPr id="9219" name="Rectangle 3"/>
          <p:cNvSpPr>
            <a:spLocks noGrp="1" noChangeArrowheads="1"/>
          </p:cNvSpPr>
          <p:nvPr>
            <p:ph type="subTitle" sz="quarter" idx="1"/>
          </p:nvPr>
        </p:nvSpPr>
        <p:spPr>
          <a:xfrm>
            <a:off x="1673225" y="3278188"/>
            <a:ext cx="6400800" cy="1770062"/>
          </a:xfrm>
        </p:spPr>
        <p:txBody>
          <a:bodyPr/>
          <a:lstStyle>
            <a:lvl1pPr marL="0" indent="0" algn="ctr" defTabSz="1019175">
              <a:buFont typeface="Wingdings" pitchFamily="2" charset="2"/>
              <a:buNone/>
              <a:defRPr sz="1600"/>
            </a:lvl1pPr>
          </a:lstStyle>
          <a:p>
            <a:endParaRPr lang="zh-CN" altLang="en-US"/>
          </a:p>
        </p:txBody>
      </p:sp>
      <p:sp>
        <p:nvSpPr>
          <p:cNvPr id="4" name="Rectangle 4"/>
          <p:cNvSpPr>
            <a:spLocks noGrp="1" noChangeArrowheads="1"/>
          </p:cNvSpPr>
          <p:nvPr>
            <p:ph type="dt" sz="quarter" idx="10"/>
          </p:nvPr>
        </p:nvSpPr>
        <p:spPr bwMode="auto">
          <a:xfrm>
            <a:off x="711200" y="6230938"/>
            <a:ext cx="1930400" cy="512762"/>
          </a:xfrm>
          <a:prstGeom prst="rect">
            <a:avLst/>
          </a:prstGeom>
          <a:ln>
            <a:miter lim="800000"/>
            <a:headEnd/>
            <a:tailEnd/>
          </a:ln>
        </p:spPr>
        <p:txBody>
          <a:bodyPr vert="horz" wrap="square" lIns="91176" tIns="45588" rIns="91176" bIns="45588" numCol="1" anchor="b" anchorCtr="0" compatLnSpc="1">
            <a:prstTxWarp prst="textNoShape">
              <a:avLst/>
            </a:prstTxWarp>
          </a:bodyPr>
          <a:lstStyle>
            <a:lvl1pPr>
              <a:spcBef>
                <a:spcPct val="50000"/>
              </a:spcBef>
              <a:buClrTx/>
              <a:buFontTx/>
              <a:buNone/>
              <a:defRPr sz="1300">
                <a:latin typeface="Times New Roman" pitchFamily="18" charset="0"/>
                <a:ea typeface="宋体" pitchFamily="2" charset="-122"/>
              </a:defRPr>
            </a:lvl1pPr>
          </a:lstStyle>
          <a:p>
            <a:endParaRPr lang="en-US" altLang="zh-CN"/>
          </a:p>
        </p:txBody>
      </p:sp>
      <p:sp>
        <p:nvSpPr>
          <p:cNvPr id="5" name="Rectangle 5"/>
          <p:cNvSpPr>
            <a:spLocks noGrp="1" noChangeArrowheads="1"/>
          </p:cNvSpPr>
          <p:nvPr>
            <p:ph type="ftr" sz="quarter" idx="11"/>
          </p:nvPr>
        </p:nvSpPr>
        <p:spPr bwMode="auto">
          <a:xfrm>
            <a:off x="3149600" y="6230938"/>
            <a:ext cx="2844800" cy="512762"/>
          </a:xfrm>
          <a:prstGeom prst="rect">
            <a:avLst/>
          </a:prstGeom>
          <a:ln>
            <a:miter lim="800000"/>
            <a:headEnd/>
            <a:tailEnd/>
          </a:ln>
        </p:spPr>
        <p:txBody>
          <a:bodyPr vert="horz" wrap="square" lIns="91176" tIns="45588" rIns="91176" bIns="45588" numCol="1" anchor="b" anchorCtr="0" compatLnSpc="1">
            <a:prstTxWarp prst="textNoShape">
              <a:avLst/>
            </a:prstTxWarp>
          </a:bodyPr>
          <a:lstStyle>
            <a:lvl1pPr algn="ctr">
              <a:spcBef>
                <a:spcPct val="50000"/>
              </a:spcBef>
              <a:buClrTx/>
              <a:buFontTx/>
              <a:buNone/>
              <a:defRPr sz="1400">
                <a:solidFill>
                  <a:srgbClr val="5E574E"/>
                </a:solidFill>
                <a:ea typeface="宋体" pitchFamily="2" charset="-122"/>
              </a:defRPr>
            </a:lvl1pPr>
          </a:lstStyle>
          <a:p>
            <a:endParaRPr lang="en-US" altLang="zh-CN"/>
          </a:p>
        </p:txBody>
      </p:sp>
      <p:sp>
        <p:nvSpPr>
          <p:cNvPr id="6" name="Rectangle 6"/>
          <p:cNvSpPr>
            <a:spLocks noGrp="1" noChangeArrowheads="1"/>
          </p:cNvSpPr>
          <p:nvPr>
            <p:ph type="sldNum" sz="quarter" idx="12"/>
          </p:nvPr>
        </p:nvSpPr>
        <p:spPr bwMode="auto">
          <a:xfrm>
            <a:off x="6604000" y="6245225"/>
            <a:ext cx="1828800" cy="511175"/>
          </a:xfrm>
          <a:prstGeom prst="rect">
            <a:avLst/>
          </a:prstGeom>
          <a:ln>
            <a:miter lim="800000"/>
            <a:headEnd/>
            <a:tailEnd/>
          </a:ln>
        </p:spPr>
        <p:txBody>
          <a:bodyPr vert="horz" wrap="square" lIns="91176" tIns="45588" rIns="91176" bIns="45588" numCol="1" anchor="b" anchorCtr="0" compatLnSpc="1">
            <a:prstTxWarp prst="textNoShape">
              <a:avLst/>
            </a:prstTxWarp>
          </a:bodyPr>
          <a:lstStyle>
            <a:lvl1pPr algn="r">
              <a:spcBef>
                <a:spcPct val="50000"/>
              </a:spcBef>
              <a:buClrTx/>
              <a:buFontTx/>
              <a:buNone/>
              <a:defRPr sz="1400">
                <a:solidFill>
                  <a:srgbClr val="5E574E"/>
                </a:solidFill>
                <a:ea typeface="宋体" pitchFamily="2" charset="-122"/>
              </a:defRPr>
            </a:lvl1pPr>
          </a:lstStyle>
          <a:p>
            <a:fld id="{6A6AA90D-6764-444D-822E-FE8965E89B5E}" type="slidenum">
              <a:rPr lang="zh-CN" altLang="en-US"/>
              <a:pPr/>
              <a:t>‹#›</a:t>
            </a:fld>
            <a:endParaRPr lang="en-US" altLang="zh-CN"/>
          </a:p>
        </p:txBody>
      </p:sp>
      <p:pic>
        <p:nvPicPr>
          <p:cNvPr id="7" name="Picture 6" descr="osu.pn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305800" y="6013882"/>
            <a:ext cx="838199" cy="844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4" descr="https://encrypted-tbn2.gstatic.com/images?q=tbn:ANd9GcQYEhl4QHx5XkxFLtkIuoSE3C5tqzvh0MilJ18uc8kv8E5gTTsn"/>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184640" y="6013882"/>
            <a:ext cx="1121160" cy="84411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descr="https://encrypted-tbn0.gstatic.com/images?q=tbn:ANd9GcQ5gPB1lQtve6BJM5vuSLhzXdS7UBhrx952m5jDvoxyL5WGfmx4EA"/>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38198" y="6013882"/>
            <a:ext cx="1096924" cy="844118"/>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6" descr="osu.pn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 y="6013882"/>
            <a:ext cx="838199" cy="844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userDrawn="1"/>
        </p:nvSpPr>
        <p:spPr bwMode="auto">
          <a:xfrm>
            <a:off x="1935122" y="6013882"/>
            <a:ext cx="5249518" cy="844118"/>
          </a:xfrm>
          <a:prstGeom prst="rect">
            <a:avLst/>
          </a:prstGeom>
          <a:solidFill>
            <a:srgbClr val="960000"/>
          </a:solidFill>
          <a:ln w="6350" cap="flat" cmpd="sng" algn="ctr">
            <a:noFill/>
            <a:prstDash val="solid"/>
            <a:round/>
            <a:headEnd type="triangle" w="sm" len="lg"/>
            <a:tailEnd type="triangle" w="sm" len="lg"/>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3400" b="0" i="0" u="sng" strike="noStrike" cap="none" normalizeH="0" baseline="0">
              <a:ln>
                <a:noFill/>
              </a:ln>
              <a:solidFill>
                <a:srgbClr val="961C1F"/>
              </a:solidFill>
              <a:effectLst/>
              <a:latin typeface="Arial" charset="0"/>
            </a:endParaRPr>
          </a:p>
        </p:txBody>
      </p:sp>
      <p:sp>
        <p:nvSpPr>
          <p:cNvPr id="13" name="Rectangle 12"/>
          <p:cNvSpPr/>
          <p:nvPr userDrawn="1"/>
        </p:nvSpPr>
        <p:spPr>
          <a:xfrm>
            <a:off x="1962855" y="6205108"/>
            <a:ext cx="5194051" cy="461665"/>
          </a:xfrm>
          <a:prstGeom prst="rect">
            <a:avLst/>
          </a:prstGeom>
          <a:noFill/>
        </p:spPr>
        <p:txBody>
          <a:bodyPr wrap="none">
            <a:spAutoFit/>
          </a:bodyPr>
          <a:lstStyle/>
          <a:p>
            <a:pPr>
              <a:buNone/>
            </a:pPr>
            <a:r>
              <a:rPr lang="en-US" altLang="zh-CN" dirty="0">
                <a:solidFill>
                  <a:schemeClr val="bg1"/>
                </a:solidFill>
                <a:latin typeface="Bernard MT Condensed" pitchFamily="18" charset="0"/>
                <a:cs typeface="Aharoni" pitchFamily="2" charset="-79"/>
              </a:rPr>
              <a:t>Power-Aware</a:t>
            </a:r>
            <a:r>
              <a:rPr lang="en-US" altLang="zh-CN" baseline="0" dirty="0">
                <a:solidFill>
                  <a:schemeClr val="bg1"/>
                </a:solidFill>
                <a:latin typeface="Bernard MT Condensed" pitchFamily="18" charset="0"/>
                <a:cs typeface="Aharoni" pitchFamily="2" charset="-79"/>
              </a:rPr>
              <a:t> Computer Systems (PACS) Lab</a:t>
            </a:r>
            <a:endParaRPr lang="en-US" dirty="0">
              <a:solidFill>
                <a:schemeClr val="bg1"/>
              </a:solidFill>
              <a:latin typeface="Bernard MT Condensed" pitchFamily="18" charset="0"/>
              <a:cs typeface="Aharoni" pitchFamily="2" charset="-79"/>
            </a:endParaRPr>
          </a:p>
        </p:txBody>
      </p:sp>
    </p:spTree>
    <p:extLst>
      <p:ext uri="{BB962C8B-B14F-4D97-AF65-F5344CB8AC3E}">
        <p14:creationId xmlns:p14="http://schemas.microsoft.com/office/powerpoint/2010/main" val="40943008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961C1F"/>
                </a:solidFill>
              </a:defRPr>
            </a:lvl1pPr>
          </a:lstStyle>
          <a:p>
            <a:r>
              <a:rPr lang="en-US" altLang="zh-CN" dirty="0"/>
              <a:t>Click to edit Master title style</a:t>
            </a:r>
            <a:endParaRPr lang="zh-CN" altLang="en-US" dirty="0"/>
          </a:p>
        </p:txBody>
      </p:sp>
      <p:sp>
        <p:nvSpPr>
          <p:cNvPr id="3" name="Content Placeholder 2"/>
          <p:cNvSpPr>
            <a:spLocks noGrp="1"/>
          </p:cNvSpPr>
          <p:nvPr>
            <p:ph idx="1"/>
          </p:nvPr>
        </p:nvSpPr>
        <p:spPr/>
        <p:txBody>
          <a:bodyPr/>
          <a:lstStyle>
            <a:lvl1pPr>
              <a:buClr>
                <a:srgbClr val="961C1F"/>
              </a:buClr>
              <a:defRPr/>
            </a:lvl1pPr>
            <a:lvl2pPr>
              <a:buClr>
                <a:srgbClr val="961C1F"/>
              </a:buClr>
              <a:defRPr/>
            </a:lvl2pPr>
            <a:lvl3pPr>
              <a:buClr>
                <a:srgbClr val="961C1F"/>
              </a:buClr>
              <a:defRPr/>
            </a:lvl3pPr>
            <a:lvl4pPr>
              <a:buClr>
                <a:srgbClr val="961C1F"/>
              </a:buClr>
              <a:defRPr/>
            </a:lvl4pPr>
            <a:lvl5pPr>
              <a:buClr>
                <a:srgbClr val="961C1F"/>
              </a:buClr>
              <a:defRPr/>
            </a:lvl5p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zh-CN" altLang="en-US" dirty="0"/>
          </a:p>
        </p:txBody>
      </p:sp>
    </p:spTree>
    <p:extLst>
      <p:ext uri="{BB962C8B-B14F-4D97-AF65-F5344CB8AC3E}">
        <p14:creationId xmlns:p14="http://schemas.microsoft.com/office/powerpoint/2010/main" val="7818717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ltLang="zh-CN"/>
              <a:t>Click to edit Master title style</a:t>
            </a:r>
            <a:endParaRPr lang="zh-CN" alt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zh-CN"/>
              <a:t>Click to edit Master text styles</a:t>
            </a:r>
          </a:p>
        </p:txBody>
      </p:sp>
    </p:spTree>
    <p:extLst>
      <p:ext uri="{BB962C8B-B14F-4D97-AF65-F5344CB8AC3E}">
        <p14:creationId xmlns:p14="http://schemas.microsoft.com/office/powerpoint/2010/main" val="10833679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Content Placeholder 2"/>
          <p:cNvSpPr>
            <a:spLocks noGrp="1"/>
          </p:cNvSpPr>
          <p:nvPr>
            <p:ph sz="half" idx="1"/>
          </p:nvPr>
        </p:nvSpPr>
        <p:spPr>
          <a:xfrm>
            <a:off x="838200" y="1295400"/>
            <a:ext cx="3795713" cy="47228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Content Placeholder 3"/>
          <p:cNvSpPr>
            <a:spLocks noGrp="1"/>
          </p:cNvSpPr>
          <p:nvPr>
            <p:ph sz="half" idx="2"/>
          </p:nvPr>
        </p:nvSpPr>
        <p:spPr>
          <a:xfrm>
            <a:off x="4786313" y="1295400"/>
            <a:ext cx="3797300" cy="47228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Tree>
    <p:extLst>
      <p:ext uri="{BB962C8B-B14F-4D97-AF65-F5344CB8AC3E}">
        <p14:creationId xmlns:p14="http://schemas.microsoft.com/office/powerpoint/2010/main" val="33215736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ltLang="zh-CN"/>
              <a:t>Click to edit Master title style</a:t>
            </a:r>
            <a:endParaRPr lang="zh-CN" alt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Tree>
    <p:extLst>
      <p:ext uri="{BB962C8B-B14F-4D97-AF65-F5344CB8AC3E}">
        <p14:creationId xmlns:p14="http://schemas.microsoft.com/office/powerpoint/2010/main" val="15201811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Tree>
    <p:extLst>
      <p:ext uri="{BB962C8B-B14F-4D97-AF65-F5344CB8AC3E}">
        <p14:creationId xmlns:p14="http://schemas.microsoft.com/office/powerpoint/2010/main" val="13043715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03068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ltLang="zh-CN"/>
              <a:t>Click to edit Master title style</a:t>
            </a:r>
            <a:endParaRPr lang="zh-CN" alt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a:t>
            </a:r>
          </a:p>
        </p:txBody>
      </p:sp>
    </p:spTree>
    <p:extLst>
      <p:ext uri="{BB962C8B-B14F-4D97-AF65-F5344CB8AC3E}">
        <p14:creationId xmlns:p14="http://schemas.microsoft.com/office/powerpoint/2010/main" val="31423373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ltLang="zh-CN"/>
              <a:t>Click to edit Master title style</a:t>
            </a:r>
            <a:endParaRPr lang="zh-CN" alt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a:t>
            </a:r>
          </a:p>
        </p:txBody>
      </p:sp>
    </p:spTree>
    <p:extLst>
      <p:ext uri="{BB962C8B-B14F-4D97-AF65-F5344CB8AC3E}">
        <p14:creationId xmlns:p14="http://schemas.microsoft.com/office/powerpoint/2010/main" val="30475996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Vertical Text Placeholder 2"/>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Tree>
    <p:extLst>
      <p:ext uri="{BB962C8B-B14F-4D97-AF65-F5344CB8AC3E}">
        <p14:creationId xmlns:p14="http://schemas.microsoft.com/office/powerpoint/2010/main" val="2477599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30988" y="554038"/>
            <a:ext cx="1952625" cy="5464175"/>
          </a:xfrm>
        </p:spPr>
        <p:txBody>
          <a:bodyPr vert="eaVert"/>
          <a:lstStyle/>
          <a:p>
            <a:r>
              <a:rPr lang="en-US" altLang="zh-CN"/>
              <a:t>Click to edit Master title style</a:t>
            </a:r>
            <a:endParaRPr lang="zh-CN" altLang="en-US"/>
          </a:p>
        </p:txBody>
      </p:sp>
      <p:sp>
        <p:nvSpPr>
          <p:cNvPr id="3" name="Vertical Text Placeholder 2"/>
          <p:cNvSpPr>
            <a:spLocks noGrp="1"/>
          </p:cNvSpPr>
          <p:nvPr>
            <p:ph type="body" orient="vert" idx="1"/>
          </p:nvPr>
        </p:nvSpPr>
        <p:spPr>
          <a:xfrm>
            <a:off x="769938" y="554038"/>
            <a:ext cx="5708650" cy="5464175"/>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Tree>
    <p:extLst>
      <p:ext uri="{BB962C8B-B14F-4D97-AF65-F5344CB8AC3E}">
        <p14:creationId xmlns:p14="http://schemas.microsoft.com/office/powerpoint/2010/main" val="1731869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769938" y="554038"/>
            <a:ext cx="7727950" cy="687387"/>
          </a:xfrm>
        </p:spPr>
        <p:txBody>
          <a:bodyPr/>
          <a:lstStyle/>
          <a:p>
            <a:r>
              <a:rPr lang="en-US"/>
              <a:t>Click to edit Master title style</a:t>
            </a:r>
          </a:p>
        </p:txBody>
      </p:sp>
      <p:sp>
        <p:nvSpPr>
          <p:cNvPr id="3" name="Content Placeholder 2"/>
          <p:cNvSpPr>
            <a:spLocks noGrp="1"/>
          </p:cNvSpPr>
          <p:nvPr>
            <p:ph sz="quarter" idx="1"/>
          </p:nvPr>
        </p:nvSpPr>
        <p:spPr>
          <a:xfrm>
            <a:off x="838200" y="1295400"/>
            <a:ext cx="3795713" cy="2284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786313" y="1295400"/>
            <a:ext cx="3797300" cy="2284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838200" y="3732213"/>
            <a:ext cx="3795713" cy="228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786313" y="3732213"/>
            <a:ext cx="3797300" cy="228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375055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69938" y="554038"/>
            <a:ext cx="7727950" cy="687387"/>
          </a:xfrm>
        </p:spPr>
        <p:txBody>
          <a:bodyPr/>
          <a:lstStyle/>
          <a:p>
            <a:r>
              <a:rPr lang="en-US"/>
              <a:t>Click to edit Master title style</a:t>
            </a:r>
          </a:p>
        </p:txBody>
      </p:sp>
      <p:sp>
        <p:nvSpPr>
          <p:cNvPr id="3" name="Content Placeholder 2"/>
          <p:cNvSpPr>
            <a:spLocks noGrp="1"/>
          </p:cNvSpPr>
          <p:nvPr>
            <p:ph sz="quarter" idx="1"/>
          </p:nvPr>
        </p:nvSpPr>
        <p:spPr>
          <a:xfrm>
            <a:off x="838200" y="1295400"/>
            <a:ext cx="3795713" cy="2284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838200" y="3732213"/>
            <a:ext cx="3795713" cy="228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half" idx="3"/>
          </p:nvPr>
        </p:nvSpPr>
        <p:spPr>
          <a:xfrm>
            <a:off x="4786313" y="1295400"/>
            <a:ext cx="3797300" cy="47228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276140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769938" y="554038"/>
            <a:ext cx="7727950" cy="687387"/>
          </a:xfrm>
        </p:spPr>
        <p:txBody>
          <a:bodyPr/>
          <a:lstStyle/>
          <a:p>
            <a:r>
              <a:rPr lang="en-US"/>
              <a:t>Click to edit Master title style</a:t>
            </a:r>
          </a:p>
        </p:txBody>
      </p:sp>
      <p:sp>
        <p:nvSpPr>
          <p:cNvPr id="3" name="Text Placeholder 2"/>
          <p:cNvSpPr>
            <a:spLocks noGrp="1"/>
          </p:cNvSpPr>
          <p:nvPr>
            <p:ph type="body" sz="half" idx="1"/>
          </p:nvPr>
        </p:nvSpPr>
        <p:spPr>
          <a:xfrm>
            <a:off x="838200" y="1295400"/>
            <a:ext cx="7745413" cy="2284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838200" y="3732213"/>
            <a:ext cx="7745413" cy="228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797775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OverTx" preserve="1">
  <p:cSld name="Title and 2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769938" y="554038"/>
            <a:ext cx="7727950" cy="687387"/>
          </a:xfrm>
        </p:spPr>
        <p:txBody>
          <a:bodyPr/>
          <a:lstStyle/>
          <a:p>
            <a:r>
              <a:rPr lang="en-US"/>
              <a:t>Click to edit Master title style</a:t>
            </a:r>
          </a:p>
        </p:txBody>
      </p:sp>
      <p:sp>
        <p:nvSpPr>
          <p:cNvPr id="3" name="Content Placeholder 2"/>
          <p:cNvSpPr>
            <a:spLocks noGrp="1"/>
          </p:cNvSpPr>
          <p:nvPr>
            <p:ph sz="quarter" idx="1"/>
          </p:nvPr>
        </p:nvSpPr>
        <p:spPr>
          <a:xfrm>
            <a:off x="838200" y="1295400"/>
            <a:ext cx="3795713" cy="2284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786313" y="1295400"/>
            <a:ext cx="3797300" cy="2284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half" idx="3"/>
          </p:nvPr>
        </p:nvSpPr>
        <p:spPr>
          <a:xfrm>
            <a:off x="838200" y="3732213"/>
            <a:ext cx="7745413" cy="228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409992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9938" y="554038"/>
            <a:ext cx="7727950" cy="687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588" rIns="0" bIns="45588" numCol="1" anchor="t" anchorCtr="0" compatLnSpc="1">
            <a:prstTxWarp prst="textNoShape">
              <a:avLst/>
            </a:prstTxWarp>
          </a:bodyPr>
          <a:lstStyle/>
          <a:p>
            <a:pPr lvl="0"/>
            <a:r>
              <a:rPr lang="en-US" altLang="zh-CN" dirty="0"/>
              <a:t>Click to edit Master title style</a:t>
            </a:r>
          </a:p>
        </p:txBody>
      </p:sp>
      <p:sp>
        <p:nvSpPr>
          <p:cNvPr id="1027" name="Rectangle 3"/>
          <p:cNvSpPr>
            <a:spLocks noGrp="1" noChangeArrowheads="1"/>
          </p:cNvSpPr>
          <p:nvPr>
            <p:ph type="body" idx="1"/>
          </p:nvPr>
        </p:nvSpPr>
        <p:spPr bwMode="auto">
          <a:xfrm>
            <a:off x="838200" y="1295400"/>
            <a:ext cx="7745413" cy="472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176" tIns="45588" rIns="91176" bIns="45588" numCol="1" anchor="t" anchorCtr="0" compatLnSpc="1">
            <a:prstTxWarp prst="textNoShape">
              <a:avLst/>
            </a:prstTxWarp>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8197" name="Line 5"/>
          <p:cNvSpPr>
            <a:spLocks noChangeShapeType="1"/>
          </p:cNvSpPr>
          <p:nvPr/>
        </p:nvSpPr>
        <p:spPr bwMode="auto">
          <a:xfrm>
            <a:off x="762000" y="1143000"/>
            <a:ext cx="7751763" cy="1588"/>
          </a:xfrm>
          <a:prstGeom prst="line">
            <a:avLst/>
          </a:prstGeom>
          <a:noFill/>
          <a:ln w="25400">
            <a:solidFill>
              <a:schemeClr val="tx1"/>
            </a:solidFill>
            <a:round/>
            <a:headEnd type="none" w="sm" len="sm"/>
            <a:tailEnd type="none" w="sm" len="sm"/>
          </a:ln>
          <a:effectLst/>
        </p:spPr>
        <p:txBody>
          <a:bodyPr wrap="none" anchor="ctr"/>
          <a:lstStyle/>
          <a:p>
            <a:pPr>
              <a:spcBef>
                <a:spcPct val="0"/>
              </a:spcBef>
              <a:buClrTx/>
              <a:buFontTx/>
              <a:buNone/>
              <a:defRPr/>
            </a:pPr>
            <a:endParaRPr lang="zh-CN" altLang="en-US" sz="3400" u="sng">
              <a:latin typeface="Arial" charset="0"/>
              <a:cs typeface="+mn-cs"/>
            </a:endParaRPr>
          </a:p>
        </p:txBody>
      </p:sp>
      <p:sp>
        <p:nvSpPr>
          <p:cNvPr id="8201" name="Line 9"/>
          <p:cNvSpPr>
            <a:spLocks noChangeShapeType="1"/>
          </p:cNvSpPr>
          <p:nvPr/>
        </p:nvSpPr>
        <p:spPr bwMode="auto">
          <a:xfrm>
            <a:off x="838200" y="6400800"/>
            <a:ext cx="7086600" cy="0"/>
          </a:xfrm>
          <a:prstGeom prst="line">
            <a:avLst/>
          </a:prstGeom>
          <a:noFill/>
          <a:ln w="28575">
            <a:solidFill>
              <a:srgbClr val="AC0E4B"/>
            </a:solidFill>
            <a:round/>
            <a:headEnd type="none" w="sm" len="sm"/>
            <a:tailEnd type="none" w="sm" len="sm"/>
          </a:ln>
          <a:effectLst/>
        </p:spPr>
        <p:txBody>
          <a:bodyPr/>
          <a:lstStyle/>
          <a:p>
            <a:pPr>
              <a:spcBef>
                <a:spcPct val="0"/>
              </a:spcBef>
              <a:buClrTx/>
              <a:buFontTx/>
              <a:buNone/>
              <a:defRPr/>
            </a:pPr>
            <a:endParaRPr lang="zh-CN" altLang="en-US" sz="3400" u="sng">
              <a:latin typeface="Arial" charset="0"/>
              <a:cs typeface="+mn-cs"/>
            </a:endParaRPr>
          </a:p>
        </p:txBody>
      </p:sp>
      <p:sp>
        <p:nvSpPr>
          <p:cNvPr id="8202" name="Text Box 10"/>
          <p:cNvSpPr txBox="1">
            <a:spLocks noChangeArrowheads="1"/>
          </p:cNvSpPr>
          <p:nvPr/>
        </p:nvSpPr>
        <p:spPr bwMode="auto">
          <a:xfrm>
            <a:off x="4572000" y="6400800"/>
            <a:ext cx="457200" cy="292100"/>
          </a:xfrm>
          <a:prstGeom prst="rect">
            <a:avLst/>
          </a:prstGeom>
          <a:noFill/>
          <a:ln w="12700">
            <a:noFill/>
            <a:miter lim="800000"/>
            <a:headEnd type="none" w="sm" len="sm"/>
            <a:tailEnd type="none" w="sm" len="sm"/>
          </a:ln>
          <a:effectLst/>
        </p:spPr>
        <p:txBody>
          <a:bodyPr>
            <a:spAutoFit/>
          </a:bodyPr>
          <a:lstStyle>
            <a:lvl1pPr>
              <a:spcBef>
                <a:spcPct val="0"/>
              </a:spcBef>
              <a:defRPr sz="3400" u="sng">
                <a:solidFill>
                  <a:schemeClr val="tx1"/>
                </a:solidFill>
                <a:latin typeface="Arial" pitchFamily="34" charset="0"/>
                <a:cs typeface="Arial" pitchFamily="34" charset="0"/>
              </a:defRPr>
            </a:lvl1pPr>
            <a:lvl2pPr marL="742950" indent="-285750">
              <a:spcBef>
                <a:spcPct val="0"/>
              </a:spcBef>
              <a:defRPr sz="3400" u="sng">
                <a:solidFill>
                  <a:schemeClr val="tx1"/>
                </a:solidFill>
                <a:latin typeface="Arial" pitchFamily="34" charset="0"/>
                <a:cs typeface="Arial" pitchFamily="34" charset="0"/>
              </a:defRPr>
            </a:lvl2pPr>
            <a:lvl3pPr marL="1143000" indent="-228600">
              <a:spcBef>
                <a:spcPct val="0"/>
              </a:spcBef>
              <a:defRPr sz="3400" u="sng">
                <a:solidFill>
                  <a:schemeClr val="tx1"/>
                </a:solidFill>
                <a:latin typeface="Arial" pitchFamily="34" charset="0"/>
                <a:cs typeface="Arial" pitchFamily="34" charset="0"/>
              </a:defRPr>
            </a:lvl3pPr>
            <a:lvl4pPr marL="1600200" indent="-228600">
              <a:spcBef>
                <a:spcPct val="0"/>
              </a:spcBef>
              <a:defRPr sz="3400" u="sng">
                <a:solidFill>
                  <a:schemeClr val="tx1"/>
                </a:solidFill>
                <a:latin typeface="Arial" pitchFamily="34" charset="0"/>
                <a:cs typeface="Arial" pitchFamily="34" charset="0"/>
              </a:defRPr>
            </a:lvl4pPr>
            <a:lvl5pPr marL="2057400" indent="-228600">
              <a:spcBef>
                <a:spcPct val="0"/>
              </a:spcBef>
              <a:defRPr sz="3400" u="sng">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3400" u="sng">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3400" u="sng">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3400" u="sng">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3400" u="sng">
                <a:solidFill>
                  <a:schemeClr val="tx1"/>
                </a:solidFill>
                <a:latin typeface="Arial" pitchFamily="34" charset="0"/>
                <a:cs typeface="Arial" pitchFamily="34" charset="0"/>
              </a:defRPr>
            </a:lvl9pPr>
          </a:lstStyle>
          <a:p>
            <a:pPr>
              <a:spcBef>
                <a:spcPct val="50000"/>
              </a:spcBef>
              <a:buClrTx/>
              <a:buFontTx/>
              <a:buNone/>
            </a:pPr>
            <a:fld id="{14B7F2A1-AB35-47F7-9FAA-CC13ECC8A82D}" type="slidenum">
              <a:rPr lang="en-US" altLang="zh-CN" sz="1300" b="1" u="none">
                <a:ea typeface="宋体" pitchFamily="2" charset="-122"/>
              </a:rPr>
              <a:pPr>
                <a:spcBef>
                  <a:spcPct val="50000"/>
                </a:spcBef>
                <a:buClrTx/>
                <a:buFontTx/>
                <a:buNone/>
              </a:pPr>
              <a:t>‹#›</a:t>
            </a:fld>
            <a:endParaRPr lang="en-US" altLang="zh-CN" sz="1300" b="1" u="none">
              <a:ea typeface="宋体" pitchFamily="2" charset="-122"/>
            </a:endParaRPr>
          </a:p>
        </p:txBody>
      </p:sp>
      <p:pic>
        <p:nvPicPr>
          <p:cNvPr id="1032" name="Picture 8" descr="osu.png"/>
          <p:cNvPicPr>
            <a:picLocks noChangeAspect="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8305800" y="6013450"/>
            <a:ext cx="838200" cy="84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userDrawn="1"/>
        </p:nvSpPr>
        <p:spPr>
          <a:xfrm>
            <a:off x="381000" y="6169967"/>
            <a:ext cx="1582484" cy="461665"/>
          </a:xfrm>
          <a:prstGeom prst="rect">
            <a:avLst/>
          </a:prstGeom>
          <a:solidFill>
            <a:schemeClr val="bg1"/>
          </a:solidFill>
        </p:spPr>
        <p:txBody>
          <a:bodyPr wrap="none">
            <a:spAutoFit/>
          </a:bodyPr>
          <a:lstStyle/>
          <a:p>
            <a:pPr>
              <a:buNone/>
            </a:pPr>
            <a:r>
              <a:rPr lang="en-US" altLang="zh-CN" dirty="0">
                <a:solidFill>
                  <a:srgbClr val="961C1F"/>
                </a:solidFill>
                <a:latin typeface="Aharoni" pitchFamily="2" charset="-79"/>
                <a:cs typeface="Aharoni" pitchFamily="2" charset="-79"/>
              </a:rPr>
              <a:t>PACS</a:t>
            </a:r>
            <a:r>
              <a:rPr lang="en-US" altLang="zh-CN" baseline="0" dirty="0">
                <a:solidFill>
                  <a:srgbClr val="961C1F"/>
                </a:solidFill>
                <a:latin typeface="Aharoni" pitchFamily="2" charset="-79"/>
                <a:cs typeface="Aharoni" pitchFamily="2" charset="-79"/>
              </a:rPr>
              <a:t> LAB</a:t>
            </a:r>
            <a:endParaRPr lang="en-US" dirty="0">
              <a:solidFill>
                <a:srgbClr val="961C1F"/>
              </a:solidFill>
              <a:latin typeface="Aharoni" pitchFamily="2" charset="-79"/>
              <a:cs typeface="Aharoni" pitchFamily="2" charset="-79"/>
            </a:endParaRPr>
          </a:p>
        </p:txBody>
      </p:sp>
    </p:spTree>
  </p:cSld>
  <p:clrMap bg1="lt1" tx1="dk1" bg2="lt2" tx2="dk2" accent1="accent1" accent2="accent2" accent3="accent3" accent4="accent4" accent5="accent5" accent6="accent6" hlink="hlink" folHlink="folHlink"/>
  <p:sldLayoutIdLst>
    <p:sldLayoutId id="2147483669" r:id="rId1"/>
    <p:sldLayoutId id="2147483664" r:id="rId2"/>
    <p:sldLayoutId id="2147483663" r:id="rId3"/>
    <p:sldLayoutId id="2147483662" r:id="rId4"/>
    <p:sldLayoutId id="2147483661" r:id="rId5"/>
    <p:sldLayoutId id="2147483660" r:id="rId6"/>
    <p:sldLayoutId id="2147483659" r:id="rId7"/>
    <p:sldLayoutId id="2147483658" r:id="rId8"/>
    <p:sldLayoutId id="2147483657" r:id="rId9"/>
    <p:sldLayoutId id="2147483656" r:id="rId10"/>
    <p:sldLayoutId id="2147483655" r:id="rId11"/>
    <p:sldLayoutId id="2147483665" r:id="rId12"/>
    <p:sldLayoutId id="2147483666" r:id="rId13"/>
    <p:sldLayoutId id="2147483667" r:id="rId14"/>
    <p:sldLayoutId id="2147483668" r:id="rId15"/>
  </p:sldLayoutIdLst>
  <p:txStyles>
    <p:titleStyle>
      <a:lvl1pPr algn="l" rtl="0" eaLnBrk="0" fontAlgn="base" hangingPunct="0">
        <a:lnSpc>
          <a:spcPct val="110000"/>
        </a:lnSpc>
        <a:spcBef>
          <a:spcPct val="0"/>
        </a:spcBef>
        <a:spcAft>
          <a:spcPct val="0"/>
        </a:spcAft>
        <a:defRPr sz="3600" b="1">
          <a:solidFill>
            <a:srgbClr val="961C1F"/>
          </a:solidFill>
          <a:latin typeface="+mj-lt"/>
          <a:ea typeface="+mj-ea"/>
          <a:cs typeface="+mj-cs"/>
        </a:defRPr>
      </a:lvl1pPr>
      <a:lvl2pPr algn="l" rtl="0" eaLnBrk="0" fontAlgn="base" hangingPunct="0">
        <a:lnSpc>
          <a:spcPct val="110000"/>
        </a:lnSpc>
        <a:spcBef>
          <a:spcPct val="0"/>
        </a:spcBef>
        <a:spcAft>
          <a:spcPct val="0"/>
        </a:spcAft>
        <a:defRPr sz="3200" b="1">
          <a:solidFill>
            <a:srgbClr val="AB0E4B"/>
          </a:solidFill>
          <a:latin typeface="Arial" charset="0"/>
        </a:defRPr>
      </a:lvl2pPr>
      <a:lvl3pPr algn="l" rtl="0" eaLnBrk="0" fontAlgn="base" hangingPunct="0">
        <a:lnSpc>
          <a:spcPct val="110000"/>
        </a:lnSpc>
        <a:spcBef>
          <a:spcPct val="0"/>
        </a:spcBef>
        <a:spcAft>
          <a:spcPct val="0"/>
        </a:spcAft>
        <a:defRPr sz="3200" b="1">
          <a:solidFill>
            <a:srgbClr val="AB0E4B"/>
          </a:solidFill>
          <a:latin typeface="Arial" charset="0"/>
        </a:defRPr>
      </a:lvl3pPr>
      <a:lvl4pPr algn="l" rtl="0" eaLnBrk="0" fontAlgn="base" hangingPunct="0">
        <a:lnSpc>
          <a:spcPct val="110000"/>
        </a:lnSpc>
        <a:spcBef>
          <a:spcPct val="0"/>
        </a:spcBef>
        <a:spcAft>
          <a:spcPct val="0"/>
        </a:spcAft>
        <a:defRPr sz="3200" b="1">
          <a:solidFill>
            <a:srgbClr val="AB0E4B"/>
          </a:solidFill>
          <a:latin typeface="Arial" charset="0"/>
        </a:defRPr>
      </a:lvl4pPr>
      <a:lvl5pPr algn="l" rtl="0" eaLnBrk="0" fontAlgn="base" hangingPunct="0">
        <a:lnSpc>
          <a:spcPct val="110000"/>
        </a:lnSpc>
        <a:spcBef>
          <a:spcPct val="0"/>
        </a:spcBef>
        <a:spcAft>
          <a:spcPct val="0"/>
        </a:spcAft>
        <a:defRPr sz="3200" b="1">
          <a:solidFill>
            <a:srgbClr val="AB0E4B"/>
          </a:solidFill>
          <a:latin typeface="Arial" charset="0"/>
        </a:defRPr>
      </a:lvl5pPr>
      <a:lvl6pPr marL="457200" algn="l" rtl="0" eaLnBrk="0" fontAlgn="base" hangingPunct="0">
        <a:lnSpc>
          <a:spcPct val="110000"/>
        </a:lnSpc>
        <a:spcBef>
          <a:spcPct val="0"/>
        </a:spcBef>
        <a:spcAft>
          <a:spcPct val="0"/>
        </a:spcAft>
        <a:defRPr sz="2200" b="1">
          <a:solidFill>
            <a:srgbClr val="AB0E4B"/>
          </a:solidFill>
          <a:latin typeface="Arial" charset="0"/>
        </a:defRPr>
      </a:lvl6pPr>
      <a:lvl7pPr marL="914400" algn="l" rtl="0" eaLnBrk="0" fontAlgn="base" hangingPunct="0">
        <a:lnSpc>
          <a:spcPct val="110000"/>
        </a:lnSpc>
        <a:spcBef>
          <a:spcPct val="0"/>
        </a:spcBef>
        <a:spcAft>
          <a:spcPct val="0"/>
        </a:spcAft>
        <a:defRPr sz="2200" b="1">
          <a:solidFill>
            <a:srgbClr val="AB0E4B"/>
          </a:solidFill>
          <a:latin typeface="Arial" charset="0"/>
        </a:defRPr>
      </a:lvl7pPr>
      <a:lvl8pPr marL="1371600" algn="l" rtl="0" eaLnBrk="0" fontAlgn="base" hangingPunct="0">
        <a:lnSpc>
          <a:spcPct val="110000"/>
        </a:lnSpc>
        <a:spcBef>
          <a:spcPct val="0"/>
        </a:spcBef>
        <a:spcAft>
          <a:spcPct val="0"/>
        </a:spcAft>
        <a:defRPr sz="2200" b="1">
          <a:solidFill>
            <a:srgbClr val="AB0E4B"/>
          </a:solidFill>
          <a:latin typeface="Arial" charset="0"/>
        </a:defRPr>
      </a:lvl8pPr>
      <a:lvl9pPr marL="1828800" algn="l" rtl="0" eaLnBrk="0" fontAlgn="base" hangingPunct="0">
        <a:lnSpc>
          <a:spcPct val="110000"/>
        </a:lnSpc>
        <a:spcBef>
          <a:spcPct val="0"/>
        </a:spcBef>
        <a:spcAft>
          <a:spcPct val="0"/>
        </a:spcAft>
        <a:defRPr sz="2200" b="1">
          <a:solidFill>
            <a:srgbClr val="AB0E4B"/>
          </a:solidFill>
          <a:latin typeface="Arial" charset="0"/>
        </a:defRPr>
      </a:lvl9pPr>
    </p:titleStyle>
    <p:bodyStyle>
      <a:lvl1pPr marL="342900" indent="-342900" algn="l" rtl="0" eaLnBrk="0" fontAlgn="base" hangingPunct="0">
        <a:spcBef>
          <a:spcPct val="20000"/>
        </a:spcBef>
        <a:spcAft>
          <a:spcPct val="0"/>
        </a:spcAft>
        <a:buClr>
          <a:srgbClr val="961C1F"/>
        </a:buClr>
        <a:buFont typeface="Wingdings" pitchFamily="2" charset="2"/>
        <a:buChar char="§"/>
        <a:defRPr sz="2800">
          <a:solidFill>
            <a:schemeClr val="tx1"/>
          </a:solidFill>
          <a:latin typeface="+mn-lt"/>
          <a:ea typeface="+mn-ea"/>
          <a:cs typeface="+mn-cs"/>
        </a:defRPr>
      </a:lvl1pPr>
      <a:lvl2pPr marL="730250" indent="-284163" algn="l" rtl="0" eaLnBrk="0" fontAlgn="base" hangingPunct="0">
        <a:spcBef>
          <a:spcPct val="20000"/>
        </a:spcBef>
        <a:spcAft>
          <a:spcPct val="0"/>
        </a:spcAft>
        <a:buClr>
          <a:srgbClr val="961C1F"/>
        </a:buClr>
        <a:buFont typeface="Wingdings" pitchFamily="2" charset="2"/>
        <a:buChar char="§"/>
        <a:defRPr sz="2400">
          <a:solidFill>
            <a:schemeClr val="tx1"/>
          </a:solidFill>
          <a:latin typeface="+mn-lt"/>
        </a:defRPr>
      </a:lvl2pPr>
      <a:lvl3pPr marL="1062038" indent="-228600" algn="l" rtl="0" eaLnBrk="0" fontAlgn="base" hangingPunct="0">
        <a:spcBef>
          <a:spcPct val="20000"/>
        </a:spcBef>
        <a:spcAft>
          <a:spcPct val="0"/>
        </a:spcAft>
        <a:buClr>
          <a:srgbClr val="961C1F"/>
        </a:buClr>
        <a:buFont typeface="Wingdings" pitchFamily="2" charset="2"/>
        <a:buChar char="§"/>
        <a:defRPr sz="2000">
          <a:solidFill>
            <a:schemeClr val="tx1"/>
          </a:solidFill>
          <a:latin typeface="+mn-lt"/>
        </a:defRPr>
      </a:lvl3pPr>
      <a:lvl4pPr marL="1392238" indent="-228600" algn="l" rtl="0" eaLnBrk="0" fontAlgn="base" hangingPunct="0">
        <a:spcBef>
          <a:spcPct val="20000"/>
        </a:spcBef>
        <a:spcAft>
          <a:spcPct val="0"/>
        </a:spcAft>
        <a:buClr>
          <a:srgbClr val="961C1F"/>
        </a:buClr>
        <a:buFont typeface="Wingdings" pitchFamily="2" charset="2"/>
        <a:buChar char="§"/>
        <a:defRPr sz="1800">
          <a:solidFill>
            <a:schemeClr val="tx1"/>
          </a:solidFill>
          <a:latin typeface="+mn-lt"/>
        </a:defRPr>
      </a:lvl4pPr>
      <a:lvl5pPr marL="1722438" indent="-228600" algn="l" rtl="0" eaLnBrk="0" fontAlgn="base" hangingPunct="0">
        <a:spcBef>
          <a:spcPct val="20000"/>
        </a:spcBef>
        <a:spcAft>
          <a:spcPct val="0"/>
        </a:spcAft>
        <a:buClr>
          <a:srgbClr val="961C1F"/>
        </a:buClr>
        <a:buFont typeface="Wingdings" pitchFamily="2" charset="2"/>
        <a:buChar char="§"/>
        <a:defRPr sz="1600">
          <a:solidFill>
            <a:schemeClr val="tx1"/>
          </a:solidFill>
          <a:latin typeface="+mn-lt"/>
        </a:defRPr>
      </a:lvl5pPr>
      <a:lvl6pPr marL="2179638" indent="-228600" algn="l" rtl="0" eaLnBrk="0" fontAlgn="base" hangingPunct="0">
        <a:spcBef>
          <a:spcPct val="20000"/>
        </a:spcBef>
        <a:spcAft>
          <a:spcPct val="0"/>
        </a:spcAft>
        <a:buClr>
          <a:schemeClr val="tx1"/>
        </a:buClr>
        <a:buChar char="•"/>
        <a:defRPr sz="1400">
          <a:solidFill>
            <a:schemeClr val="tx1"/>
          </a:solidFill>
          <a:latin typeface="+mn-lt"/>
        </a:defRPr>
      </a:lvl6pPr>
      <a:lvl7pPr marL="2636838" indent="-228600" algn="l" rtl="0" eaLnBrk="0" fontAlgn="base" hangingPunct="0">
        <a:spcBef>
          <a:spcPct val="20000"/>
        </a:spcBef>
        <a:spcAft>
          <a:spcPct val="0"/>
        </a:spcAft>
        <a:buClr>
          <a:schemeClr val="tx1"/>
        </a:buClr>
        <a:buChar char="•"/>
        <a:defRPr sz="1400">
          <a:solidFill>
            <a:schemeClr val="tx1"/>
          </a:solidFill>
          <a:latin typeface="+mn-lt"/>
        </a:defRPr>
      </a:lvl7pPr>
      <a:lvl8pPr marL="3094038" indent="-228600" algn="l" rtl="0" eaLnBrk="0" fontAlgn="base" hangingPunct="0">
        <a:spcBef>
          <a:spcPct val="20000"/>
        </a:spcBef>
        <a:spcAft>
          <a:spcPct val="0"/>
        </a:spcAft>
        <a:buClr>
          <a:schemeClr val="tx1"/>
        </a:buClr>
        <a:buChar char="•"/>
        <a:defRPr sz="1400">
          <a:solidFill>
            <a:schemeClr val="tx1"/>
          </a:solidFill>
          <a:latin typeface="+mn-lt"/>
        </a:defRPr>
      </a:lvl8pPr>
      <a:lvl9pPr marL="3551238" indent="-228600" algn="l" rtl="0" eaLnBrk="0" fontAlgn="base" hangingPunct="0">
        <a:spcBef>
          <a:spcPct val="20000"/>
        </a:spcBef>
        <a:spcAft>
          <a:spcPct val="0"/>
        </a:spcAft>
        <a:buClr>
          <a:schemeClr val="tx1"/>
        </a:buClr>
        <a:buChar char="•"/>
        <a:defRPr sz="14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p:cNvSpPr>
            <a:spLocks noGrp="1" noChangeArrowheads="1"/>
          </p:cNvSpPr>
          <p:nvPr>
            <p:ph type="ctrTitle"/>
          </p:nvPr>
        </p:nvSpPr>
        <p:spPr>
          <a:xfrm>
            <a:off x="609600" y="1686700"/>
            <a:ext cx="7924800" cy="914400"/>
          </a:xfrm>
        </p:spPr>
        <p:txBody>
          <a:bodyPr/>
          <a:lstStyle/>
          <a:p>
            <a:pPr algn="ctr"/>
            <a:r>
              <a:rPr lang="en-US" altLang="zh-CN" sz="4000" dirty="0">
                <a:ea typeface="宋体" pitchFamily="2" charset="-122"/>
              </a:rPr>
              <a:t>Power Capping of GPU Servers for Machine Learning Inference Optimization</a:t>
            </a:r>
          </a:p>
        </p:txBody>
      </p:sp>
      <p:sp>
        <p:nvSpPr>
          <p:cNvPr id="15364" name="Text Box 10"/>
          <p:cNvSpPr txBox="1">
            <a:spLocks noChangeArrowheads="1"/>
          </p:cNvSpPr>
          <p:nvPr/>
        </p:nvSpPr>
        <p:spPr bwMode="auto">
          <a:xfrm>
            <a:off x="1600200" y="3886200"/>
            <a:ext cx="6248400"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type="none" w="sm" len="lg"/>
                <a:tailEnd type="none" w="sm" len="lg"/>
              </a14:hiddenLine>
            </a:ext>
          </a:extLst>
        </p:spPr>
        <p:txBody>
          <a:bodyPr>
            <a:spAutoFit/>
          </a:bodyPr>
          <a:lstStyle>
            <a:lvl1pPr>
              <a:spcBef>
                <a:spcPct val="0"/>
              </a:spcBef>
              <a:defRPr sz="3400" u="sng">
                <a:solidFill>
                  <a:schemeClr val="tx1"/>
                </a:solidFill>
                <a:latin typeface="Arial" pitchFamily="34" charset="0"/>
                <a:cs typeface="Arial" pitchFamily="34" charset="0"/>
              </a:defRPr>
            </a:lvl1pPr>
            <a:lvl2pPr marL="742950" indent="-285750">
              <a:spcBef>
                <a:spcPct val="0"/>
              </a:spcBef>
              <a:defRPr sz="3400" u="sng">
                <a:solidFill>
                  <a:schemeClr val="tx1"/>
                </a:solidFill>
                <a:latin typeface="Arial" pitchFamily="34" charset="0"/>
                <a:cs typeface="Arial" pitchFamily="34" charset="0"/>
              </a:defRPr>
            </a:lvl2pPr>
            <a:lvl3pPr marL="1143000" indent="-228600">
              <a:spcBef>
                <a:spcPct val="0"/>
              </a:spcBef>
              <a:defRPr sz="3400" u="sng">
                <a:solidFill>
                  <a:schemeClr val="tx1"/>
                </a:solidFill>
                <a:latin typeface="Arial" pitchFamily="34" charset="0"/>
                <a:cs typeface="Arial" pitchFamily="34" charset="0"/>
              </a:defRPr>
            </a:lvl3pPr>
            <a:lvl4pPr marL="1600200" indent="-228600">
              <a:spcBef>
                <a:spcPct val="0"/>
              </a:spcBef>
              <a:defRPr sz="3400" u="sng">
                <a:solidFill>
                  <a:schemeClr val="tx1"/>
                </a:solidFill>
                <a:latin typeface="Arial" pitchFamily="34" charset="0"/>
                <a:cs typeface="Arial" pitchFamily="34" charset="0"/>
              </a:defRPr>
            </a:lvl4pPr>
            <a:lvl5pPr marL="2057400" indent="-228600">
              <a:spcBef>
                <a:spcPct val="0"/>
              </a:spcBef>
              <a:defRPr sz="3400" u="sng">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3400" u="sng">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3400" u="sng">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3400" u="sng">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3400" u="sng">
                <a:solidFill>
                  <a:schemeClr val="tx1"/>
                </a:solidFill>
                <a:latin typeface="Arial" pitchFamily="34" charset="0"/>
                <a:cs typeface="Arial" pitchFamily="34" charset="0"/>
              </a:defRPr>
            </a:lvl9pPr>
          </a:lstStyle>
          <a:p>
            <a:pPr algn="ctr">
              <a:spcAft>
                <a:spcPts val="600"/>
              </a:spcAft>
              <a:buClrTx/>
              <a:buNone/>
            </a:pPr>
            <a:r>
              <a:rPr lang="en-US" altLang="zh-CN" sz="2000" b="1" u="none" dirty="0">
                <a:solidFill>
                  <a:schemeClr val="tx2"/>
                </a:solidFill>
                <a:latin typeface="cmbxsl10"/>
                <a:ea typeface="宋体"/>
                <a:cs typeface="Arial"/>
              </a:rPr>
              <a:t>Yuan Ma, </a:t>
            </a:r>
            <a:r>
              <a:rPr lang="en-US" altLang="zh-CN" sz="2000" u="none" dirty="0">
                <a:solidFill>
                  <a:schemeClr val="tx2"/>
                </a:solidFill>
                <a:latin typeface="cmbxsl10"/>
                <a:ea typeface="宋体"/>
                <a:cs typeface="Arial"/>
              </a:rPr>
              <a:t>Srinivasan Subramaniyan, </a:t>
            </a:r>
            <a:r>
              <a:rPr lang="en-US" altLang="zh-CN" sz="2000" u="none" dirty="0" err="1">
                <a:solidFill>
                  <a:schemeClr val="tx2"/>
                </a:solidFill>
                <a:latin typeface="cmbxsl10"/>
                <a:ea typeface="宋体"/>
                <a:cs typeface="Arial"/>
              </a:rPr>
              <a:t>Xiaorui</a:t>
            </a:r>
            <a:r>
              <a:rPr lang="en-US" altLang="zh-CN" sz="2000" u="none" dirty="0">
                <a:solidFill>
                  <a:schemeClr val="tx2"/>
                </a:solidFill>
                <a:latin typeface="cmbxsl10"/>
                <a:ea typeface="宋体"/>
                <a:cs typeface="Arial"/>
              </a:rPr>
              <a:t> Wang</a:t>
            </a:r>
            <a:endParaRPr lang="en-US" altLang="zh-CN" sz="2000" u="none" dirty="0">
              <a:latin typeface="cmbxsl10"/>
              <a:ea typeface="宋体" pitchFamily="2" charset="-122"/>
            </a:endParaRPr>
          </a:p>
          <a:p>
            <a:pPr algn="ctr">
              <a:spcAft>
                <a:spcPts val="600"/>
              </a:spcAft>
              <a:buClrTx/>
              <a:buNone/>
            </a:pPr>
            <a:r>
              <a:rPr lang="en-US" altLang="zh-CN" sz="2000" b="1" u="none" dirty="0">
                <a:latin typeface="cmbxsl10"/>
                <a:ea typeface="宋体" pitchFamily="2" charset="-122"/>
              </a:rPr>
              <a:t>Dept. of Electrical and Computer Engineering</a:t>
            </a:r>
          </a:p>
          <a:p>
            <a:pPr algn="ctr">
              <a:spcAft>
                <a:spcPts val="600"/>
              </a:spcAft>
              <a:buClrTx/>
              <a:buNone/>
            </a:pPr>
            <a:r>
              <a:rPr lang="en-US" altLang="zh-CN" sz="2000" b="1" u="none" dirty="0">
                <a:latin typeface="cmbxsl10"/>
                <a:ea typeface="宋体" pitchFamily="2" charset="-122"/>
              </a:rPr>
              <a:t>The Ohio State University </a:t>
            </a:r>
          </a:p>
        </p:txBody>
      </p:sp>
      <p:pic>
        <p:nvPicPr>
          <p:cNvPr id="15366" name="Picture 6" descr="osu.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05800" y="6013882"/>
            <a:ext cx="838199" cy="844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2" name="Picture 4" descr="https://encrypted-tbn2.gstatic.com/images?q=tbn:ANd9GcQYEhl4QHx5XkxFLtkIuoSE3C5tqzvh0MilJ18uc8kv8E5gTTs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84640" y="6013882"/>
            <a:ext cx="1121160" cy="844118"/>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https://encrypted-tbn0.gstatic.com/images?q=tbn:ANd9GcQ5gPB1lQtve6BJM5vuSLhzXdS7UBhrx952m5jDvoxyL5WGfmx4EA"/>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198" y="6013882"/>
            <a:ext cx="1096924" cy="844118"/>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6" descr="osu.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 y="6013882"/>
            <a:ext cx="838199" cy="844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advTm="48266"/>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B9FCD-2C2B-9A95-C9C5-382C210050E1}"/>
              </a:ext>
            </a:extLst>
          </p:cNvPr>
          <p:cNvSpPr>
            <a:spLocks noGrp="1"/>
          </p:cNvSpPr>
          <p:nvPr>
            <p:ph type="title"/>
          </p:nvPr>
        </p:nvSpPr>
        <p:spPr/>
        <p:txBody>
          <a:bodyPr/>
          <a:lstStyle/>
          <a:p>
            <a:r>
              <a:rPr lang="en-US" altLang="zh-CN" dirty="0"/>
              <a:t>The Impact of AI on Datacenter</a:t>
            </a:r>
            <a:endParaRPr lang="en-US" dirty="0"/>
          </a:p>
        </p:txBody>
      </p:sp>
      <p:pic>
        <p:nvPicPr>
          <p:cNvPr id="4" name="Picture 3" descr="A close-up of a server&#10;&#10;AI-generated content may be incorrect.">
            <a:extLst>
              <a:ext uri="{FF2B5EF4-FFF2-40B4-BE49-F238E27FC236}">
                <a16:creationId xmlns:a16="http://schemas.microsoft.com/office/drawing/2014/main" id="{41C4815F-E5D4-A493-E462-C4CB80005FEC}"/>
              </a:ext>
            </a:extLst>
          </p:cNvPr>
          <p:cNvPicPr>
            <a:picLocks noChangeAspect="1"/>
          </p:cNvPicPr>
          <p:nvPr/>
        </p:nvPicPr>
        <p:blipFill>
          <a:blip r:embed="rId3">
            <a:extLst>
              <a:ext uri="{28A0092B-C50C-407E-A947-70E740481C1C}">
                <a14:useLocalDpi xmlns:a14="http://schemas.microsoft.com/office/drawing/2010/main" val="0"/>
              </a:ext>
            </a:extLst>
          </a:blip>
          <a:srcRect l="25326" r="32480" b="2"/>
          <a:stretch>
            <a:fillRect/>
          </a:stretch>
        </p:blipFill>
        <p:spPr>
          <a:xfrm>
            <a:off x="838200" y="1297259"/>
            <a:ext cx="3040062" cy="3782595"/>
          </a:xfrm>
          <a:prstGeom prst="rect">
            <a:avLst/>
          </a:prstGeom>
          <a:noFill/>
        </p:spPr>
      </p:pic>
      <p:sp>
        <p:nvSpPr>
          <p:cNvPr id="5" name="Content Placeholder 6">
            <a:extLst>
              <a:ext uri="{FF2B5EF4-FFF2-40B4-BE49-F238E27FC236}">
                <a16:creationId xmlns:a16="http://schemas.microsoft.com/office/drawing/2014/main" id="{DC369EEB-A057-20E8-21E9-994DE2340FFC}"/>
              </a:ext>
            </a:extLst>
          </p:cNvPr>
          <p:cNvSpPr txBox="1">
            <a:spLocks/>
          </p:cNvSpPr>
          <p:nvPr/>
        </p:nvSpPr>
        <p:spPr>
          <a:xfrm>
            <a:off x="4038600" y="1297259"/>
            <a:ext cx="4648200" cy="4722813"/>
          </a:xfrm>
          <a:prstGeom prst="rect">
            <a:avLst/>
          </a:prstGeom>
        </p:spPr>
        <p:txBody>
          <a:bodyPr wrap="square" anchor="t">
            <a:normAutofit fontScale="92500" lnSpcReduction="20000"/>
          </a:bodyPr>
          <a:lstStyle>
            <a:lvl1pPr marL="342900" indent="-342900" algn="l" rtl="0" eaLnBrk="0" fontAlgn="base" hangingPunct="0">
              <a:spcBef>
                <a:spcPct val="20000"/>
              </a:spcBef>
              <a:spcAft>
                <a:spcPct val="0"/>
              </a:spcAft>
              <a:buClr>
                <a:srgbClr val="961C1F"/>
              </a:buClr>
              <a:buFont typeface="Wingdings" pitchFamily="2" charset="2"/>
              <a:buChar char="§"/>
              <a:defRPr sz="2800">
                <a:solidFill>
                  <a:schemeClr val="tx1"/>
                </a:solidFill>
                <a:latin typeface="+mn-lt"/>
                <a:ea typeface="+mn-ea"/>
                <a:cs typeface="+mn-cs"/>
              </a:defRPr>
            </a:lvl1pPr>
            <a:lvl2pPr marL="730250" indent="-284163" algn="l" rtl="0" eaLnBrk="0" fontAlgn="base" hangingPunct="0">
              <a:spcBef>
                <a:spcPct val="20000"/>
              </a:spcBef>
              <a:spcAft>
                <a:spcPct val="0"/>
              </a:spcAft>
              <a:buClr>
                <a:srgbClr val="961C1F"/>
              </a:buClr>
              <a:buFont typeface="Wingdings" pitchFamily="2" charset="2"/>
              <a:buChar char="§"/>
              <a:defRPr sz="2400">
                <a:solidFill>
                  <a:schemeClr val="tx1"/>
                </a:solidFill>
                <a:latin typeface="+mn-lt"/>
              </a:defRPr>
            </a:lvl2pPr>
            <a:lvl3pPr marL="1062038" indent="-228600" algn="l" rtl="0" eaLnBrk="0" fontAlgn="base" hangingPunct="0">
              <a:spcBef>
                <a:spcPct val="20000"/>
              </a:spcBef>
              <a:spcAft>
                <a:spcPct val="0"/>
              </a:spcAft>
              <a:buClr>
                <a:srgbClr val="961C1F"/>
              </a:buClr>
              <a:buFont typeface="Wingdings" pitchFamily="2" charset="2"/>
              <a:buChar char="§"/>
              <a:defRPr sz="2000">
                <a:solidFill>
                  <a:schemeClr val="tx1"/>
                </a:solidFill>
                <a:latin typeface="+mn-lt"/>
              </a:defRPr>
            </a:lvl3pPr>
            <a:lvl4pPr marL="1392238" indent="-228600" algn="l" rtl="0" eaLnBrk="0" fontAlgn="base" hangingPunct="0">
              <a:spcBef>
                <a:spcPct val="20000"/>
              </a:spcBef>
              <a:spcAft>
                <a:spcPct val="0"/>
              </a:spcAft>
              <a:buClr>
                <a:srgbClr val="961C1F"/>
              </a:buClr>
              <a:buFont typeface="Wingdings" pitchFamily="2" charset="2"/>
              <a:buChar char="§"/>
              <a:defRPr sz="1800">
                <a:solidFill>
                  <a:schemeClr val="tx1"/>
                </a:solidFill>
                <a:latin typeface="+mn-lt"/>
              </a:defRPr>
            </a:lvl4pPr>
            <a:lvl5pPr marL="1722438" indent="-228600" algn="l" rtl="0" eaLnBrk="0" fontAlgn="base" hangingPunct="0">
              <a:spcBef>
                <a:spcPct val="20000"/>
              </a:spcBef>
              <a:spcAft>
                <a:spcPct val="0"/>
              </a:spcAft>
              <a:buClr>
                <a:srgbClr val="961C1F"/>
              </a:buClr>
              <a:buFont typeface="Wingdings" pitchFamily="2" charset="2"/>
              <a:buChar char="§"/>
              <a:defRPr sz="1600">
                <a:solidFill>
                  <a:schemeClr val="tx1"/>
                </a:solidFill>
                <a:latin typeface="+mn-lt"/>
              </a:defRPr>
            </a:lvl5pPr>
            <a:lvl6pPr marL="2179638" indent="-228600" algn="l" rtl="0" eaLnBrk="0" fontAlgn="base" hangingPunct="0">
              <a:spcBef>
                <a:spcPct val="20000"/>
              </a:spcBef>
              <a:spcAft>
                <a:spcPct val="0"/>
              </a:spcAft>
              <a:buClr>
                <a:schemeClr val="tx1"/>
              </a:buClr>
              <a:buChar char="•"/>
              <a:defRPr sz="1400">
                <a:solidFill>
                  <a:schemeClr val="tx1"/>
                </a:solidFill>
                <a:latin typeface="+mn-lt"/>
              </a:defRPr>
            </a:lvl6pPr>
            <a:lvl7pPr marL="2636838" indent="-228600" algn="l" rtl="0" eaLnBrk="0" fontAlgn="base" hangingPunct="0">
              <a:spcBef>
                <a:spcPct val="20000"/>
              </a:spcBef>
              <a:spcAft>
                <a:spcPct val="0"/>
              </a:spcAft>
              <a:buClr>
                <a:schemeClr val="tx1"/>
              </a:buClr>
              <a:buChar char="•"/>
              <a:defRPr sz="1400">
                <a:solidFill>
                  <a:schemeClr val="tx1"/>
                </a:solidFill>
                <a:latin typeface="+mn-lt"/>
              </a:defRPr>
            </a:lvl7pPr>
            <a:lvl8pPr marL="3094038" indent="-228600" algn="l" rtl="0" eaLnBrk="0" fontAlgn="base" hangingPunct="0">
              <a:spcBef>
                <a:spcPct val="20000"/>
              </a:spcBef>
              <a:spcAft>
                <a:spcPct val="0"/>
              </a:spcAft>
              <a:buClr>
                <a:schemeClr val="tx1"/>
              </a:buClr>
              <a:buChar char="•"/>
              <a:defRPr sz="1400">
                <a:solidFill>
                  <a:schemeClr val="tx1"/>
                </a:solidFill>
                <a:latin typeface="+mn-lt"/>
              </a:defRPr>
            </a:lvl8pPr>
            <a:lvl9pPr marL="3551238" indent="-228600" algn="l" rtl="0" eaLnBrk="0" fontAlgn="base" hangingPunct="0">
              <a:spcBef>
                <a:spcPct val="20000"/>
              </a:spcBef>
              <a:spcAft>
                <a:spcPct val="0"/>
              </a:spcAft>
              <a:buClr>
                <a:schemeClr val="tx1"/>
              </a:buClr>
              <a:buChar char="•"/>
              <a:defRPr sz="1400">
                <a:solidFill>
                  <a:schemeClr val="tx1"/>
                </a:solidFill>
                <a:latin typeface="+mn-lt"/>
              </a:defRPr>
            </a:lvl9pPr>
          </a:lstStyle>
          <a:p>
            <a:pPr>
              <a:lnSpc>
                <a:spcPct val="90000"/>
              </a:lnSpc>
            </a:pPr>
            <a:r>
              <a:rPr lang="en-US" altLang="zh-CN" sz="2200" dirty="0"/>
              <a:t>200 Nvidia V100 GPUs was deployed in an AI datacenter cluster.</a:t>
            </a:r>
          </a:p>
          <a:p>
            <a:pPr>
              <a:lnSpc>
                <a:spcPct val="90000"/>
              </a:lnSpc>
            </a:pPr>
            <a:endParaRPr lang="en-US" altLang="zh-CN" sz="2200" dirty="0"/>
          </a:p>
          <a:p>
            <a:pPr>
              <a:lnSpc>
                <a:spcPct val="90000"/>
              </a:lnSpc>
            </a:pPr>
            <a:r>
              <a:rPr lang="en-US" altLang="zh-CN" sz="2200" dirty="0"/>
              <a:t>AI, especially LLM, makes data center are more hungry for Advanced GPUs.</a:t>
            </a:r>
          </a:p>
          <a:p>
            <a:pPr>
              <a:lnSpc>
                <a:spcPct val="90000"/>
              </a:lnSpc>
            </a:pPr>
            <a:endParaRPr lang="en-US" sz="2200" kern="0" dirty="0"/>
          </a:p>
          <a:p>
            <a:pPr>
              <a:lnSpc>
                <a:spcPct val="90000"/>
              </a:lnSpc>
            </a:pPr>
            <a:r>
              <a:rPr lang="en-US" sz="2200" kern="0" dirty="0"/>
              <a:t>We purchase 60 H100 GPUs.</a:t>
            </a:r>
          </a:p>
          <a:p>
            <a:pPr>
              <a:lnSpc>
                <a:spcPct val="90000"/>
              </a:lnSpc>
            </a:pPr>
            <a:endParaRPr lang="en-US" sz="2200" kern="0" dirty="0"/>
          </a:p>
          <a:p>
            <a:pPr>
              <a:lnSpc>
                <a:spcPct val="90000"/>
              </a:lnSpc>
            </a:pPr>
            <a:r>
              <a:rPr lang="en-US" sz="2200" kern="0" dirty="0"/>
              <a:t>200*250&lt;200*250+60*700</a:t>
            </a:r>
          </a:p>
          <a:p>
            <a:pPr>
              <a:lnSpc>
                <a:spcPct val="90000"/>
              </a:lnSpc>
            </a:pPr>
            <a:endParaRPr lang="en-US" sz="2200" kern="0" dirty="0"/>
          </a:p>
          <a:p>
            <a:pPr>
              <a:lnSpc>
                <a:spcPct val="90000"/>
              </a:lnSpc>
            </a:pPr>
            <a:r>
              <a:rPr lang="en-US" sz="2200" kern="0" dirty="0"/>
              <a:t>How can those GPU be safely hosted in this power infrastructure?</a:t>
            </a:r>
          </a:p>
          <a:p>
            <a:pPr>
              <a:lnSpc>
                <a:spcPct val="90000"/>
              </a:lnSpc>
            </a:pPr>
            <a:endParaRPr lang="en-US" sz="2200" kern="0" dirty="0"/>
          </a:p>
          <a:p>
            <a:pPr>
              <a:lnSpc>
                <a:spcPct val="90000"/>
              </a:lnSpc>
            </a:pPr>
            <a:r>
              <a:rPr lang="en-US" sz="2200" kern="0" dirty="0"/>
              <a:t>Two choice:</a:t>
            </a:r>
          </a:p>
          <a:p>
            <a:pPr lvl="1">
              <a:lnSpc>
                <a:spcPct val="90000"/>
              </a:lnSpc>
            </a:pPr>
            <a:r>
              <a:rPr lang="en-US" sz="1900" kern="0" dirty="0"/>
              <a:t>Build another data center to accommodate those GPUs</a:t>
            </a:r>
          </a:p>
          <a:p>
            <a:pPr lvl="1">
              <a:lnSpc>
                <a:spcPct val="90000"/>
              </a:lnSpc>
            </a:pPr>
            <a:r>
              <a:rPr lang="en-US" sz="1900" kern="0" dirty="0"/>
              <a:t>Power oversubscription</a:t>
            </a:r>
          </a:p>
          <a:p>
            <a:pPr lvl="1">
              <a:lnSpc>
                <a:spcPct val="90000"/>
              </a:lnSpc>
            </a:pPr>
            <a:endParaRPr lang="en-US" sz="1600" kern="0" dirty="0"/>
          </a:p>
          <a:p>
            <a:pPr>
              <a:lnSpc>
                <a:spcPct val="90000"/>
              </a:lnSpc>
            </a:pPr>
            <a:endParaRPr lang="en-US" sz="2000" kern="0" dirty="0"/>
          </a:p>
          <a:p>
            <a:pPr marL="446087" lvl="1" indent="0">
              <a:lnSpc>
                <a:spcPct val="90000"/>
              </a:lnSpc>
              <a:buFont typeface="Wingdings" pitchFamily="2" charset="2"/>
              <a:buNone/>
            </a:pPr>
            <a:endParaRPr lang="en-US" sz="2000" kern="0" dirty="0"/>
          </a:p>
          <a:p>
            <a:pPr lvl="1">
              <a:lnSpc>
                <a:spcPct val="90000"/>
              </a:lnSpc>
            </a:pPr>
            <a:endParaRPr lang="en-US" sz="2000" kern="0" dirty="0"/>
          </a:p>
          <a:p>
            <a:pPr marL="446087" lvl="1" indent="0">
              <a:lnSpc>
                <a:spcPct val="90000"/>
              </a:lnSpc>
              <a:buFont typeface="Wingdings" pitchFamily="2" charset="2"/>
              <a:buNone/>
            </a:pPr>
            <a:endParaRPr lang="en-US" sz="2000" kern="0" dirty="0"/>
          </a:p>
          <a:p>
            <a:pPr lvl="1">
              <a:lnSpc>
                <a:spcPct val="90000"/>
              </a:lnSpc>
            </a:pPr>
            <a:endParaRPr lang="en-US" sz="2000" kern="0" dirty="0"/>
          </a:p>
        </p:txBody>
      </p:sp>
    </p:spTree>
    <p:extLst>
      <p:ext uri="{BB962C8B-B14F-4D97-AF65-F5344CB8AC3E}">
        <p14:creationId xmlns:p14="http://schemas.microsoft.com/office/powerpoint/2010/main" val="4190665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8338F-8426-1E5A-5F67-89760B832E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2C8B18-BFDD-78E1-4148-838D7286F408}"/>
              </a:ext>
            </a:extLst>
          </p:cNvPr>
          <p:cNvSpPr>
            <a:spLocks noGrp="1"/>
          </p:cNvSpPr>
          <p:nvPr>
            <p:ph type="title"/>
          </p:nvPr>
        </p:nvSpPr>
        <p:spPr>
          <a:xfrm>
            <a:off x="769938" y="554038"/>
            <a:ext cx="7727950" cy="687387"/>
          </a:xfrm>
        </p:spPr>
        <p:txBody>
          <a:bodyPr wrap="square" anchor="t">
            <a:normAutofit/>
          </a:bodyPr>
          <a:lstStyle/>
          <a:p>
            <a:r>
              <a:rPr lang="en-US" dirty="0"/>
              <a:t>Why Power Capping</a:t>
            </a:r>
          </a:p>
        </p:txBody>
      </p:sp>
      <p:sp>
        <p:nvSpPr>
          <p:cNvPr id="7" name="Content Placeholder 6">
            <a:extLst>
              <a:ext uri="{FF2B5EF4-FFF2-40B4-BE49-F238E27FC236}">
                <a16:creationId xmlns:a16="http://schemas.microsoft.com/office/drawing/2014/main" id="{5330B395-1A6F-E07C-8716-CCFC64498954}"/>
              </a:ext>
            </a:extLst>
          </p:cNvPr>
          <p:cNvSpPr>
            <a:spLocks noGrp="1"/>
          </p:cNvSpPr>
          <p:nvPr>
            <p:ph sz="half" idx="2"/>
          </p:nvPr>
        </p:nvSpPr>
        <p:spPr>
          <a:xfrm>
            <a:off x="751352" y="1371600"/>
            <a:ext cx="7746535" cy="4722813"/>
          </a:xfrm>
        </p:spPr>
        <p:txBody>
          <a:bodyPr wrap="square" anchor="t">
            <a:normAutofit/>
          </a:bodyPr>
          <a:lstStyle/>
          <a:p>
            <a:pPr>
              <a:lnSpc>
                <a:spcPct val="90000"/>
              </a:lnSpc>
            </a:pPr>
            <a:r>
              <a:rPr lang="en-US" altLang="zh-CN" sz="2000" dirty="0"/>
              <a:t>Power Oversubscription</a:t>
            </a:r>
          </a:p>
          <a:p>
            <a:pPr lvl="1">
              <a:lnSpc>
                <a:spcPct val="90000"/>
              </a:lnSpc>
            </a:pPr>
            <a:r>
              <a:rPr lang="en-US" altLang="zh-CN" sz="2000" dirty="0"/>
              <a:t>Host more servers than power infra capacity.</a:t>
            </a:r>
          </a:p>
          <a:p>
            <a:pPr marL="0" indent="0">
              <a:lnSpc>
                <a:spcPct val="90000"/>
              </a:lnSpc>
              <a:buNone/>
            </a:pPr>
            <a:endParaRPr lang="en-US" sz="2000" dirty="0"/>
          </a:p>
          <a:p>
            <a:pPr>
              <a:lnSpc>
                <a:spcPct val="90000"/>
              </a:lnSpc>
            </a:pPr>
            <a:r>
              <a:rPr lang="en-US" sz="2000" dirty="0"/>
              <a:t>Power Capping</a:t>
            </a:r>
          </a:p>
          <a:p>
            <a:pPr lvl="1">
              <a:lnSpc>
                <a:spcPct val="90000"/>
              </a:lnSpc>
            </a:pPr>
            <a:r>
              <a:rPr lang="en-US" sz="2000" dirty="0"/>
              <a:t>Cap peak power consumption to prevent power overload.</a:t>
            </a:r>
          </a:p>
          <a:p>
            <a:pPr marL="446087" lvl="1" indent="0">
              <a:lnSpc>
                <a:spcPct val="90000"/>
              </a:lnSpc>
              <a:buNone/>
            </a:pPr>
            <a:endParaRPr lang="en-US" sz="2000" dirty="0"/>
          </a:p>
          <a:p>
            <a:pPr>
              <a:lnSpc>
                <a:spcPct val="90000"/>
              </a:lnSpc>
            </a:pPr>
            <a:r>
              <a:rPr lang="en-US" sz="2000" dirty="0"/>
              <a:t>Adopted by many companies:</a:t>
            </a:r>
          </a:p>
          <a:p>
            <a:pPr lvl="1">
              <a:lnSpc>
                <a:spcPct val="90000"/>
              </a:lnSpc>
            </a:pPr>
            <a:r>
              <a:rPr lang="en-US" sz="2000" dirty="0"/>
              <a:t>Meta[ASPLOS’24],</a:t>
            </a:r>
            <a:r>
              <a:rPr lang="en-HK" altLang="zh-CN" sz="2000" dirty="0"/>
              <a:t> unlocks 12.85 MW of capacity by power oversubscription with ML heuristics.</a:t>
            </a:r>
            <a:endParaRPr lang="en-US" sz="2000" dirty="0"/>
          </a:p>
          <a:p>
            <a:pPr lvl="1">
              <a:lnSpc>
                <a:spcPct val="90000"/>
              </a:lnSpc>
            </a:pPr>
            <a:r>
              <a:rPr lang="en-US" sz="2000" dirty="0"/>
              <a:t>Microsoft[ATC’21],</a:t>
            </a:r>
            <a:r>
              <a:rPr lang="en-HK" altLang="zh-CN" sz="2000" dirty="0"/>
              <a:t> reduces infrastructure cost by up to $155M per site with power capping.</a:t>
            </a:r>
            <a:endParaRPr lang="en-US" sz="2000" dirty="0"/>
          </a:p>
          <a:p>
            <a:pPr lvl="1">
              <a:lnSpc>
                <a:spcPct val="90000"/>
              </a:lnSpc>
            </a:pPr>
            <a:r>
              <a:rPr lang="en-US" sz="2000" dirty="0"/>
              <a:t>Google[ASPLOS’20], increases </a:t>
            </a:r>
            <a:r>
              <a:rPr lang="en-HK" altLang="zh-CN" sz="2000" dirty="0"/>
              <a:t>25%+ power capacity via priority-aware capping</a:t>
            </a:r>
          </a:p>
          <a:p>
            <a:pPr lvl="1">
              <a:lnSpc>
                <a:spcPct val="90000"/>
              </a:lnSpc>
            </a:pPr>
            <a:r>
              <a:rPr lang="en-US" sz="2000" dirty="0"/>
              <a:t>and </a:t>
            </a:r>
            <a:r>
              <a:rPr lang="en-US" sz="2000" dirty="0" err="1"/>
              <a:t>etc</a:t>
            </a:r>
            <a:r>
              <a:rPr lang="en-US" sz="2000" dirty="0"/>
              <a:t>…</a:t>
            </a:r>
          </a:p>
          <a:p>
            <a:pPr>
              <a:lnSpc>
                <a:spcPct val="90000"/>
              </a:lnSpc>
            </a:pPr>
            <a:endParaRPr lang="en-US" sz="2000" dirty="0"/>
          </a:p>
          <a:p>
            <a:pPr lvl="1">
              <a:lnSpc>
                <a:spcPct val="90000"/>
              </a:lnSpc>
            </a:pPr>
            <a:endParaRPr lang="en-US" sz="2000" dirty="0"/>
          </a:p>
          <a:p>
            <a:pPr marL="446087" lvl="1" indent="0">
              <a:lnSpc>
                <a:spcPct val="90000"/>
              </a:lnSpc>
              <a:buNone/>
            </a:pPr>
            <a:endParaRPr lang="en-US" sz="2000" dirty="0"/>
          </a:p>
          <a:p>
            <a:pPr lvl="1">
              <a:lnSpc>
                <a:spcPct val="90000"/>
              </a:lnSpc>
            </a:pPr>
            <a:endParaRPr lang="en-US" sz="2000" dirty="0"/>
          </a:p>
        </p:txBody>
      </p:sp>
    </p:spTree>
    <p:extLst>
      <p:ext uri="{BB962C8B-B14F-4D97-AF65-F5344CB8AC3E}">
        <p14:creationId xmlns:p14="http://schemas.microsoft.com/office/powerpoint/2010/main" val="3805783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64705-29E5-698A-3881-A2F60CFEFC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204028-21FE-7B1D-5479-C1ACCA33D8C9}"/>
              </a:ext>
            </a:extLst>
          </p:cNvPr>
          <p:cNvSpPr>
            <a:spLocks noGrp="1"/>
          </p:cNvSpPr>
          <p:nvPr>
            <p:ph type="title"/>
          </p:nvPr>
        </p:nvSpPr>
        <p:spPr/>
        <p:txBody>
          <a:bodyPr/>
          <a:lstStyle/>
          <a:p>
            <a:r>
              <a:rPr lang="en-US" dirty="0"/>
              <a:t>Power Capping Technique</a:t>
            </a:r>
          </a:p>
        </p:txBody>
      </p:sp>
      <p:pic>
        <p:nvPicPr>
          <p:cNvPr id="4" name="Content Placeholder 4" descr="A pie chart with different colored circles&#10;&#10;AI-generated content may be incorrect.">
            <a:extLst>
              <a:ext uri="{FF2B5EF4-FFF2-40B4-BE49-F238E27FC236}">
                <a16:creationId xmlns:a16="http://schemas.microsoft.com/office/drawing/2014/main" id="{2674FBF1-5B1D-365A-86FE-E60137BA38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6962378" y="1233498"/>
            <a:ext cx="2181622" cy="1848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Content Placeholder 6">
            <a:extLst>
              <a:ext uri="{FF2B5EF4-FFF2-40B4-BE49-F238E27FC236}">
                <a16:creationId xmlns:a16="http://schemas.microsoft.com/office/drawing/2014/main" id="{AD34F806-DB44-FDA8-25B7-D23C8CEA7DE5}"/>
              </a:ext>
            </a:extLst>
          </p:cNvPr>
          <p:cNvSpPr>
            <a:spLocks noGrp="1"/>
          </p:cNvSpPr>
          <p:nvPr>
            <p:ph idx="1"/>
          </p:nvPr>
        </p:nvSpPr>
        <p:spPr>
          <a:xfrm>
            <a:off x="275698" y="1067593"/>
            <a:ext cx="6400800" cy="4722813"/>
          </a:xfrm>
        </p:spPr>
        <p:txBody>
          <a:bodyPr/>
          <a:lstStyle/>
          <a:p>
            <a:pPr marL="833438" lvl="2" indent="0">
              <a:buNone/>
            </a:pPr>
            <a:endParaRPr lang="en-US" dirty="0"/>
          </a:p>
          <a:p>
            <a:pPr lvl="1"/>
            <a:r>
              <a:rPr lang="en-US" sz="2000" dirty="0"/>
              <a:t>T</a:t>
            </a:r>
            <a:r>
              <a:rPr lang="en-US" altLang="zh-CN" sz="2000" dirty="0"/>
              <a:t>raditional p</a:t>
            </a:r>
            <a:r>
              <a:rPr lang="en-US" sz="2000" dirty="0"/>
              <a:t>ower capping focus</a:t>
            </a:r>
            <a:r>
              <a:rPr lang="en-US" altLang="zh-CN" sz="2000" dirty="0"/>
              <a:t>es</a:t>
            </a:r>
            <a:r>
              <a:rPr lang="en-US" sz="2000" dirty="0"/>
              <a:t> on CPU DVFS </a:t>
            </a:r>
          </a:p>
          <a:p>
            <a:pPr lvl="2"/>
            <a:r>
              <a:rPr lang="en-US" sz="1800" dirty="0"/>
              <a:t>Dynamic Voltage and Frequency Scaling</a:t>
            </a:r>
          </a:p>
          <a:p>
            <a:pPr lvl="1"/>
            <a:r>
              <a:rPr lang="en-US" sz="2000" dirty="0"/>
              <a:t>AI is the game changer:</a:t>
            </a:r>
          </a:p>
          <a:p>
            <a:pPr lvl="2"/>
            <a:r>
              <a:rPr lang="en-US" sz="1800" dirty="0"/>
              <a:t>GPU is much more powerful than CPU</a:t>
            </a:r>
          </a:p>
          <a:p>
            <a:pPr lvl="2"/>
            <a:r>
              <a:rPr lang="en-US" sz="1800" dirty="0"/>
              <a:t>Inference Server: Multi-GPU and one host CPU.[Alibaba ATC’23]</a:t>
            </a:r>
          </a:p>
          <a:p>
            <a:pPr lvl="2"/>
            <a:r>
              <a:rPr lang="en-US" sz="1800" dirty="0"/>
              <a:t>Existing</a:t>
            </a:r>
            <a:r>
              <a:rPr lang="en-US" altLang="zh-CN" sz="1800" dirty="0"/>
              <a:t> methods: </a:t>
            </a:r>
            <a:r>
              <a:rPr lang="en-US" sz="1800" dirty="0"/>
              <a:t>either on CPU or GPU, or isolate CPU and GPU</a:t>
            </a:r>
          </a:p>
          <a:p>
            <a:pPr lvl="1"/>
            <a:r>
              <a:rPr lang="en-US" sz="2000" dirty="0"/>
              <a:t>CPU and GPU are coordinate with each other:</a:t>
            </a:r>
          </a:p>
          <a:p>
            <a:pPr lvl="1"/>
            <a:r>
              <a:rPr lang="en-US" sz="2000" i="1" dirty="0"/>
              <a:t>CapGPU</a:t>
            </a:r>
            <a:r>
              <a:rPr lang="en-US" sz="2000" dirty="0"/>
              <a:t> is the first framework coordinating CPU and each GPU for better inference performance.</a:t>
            </a:r>
            <a:endParaRPr lang="en-US" sz="1800" dirty="0"/>
          </a:p>
          <a:p>
            <a:pPr marL="1163638" lvl="3" indent="0">
              <a:buNone/>
            </a:pPr>
            <a:endParaRPr lang="en-US" sz="2000" dirty="0"/>
          </a:p>
          <a:p>
            <a:pPr lvl="2"/>
            <a:endParaRPr lang="en-US" dirty="0"/>
          </a:p>
          <a:p>
            <a:pPr lvl="1"/>
            <a:endParaRPr lang="en-US" sz="2000" dirty="0"/>
          </a:p>
          <a:p>
            <a:pPr lvl="1"/>
            <a:endParaRPr lang="en-US" sz="2000" dirty="0"/>
          </a:p>
          <a:p>
            <a:pPr lvl="1"/>
            <a:endParaRPr lang="en-US" sz="2000" dirty="0"/>
          </a:p>
          <a:p>
            <a:pPr lvl="1"/>
            <a:endParaRPr lang="en-US" sz="2000" dirty="0"/>
          </a:p>
          <a:p>
            <a:pPr lvl="1"/>
            <a:endParaRPr lang="en-US" sz="2000" dirty="0"/>
          </a:p>
          <a:p>
            <a:pPr lvl="1"/>
            <a:endParaRPr lang="en-US" sz="2000" dirty="0"/>
          </a:p>
          <a:p>
            <a:pPr lvl="1"/>
            <a:endParaRPr lang="en-US" sz="2000" dirty="0"/>
          </a:p>
        </p:txBody>
      </p:sp>
      <p:sp>
        <p:nvSpPr>
          <p:cNvPr id="3" name="Rectangle 2">
            <a:extLst>
              <a:ext uri="{FF2B5EF4-FFF2-40B4-BE49-F238E27FC236}">
                <a16:creationId xmlns:a16="http://schemas.microsoft.com/office/drawing/2014/main" id="{A4CBE85C-0FC2-24E5-C132-375FAD10F805}"/>
              </a:ext>
            </a:extLst>
          </p:cNvPr>
          <p:cNvSpPr/>
          <p:nvPr/>
        </p:nvSpPr>
        <p:spPr bwMode="auto">
          <a:xfrm>
            <a:off x="7162800" y="2667000"/>
            <a:ext cx="1447800" cy="1190065"/>
          </a:xfrm>
          <a:prstGeom prst="rect">
            <a:avLst/>
          </a:prstGeom>
          <a:noFill/>
          <a:ln w="6350" cap="flat" cmpd="sng" algn="ctr">
            <a:noFill/>
            <a:prstDash val="solid"/>
            <a:round/>
            <a:headEnd type="triangle" w="sm" len="lg"/>
            <a:tailEnd type="triangle" w="sm" len="lg"/>
          </a:ln>
          <a:effectLst/>
        </p:spPr>
        <p:txBody>
          <a:bodyPr vert="horz" wrap="none" lIns="91440" tIns="45720" rIns="91440" bIns="45720" numCol="1" rtlCol="0" anchor="ctr" anchorCtr="0" compatLnSpc="1">
            <a:prstTxWarp prst="textNoShape">
              <a:avLst/>
            </a:prstTxWarp>
          </a:bodyPr>
          <a:lstStyle/>
          <a:p>
            <a:pPr>
              <a:spcBef>
                <a:spcPct val="0"/>
              </a:spcBef>
              <a:buClrTx/>
              <a:buNone/>
            </a:pPr>
            <a:r>
              <a:rPr lang="en-US" sz="1200" dirty="0"/>
              <a:t>Power Consumption of </a:t>
            </a:r>
          </a:p>
          <a:p>
            <a:pPr>
              <a:spcBef>
                <a:spcPct val="0"/>
              </a:spcBef>
              <a:buClrTx/>
              <a:buNone/>
            </a:pPr>
            <a:r>
              <a:rPr lang="en-US" sz="1200" dirty="0"/>
              <a:t>an 8×A100-80GB server.</a:t>
            </a:r>
          </a:p>
          <a:p>
            <a:pPr>
              <a:spcBef>
                <a:spcPct val="0"/>
              </a:spcBef>
              <a:buClrTx/>
              <a:buNone/>
            </a:pPr>
            <a:r>
              <a:rPr kumimoji="0" lang="en-US" sz="1200" b="0" i="0" strike="noStrike" cap="none" normalizeH="0" baseline="0" dirty="0">
                <a:ln>
                  <a:noFill/>
                </a:ln>
                <a:solidFill>
                  <a:schemeClr val="tx1"/>
                </a:solidFill>
                <a:effectLst/>
                <a:latin typeface="Arial" charset="0"/>
              </a:rPr>
              <a:t>ASPLOS</a:t>
            </a:r>
            <a:r>
              <a:rPr lang="en-US" sz="1200" dirty="0">
                <a:latin typeface="Arial" charset="0"/>
              </a:rPr>
              <a:t>’24</a:t>
            </a:r>
            <a:endParaRPr kumimoji="0" lang="en-US" sz="1200" b="0" i="0" strike="noStrike" cap="none" normalizeH="0" baseline="0" dirty="0">
              <a:ln>
                <a:noFill/>
              </a:ln>
              <a:solidFill>
                <a:schemeClr val="tx1"/>
              </a:solidFill>
              <a:effectLst/>
              <a:latin typeface="Arial" charset="0"/>
            </a:endParaRPr>
          </a:p>
        </p:txBody>
      </p:sp>
      <p:sp>
        <p:nvSpPr>
          <p:cNvPr id="8" name="Rectangle 1">
            <a:extLst>
              <a:ext uri="{FF2B5EF4-FFF2-40B4-BE49-F238E27FC236}">
                <a16:creationId xmlns:a16="http://schemas.microsoft.com/office/drawing/2014/main" id="{F15ED2D0-BDAC-C3E6-E64A-3D0EE730856E}"/>
              </a:ext>
            </a:extLst>
          </p:cNvPr>
          <p:cNvSpPr>
            <a:spLocks noChangeArrowheads="1"/>
          </p:cNvSpPr>
          <p:nvPr/>
        </p:nvSpPr>
        <p:spPr bwMode="auto">
          <a:xfrm>
            <a:off x="0" y="-153888"/>
            <a:ext cx="23436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2">
            <a:extLst>
              <a:ext uri="{FF2B5EF4-FFF2-40B4-BE49-F238E27FC236}">
                <a16:creationId xmlns:a16="http://schemas.microsoft.com/office/drawing/2014/main" id="{3C6C6F9A-5D1B-8039-4DED-AB204CE65B1E}"/>
              </a:ext>
            </a:extLst>
          </p:cNvPr>
          <p:cNvSpPr>
            <a:spLocks noChangeArrowheads="1"/>
          </p:cNvSpPr>
          <p:nvPr/>
        </p:nvSpPr>
        <p:spPr bwMode="auto">
          <a:xfrm>
            <a:off x="152400" y="-322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Rectangle 3">
            <a:extLst>
              <a:ext uri="{FF2B5EF4-FFF2-40B4-BE49-F238E27FC236}">
                <a16:creationId xmlns:a16="http://schemas.microsoft.com/office/drawing/2014/main" id="{3461DC0B-52D4-F5E2-011A-0ACF353EA62E}"/>
              </a:ext>
            </a:extLst>
          </p:cNvPr>
          <p:cNvSpPr>
            <a:spLocks noChangeArrowheads="1"/>
          </p:cNvSpPr>
          <p:nvPr/>
        </p:nvSpPr>
        <p:spPr bwMode="auto">
          <a:xfrm>
            <a:off x="304800" y="150912"/>
            <a:ext cx="23436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Arial" panose="020B0604020202020204" pitchFamily="34"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30499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0AA22-696D-B869-EE20-4264901AE5BC}"/>
              </a:ext>
            </a:extLst>
          </p:cNvPr>
          <p:cNvSpPr>
            <a:spLocks noGrp="1"/>
          </p:cNvSpPr>
          <p:nvPr>
            <p:ph type="title"/>
          </p:nvPr>
        </p:nvSpPr>
        <p:spPr/>
        <p:txBody>
          <a:bodyPr/>
          <a:lstStyle/>
          <a:p>
            <a:r>
              <a:rPr lang="en-US" dirty="0"/>
              <a:t>Objectives</a:t>
            </a:r>
          </a:p>
        </p:txBody>
      </p:sp>
      <p:sp>
        <p:nvSpPr>
          <p:cNvPr id="3" name="Content Placeholder 2">
            <a:extLst>
              <a:ext uri="{FF2B5EF4-FFF2-40B4-BE49-F238E27FC236}">
                <a16:creationId xmlns:a16="http://schemas.microsoft.com/office/drawing/2014/main" id="{96D57A02-B554-0A19-400E-11957C851B6B}"/>
              </a:ext>
            </a:extLst>
          </p:cNvPr>
          <p:cNvSpPr>
            <a:spLocks noGrp="1"/>
          </p:cNvSpPr>
          <p:nvPr>
            <p:ph idx="1"/>
          </p:nvPr>
        </p:nvSpPr>
        <p:spPr>
          <a:xfrm>
            <a:off x="428624" y="1265572"/>
            <a:ext cx="7745413" cy="1370013"/>
          </a:xfrm>
        </p:spPr>
        <p:txBody>
          <a:bodyPr/>
          <a:lstStyle/>
          <a:p>
            <a:pPr lvl="1"/>
            <a:endParaRPr lang="en-US" sz="2000" dirty="0"/>
          </a:p>
          <a:p>
            <a:pPr lvl="1"/>
            <a:endParaRPr lang="en-US" sz="2000" dirty="0"/>
          </a:p>
          <a:p>
            <a:pPr lvl="1"/>
            <a:endParaRPr lang="en-US" sz="2000" dirty="0"/>
          </a:p>
          <a:p>
            <a:pPr lvl="1"/>
            <a:endParaRPr lang="en-US" sz="2000" dirty="0"/>
          </a:p>
          <a:p>
            <a:pPr lvl="1"/>
            <a:endParaRPr lang="en-US" sz="2000" dirty="0"/>
          </a:p>
          <a:p>
            <a:pPr lvl="1"/>
            <a:endParaRPr lang="en-US" sz="2000" dirty="0"/>
          </a:p>
          <a:p>
            <a:pPr lvl="1"/>
            <a:endParaRPr lang="en-US" sz="2000" dirty="0"/>
          </a:p>
          <a:p>
            <a:pPr lvl="1"/>
            <a:r>
              <a:rPr lang="en-US" sz="2000" dirty="0"/>
              <a:t>Precise power control </a:t>
            </a:r>
            <a:r>
              <a:rPr lang="en-US" altLang="zh-CN" sz="2000" dirty="0"/>
              <a:t>to the</a:t>
            </a:r>
            <a:r>
              <a:rPr lang="en-US" sz="2000" dirty="0"/>
              <a:t> </a:t>
            </a:r>
            <a:r>
              <a:rPr lang="en-US" sz="2000" dirty="0">
                <a:solidFill>
                  <a:srgbClr val="961C1F"/>
                </a:solidFill>
              </a:rPr>
              <a:t>Power Limit</a:t>
            </a:r>
            <a:endParaRPr lang="en-US" sz="1600" dirty="0">
              <a:solidFill>
                <a:srgbClr val="961C1F"/>
              </a:solidFill>
            </a:endParaRPr>
          </a:p>
          <a:p>
            <a:pPr lvl="1"/>
            <a:endParaRPr lang="en-US" sz="2000" dirty="0">
              <a:solidFill>
                <a:srgbClr val="961C1F"/>
              </a:solidFill>
            </a:endParaRPr>
          </a:p>
          <a:p>
            <a:pPr lvl="1"/>
            <a:r>
              <a:rPr lang="en-US" sz="2000" dirty="0"/>
              <a:t>Satisfy each GPU’s inference </a:t>
            </a:r>
            <a:r>
              <a:rPr lang="en-US" sz="2000" dirty="0">
                <a:solidFill>
                  <a:srgbClr val="961C1F"/>
                </a:solidFill>
              </a:rPr>
              <a:t>Service-Level Objective</a:t>
            </a:r>
          </a:p>
          <a:p>
            <a:pPr lvl="1"/>
            <a:endParaRPr lang="en-US" sz="2000" dirty="0">
              <a:solidFill>
                <a:srgbClr val="961C1F"/>
              </a:solidFill>
            </a:endParaRPr>
          </a:p>
          <a:p>
            <a:pPr lvl="1"/>
            <a:r>
              <a:rPr lang="en-US" sz="2000" dirty="0"/>
              <a:t>Achieve the best possible ML </a:t>
            </a:r>
            <a:r>
              <a:rPr lang="en-US" altLang="zh-CN" sz="2000" dirty="0"/>
              <a:t>inference</a:t>
            </a:r>
            <a:r>
              <a:rPr lang="en-US" sz="2000" dirty="0"/>
              <a:t> </a:t>
            </a:r>
            <a:r>
              <a:rPr lang="en-US" sz="2000" dirty="0">
                <a:solidFill>
                  <a:srgbClr val="961C1F"/>
                </a:solidFill>
              </a:rPr>
              <a:t>Throughput</a:t>
            </a:r>
          </a:p>
          <a:p>
            <a:pPr lvl="1"/>
            <a:endParaRPr lang="en-US" sz="2000" dirty="0"/>
          </a:p>
          <a:p>
            <a:endParaRPr lang="en-US" dirty="0"/>
          </a:p>
        </p:txBody>
      </p:sp>
      <p:grpSp>
        <p:nvGrpSpPr>
          <p:cNvPr id="26" name="组合 25">
            <a:extLst>
              <a:ext uri="{FF2B5EF4-FFF2-40B4-BE49-F238E27FC236}">
                <a16:creationId xmlns:a16="http://schemas.microsoft.com/office/drawing/2014/main" id="{211E74D6-4C91-BB87-4D16-BA8D10970678}"/>
              </a:ext>
            </a:extLst>
          </p:cNvPr>
          <p:cNvGrpSpPr/>
          <p:nvPr/>
        </p:nvGrpSpPr>
        <p:grpSpPr>
          <a:xfrm>
            <a:off x="2590800" y="1393825"/>
            <a:ext cx="8103834" cy="2035175"/>
            <a:chOff x="2667000" y="1334770"/>
            <a:chExt cx="8103834" cy="2035175"/>
          </a:xfrm>
        </p:grpSpPr>
        <p:sp>
          <p:nvSpPr>
            <p:cNvPr id="24" name="矩形 23">
              <a:extLst>
                <a:ext uri="{FF2B5EF4-FFF2-40B4-BE49-F238E27FC236}">
                  <a16:creationId xmlns:a16="http://schemas.microsoft.com/office/drawing/2014/main" id="{864A8DE3-3F4C-8780-70D0-CF2523922623}"/>
                </a:ext>
              </a:extLst>
            </p:cNvPr>
            <p:cNvSpPr/>
            <p:nvPr/>
          </p:nvSpPr>
          <p:spPr bwMode="auto">
            <a:xfrm>
              <a:off x="2667000" y="2392681"/>
              <a:ext cx="3421062" cy="45719"/>
            </a:xfrm>
            <a:prstGeom prst="rect">
              <a:avLst/>
            </a:prstGeom>
            <a:solidFill>
              <a:srgbClr val="C00000"/>
            </a:solidFill>
            <a:ln w="6350" cap="flat" cmpd="sng" algn="ctr">
              <a:solidFill>
                <a:srgbClr val="C00000"/>
              </a:solidFill>
              <a:prstDash val="solid"/>
              <a:round/>
              <a:headEnd type="triangle" w="sm" len="lg"/>
              <a:tailEnd type="triangle" w="sm" len="lg"/>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3400" b="0" i="0" u="sng" strike="noStrike" cap="none" normalizeH="0" baseline="0">
                <a:ln>
                  <a:noFill/>
                </a:ln>
                <a:solidFill>
                  <a:schemeClr val="tx1"/>
                </a:solidFill>
                <a:effectLst/>
                <a:latin typeface="Arial" charset="0"/>
              </a:endParaRPr>
            </a:p>
          </p:txBody>
        </p:sp>
        <p:grpSp>
          <p:nvGrpSpPr>
            <p:cNvPr id="25" name="组合 24">
              <a:extLst>
                <a:ext uri="{FF2B5EF4-FFF2-40B4-BE49-F238E27FC236}">
                  <a16:creationId xmlns:a16="http://schemas.microsoft.com/office/drawing/2014/main" id="{2F3D5721-6E2B-CEEE-AF2D-B2813F715533}"/>
                </a:ext>
              </a:extLst>
            </p:cNvPr>
            <p:cNvGrpSpPr/>
            <p:nvPr/>
          </p:nvGrpSpPr>
          <p:grpSpPr>
            <a:xfrm>
              <a:off x="2667000" y="1334770"/>
              <a:ext cx="8103834" cy="2035175"/>
              <a:chOff x="2659380" y="1356588"/>
              <a:chExt cx="8103834" cy="2035175"/>
            </a:xfrm>
          </p:grpSpPr>
          <p:grpSp>
            <p:nvGrpSpPr>
              <p:cNvPr id="19" name="组合 18">
                <a:extLst>
                  <a:ext uri="{FF2B5EF4-FFF2-40B4-BE49-F238E27FC236}">
                    <a16:creationId xmlns:a16="http://schemas.microsoft.com/office/drawing/2014/main" id="{68ADDBDC-B3B9-C5A4-261C-E541B0B1F319}"/>
                  </a:ext>
                </a:extLst>
              </p:cNvPr>
              <p:cNvGrpSpPr/>
              <p:nvPr/>
            </p:nvGrpSpPr>
            <p:grpSpPr>
              <a:xfrm>
                <a:off x="2667000" y="1356588"/>
                <a:ext cx="8096214" cy="2035175"/>
                <a:chOff x="5541964" y="1241424"/>
                <a:chExt cx="8096214" cy="2035175"/>
              </a:xfrm>
            </p:grpSpPr>
            <p:sp>
              <p:nvSpPr>
                <p:cNvPr id="4" name="矩形 3">
                  <a:extLst>
                    <a:ext uri="{FF2B5EF4-FFF2-40B4-BE49-F238E27FC236}">
                      <a16:creationId xmlns:a16="http://schemas.microsoft.com/office/drawing/2014/main" id="{E61F1135-CFE7-3F6D-F21E-4BD98232D19B}"/>
                    </a:ext>
                  </a:extLst>
                </p:cNvPr>
                <p:cNvSpPr/>
                <p:nvPr/>
              </p:nvSpPr>
              <p:spPr bwMode="auto">
                <a:xfrm>
                  <a:off x="5541964" y="1241424"/>
                  <a:ext cx="3421062" cy="2035175"/>
                </a:xfrm>
                <a:prstGeom prst="rect">
                  <a:avLst/>
                </a:prstGeom>
                <a:noFill/>
                <a:ln w="6350" cap="flat" cmpd="sng" algn="ctr">
                  <a:solidFill>
                    <a:srgbClr val="C00000"/>
                  </a:solidFill>
                  <a:prstDash val="solid"/>
                  <a:round/>
                  <a:headEnd type="triangle" w="sm" len="lg"/>
                  <a:tailEnd type="triangle" w="sm" len="lg"/>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3400" b="0" i="0" u="sng" strike="noStrike" cap="none" normalizeH="0" baseline="0">
                    <a:ln>
                      <a:noFill/>
                    </a:ln>
                    <a:solidFill>
                      <a:schemeClr val="tx1"/>
                    </a:solidFill>
                    <a:effectLst/>
                    <a:latin typeface="Arial" charset="0"/>
                  </a:endParaRPr>
                </a:p>
              </p:txBody>
            </p:sp>
            <p:sp>
              <p:nvSpPr>
                <p:cNvPr id="7" name="箭头: 下 6">
                  <a:extLst>
                    <a:ext uri="{FF2B5EF4-FFF2-40B4-BE49-F238E27FC236}">
                      <a16:creationId xmlns:a16="http://schemas.microsoft.com/office/drawing/2014/main" id="{118A91B3-8ABA-453B-8FAD-07B639738776}"/>
                    </a:ext>
                  </a:extLst>
                </p:cNvPr>
                <p:cNvSpPr/>
                <p:nvPr/>
              </p:nvSpPr>
              <p:spPr bwMode="auto">
                <a:xfrm rot="10800000">
                  <a:off x="7086600" y="1380331"/>
                  <a:ext cx="228600" cy="687388"/>
                </a:xfrm>
                <a:prstGeom prst="downArrow">
                  <a:avLst/>
                </a:prstGeom>
                <a:solidFill>
                  <a:srgbClr val="C00000"/>
                </a:solidFill>
                <a:ln w="6350" cap="flat" cmpd="sng" algn="ctr">
                  <a:solidFill>
                    <a:srgbClr val="C00000"/>
                  </a:solidFill>
                  <a:prstDash val="solid"/>
                  <a:round/>
                  <a:headEnd type="triangle" w="sm" len="lg"/>
                  <a:tailEnd type="triangle" w="sm" len="lg"/>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3400" b="0" i="0" u="sng" strike="noStrike" cap="none" normalizeH="0" baseline="0">
                    <a:ln>
                      <a:noFill/>
                    </a:ln>
                    <a:solidFill>
                      <a:schemeClr val="tx1"/>
                    </a:solidFill>
                    <a:effectLst/>
                    <a:latin typeface="Arial" charset="0"/>
                  </a:endParaRPr>
                </a:p>
              </p:txBody>
            </p:sp>
            <p:sp>
              <p:nvSpPr>
                <p:cNvPr id="8" name="箭头: 下 7">
                  <a:extLst>
                    <a:ext uri="{FF2B5EF4-FFF2-40B4-BE49-F238E27FC236}">
                      <a16:creationId xmlns:a16="http://schemas.microsoft.com/office/drawing/2014/main" id="{D433444C-4511-45D3-D468-9ED18887519A}"/>
                    </a:ext>
                  </a:extLst>
                </p:cNvPr>
                <p:cNvSpPr/>
                <p:nvPr/>
              </p:nvSpPr>
              <p:spPr bwMode="auto">
                <a:xfrm>
                  <a:off x="7086600" y="2463546"/>
                  <a:ext cx="228600" cy="687388"/>
                </a:xfrm>
                <a:prstGeom prst="downArrow">
                  <a:avLst/>
                </a:prstGeom>
                <a:solidFill>
                  <a:srgbClr val="C00000"/>
                </a:solidFill>
                <a:ln w="6350" cap="flat" cmpd="sng" algn="ctr">
                  <a:solidFill>
                    <a:srgbClr val="C00000"/>
                  </a:solidFill>
                  <a:prstDash val="solid"/>
                  <a:round/>
                  <a:headEnd type="triangle" w="sm" len="lg"/>
                  <a:tailEnd type="triangle" w="sm" len="lg"/>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3400" b="0" i="0" u="sng" strike="noStrike" cap="none" normalizeH="0" baseline="0">
                    <a:ln>
                      <a:noFill/>
                    </a:ln>
                    <a:solidFill>
                      <a:schemeClr val="tx1"/>
                    </a:solidFill>
                    <a:effectLst/>
                    <a:latin typeface="Arial" charset="0"/>
                  </a:endParaRPr>
                </a:p>
              </p:txBody>
            </p:sp>
            <p:sp>
              <p:nvSpPr>
                <p:cNvPr id="14" name="文本框 13">
                  <a:extLst>
                    <a:ext uri="{FF2B5EF4-FFF2-40B4-BE49-F238E27FC236}">
                      <a16:creationId xmlns:a16="http://schemas.microsoft.com/office/drawing/2014/main" id="{7B4315BF-D853-F20C-E9DA-A2DCC7D045A7}"/>
                    </a:ext>
                  </a:extLst>
                </p:cNvPr>
                <p:cNvSpPr txBox="1"/>
                <p:nvPr/>
              </p:nvSpPr>
              <p:spPr>
                <a:xfrm>
                  <a:off x="7543800" y="2550467"/>
                  <a:ext cx="4644956" cy="461665"/>
                </a:xfrm>
                <a:prstGeom prst="rect">
                  <a:avLst/>
                </a:prstGeom>
                <a:noFill/>
              </p:spPr>
              <p:txBody>
                <a:bodyPr wrap="square">
                  <a:spAutoFit/>
                </a:bodyPr>
                <a:lstStyle/>
                <a:p>
                  <a:pPr>
                    <a:buNone/>
                  </a:pPr>
                  <a:r>
                    <a:rPr lang="zh-CN" altLang="en-US" sz="2400" dirty="0"/>
                    <a:t>🐢</a:t>
                  </a:r>
                  <a:endParaRPr lang="zh-CN" altLang="en-US" dirty="0"/>
                </a:p>
              </p:txBody>
            </p:sp>
            <p:sp>
              <p:nvSpPr>
                <p:cNvPr id="16" name="文本框 15">
                  <a:extLst>
                    <a:ext uri="{FF2B5EF4-FFF2-40B4-BE49-F238E27FC236}">
                      <a16:creationId xmlns:a16="http://schemas.microsoft.com/office/drawing/2014/main" id="{D4E13DB1-FE65-9B86-034E-FDFC0DF02C8C}"/>
                    </a:ext>
                  </a:extLst>
                </p:cNvPr>
                <p:cNvSpPr txBox="1"/>
                <p:nvPr/>
              </p:nvSpPr>
              <p:spPr>
                <a:xfrm>
                  <a:off x="6727861" y="2067719"/>
                  <a:ext cx="6094378" cy="461665"/>
                </a:xfrm>
                <a:prstGeom prst="rect">
                  <a:avLst/>
                </a:prstGeom>
                <a:noFill/>
              </p:spPr>
              <p:txBody>
                <a:bodyPr wrap="square">
                  <a:spAutoFit/>
                </a:bodyPr>
                <a:lstStyle/>
                <a:p>
                  <a:pPr>
                    <a:buNone/>
                  </a:pPr>
                  <a:r>
                    <a:rPr lang="zh-CN" altLang="en-US" sz="2400" dirty="0"/>
                    <a:t>⚡️🎯</a:t>
                  </a:r>
                  <a:endParaRPr lang="zh-CN" altLang="en-US" dirty="0"/>
                </a:p>
              </p:txBody>
            </p:sp>
            <p:sp>
              <p:nvSpPr>
                <p:cNvPr id="18" name="文本框 17">
                  <a:extLst>
                    <a:ext uri="{FF2B5EF4-FFF2-40B4-BE49-F238E27FC236}">
                      <a16:creationId xmlns:a16="http://schemas.microsoft.com/office/drawing/2014/main" id="{B02A8091-740B-8058-E075-4845B3721B7A}"/>
                    </a:ext>
                  </a:extLst>
                </p:cNvPr>
                <p:cNvSpPr txBox="1"/>
                <p:nvPr/>
              </p:nvSpPr>
              <p:spPr>
                <a:xfrm>
                  <a:off x="7543800" y="1593504"/>
                  <a:ext cx="6094378" cy="461665"/>
                </a:xfrm>
                <a:prstGeom prst="rect">
                  <a:avLst/>
                </a:prstGeom>
                <a:noFill/>
              </p:spPr>
              <p:txBody>
                <a:bodyPr wrap="square">
                  <a:spAutoFit/>
                </a:bodyPr>
                <a:lstStyle/>
                <a:p>
                  <a:pPr>
                    <a:buNone/>
                  </a:pPr>
                  <a:r>
                    <a:rPr lang="zh-CN" altLang="en-US" sz="2400" dirty="0"/>
                    <a:t>🔥</a:t>
                  </a:r>
                  <a:endParaRPr lang="zh-CN" altLang="en-US" dirty="0"/>
                </a:p>
              </p:txBody>
            </p:sp>
          </p:grpSp>
          <p:sp>
            <p:nvSpPr>
              <p:cNvPr id="21" name="文本框 20">
                <a:extLst>
                  <a:ext uri="{FF2B5EF4-FFF2-40B4-BE49-F238E27FC236}">
                    <a16:creationId xmlns:a16="http://schemas.microsoft.com/office/drawing/2014/main" id="{62512D5E-310E-4365-4F30-1FBF836FC34E}"/>
                  </a:ext>
                </a:extLst>
              </p:cNvPr>
              <p:cNvSpPr txBox="1"/>
              <p:nvPr/>
            </p:nvSpPr>
            <p:spPr>
              <a:xfrm>
                <a:off x="2659380" y="2529925"/>
                <a:ext cx="2133600" cy="399283"/>
              </a:xfrm>
              <a:prstGeom prst="rect">
                <a:avLst/>
              </a:prstGeom>
              <a:noFill/>
            </p:spPr>
            <p:txBody>
              <a:bodyPr wrap="square">
                <a:spAutoFit/>
              </a:bodyPr>
              <a:lstStyle/>
              <a:p>
                <a:pPr>
                  <a:buNone/>
                </a:pPr>
                <a:r>
                  <a:rPr lang="en-US" altLang="zh-CN" sz="2000" dirty="0"/>
                  <a:t>Setpoint</a:t>
                </a:r>
                <a:endParaRPr lang="zh-CN" altLang="en-US" sz="2000" dirty="0"/>
              </a:p>
            </p:txBody>
          </p:sp>
        </p:grpSp>
      </p:grpSp>
    </p:spTree>
    <p:extLst>
      <p:ext uri="{BB962C8B-B14F-4D97-AF65-F5344CB8AC3E}">
        <p14:creationId xmlns:p14="http://schemas.microsoft.com/office/powerpoint/2010/main" val="3365892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56B97-AAEA-7FA5-C72B-27B96CF7003E}"/>
              </a:ext>
            </a:extLst>
          </p:cNvPr>
          <p:cNvSpPr>
            <a:spLocks noGrp="1"/>
          </p:cNvSpPr>
          <p:nvPr>
            <p:ph type="title"/>
          </p:nvPr>
        </p:nvSpPr>
        <p:spPr/>
        <p:txBody>
          <a:bodyPr/>
          <a:lstStyle/>
          <a:p>
            <a:r>
              <a:rPr lang="en-US" dirty="0"/>
              <a:t>Problem Formulation</a:t>
            </a:r>
          </a:p>
        </p:txBody>
      </p:sp>
      <p:pic>
        <p:nvPicPr>
          <p:cNvPr id="7" name="Content Placeholder 6">
            <a:extLst>
              <a:ext uri="{FF2B5EF4-FFF2-40B4-BE49-F238E27FC236}">
                <a16:creationId xmlns:a16="http://schemas.microsoft.com/office/drawing/2014/main" id="{43DA537E-3BAF-9B71-81EE-1175B7B3BA06}"/>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69938" y="3278465"/>
            <a:ext cx="7745413" cy="955945"/>
          </a:xfrm>
        </p:spPr>
      </p:pic>
      <p:pic>
        <p:nvPicPr>
          <p:cNvPr id="9" name="Picture 8" descr="A black text on a white background&#10;&#10;AI-generated content may be incorrect.">
            <a:extLst>
              <a:ext uri="{FF2B5EF4-FFF2-40B4-BE49-F238E27FC236}">
                <a16:creationId xmlns:a16="http://schemas.microsoft.com/office/drawing/2014/main" id="{F8184202-BD05-1408-7198-430281BE5F7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6800" y="4449762"/>
            <a:ext cx="5833213" cy="955944"/>
          </a:xfrm>
          <a:prstGeom prst="rect">
            <a:avLst/>
          </a:prstGeom>
        </p:spPr>
      </p:pic>
      <p:sp>
        <p:nvSpPr>
          <p:cNvPr id="11" name="Rectangle: Rounded Corners 10">
            <a:extLst>
              <a:ext uri="{FF2B5EF4-FFF2-40B4-BE49-F238E27FC236}">
                <a16:creationId xmlns:a16="http://schemas.microsoft.com/office/drawing/2014/main" id="{0D3FC340-AC62-60BE-09F6-FD5A29486A51}"/>
              </a:ext>
            </a:extLst>
          </p:cNvPr>
          <p:cNvSpPr/>
          <p:nvPr/>
        </p:nvSpPr>
        <p:spPr bwMode="auto">
          <a:xfrm>
            <a:off x="778669" y="3116261"/>
            <a:ext cx="7727950" cy="2667000"/>
          </a:xfrm>
          <a:prstGeom prst="roundRect">
            <a:avLst/>
          </a:prstGeom>
          <a:noFill/>
          <a:ln w="6350" cap="flat" cmpd="sng" algn="ctr">
            <a:solidFill>
              <a:srgbClr val="C00000"/>
            </a:solidFill>
            <a:prstDash val="solid"/>
            <a:round/>
            <a:headEnd type="triangle" w="sm" len="lg"/>
            <a:tailEnd type="triangle" w="sm" len="lg"/>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3400" b="0" i="0" u="sng" strike="noStrike" cap="none" normalizeH="0" baseline="0">
              <a:ln>
                <a:noFill/>
              </a:ln>
              <a:solidFill>
                <a:schemeClr val="tx1"/>
              </a:solidFill>
              <a:effectLst/>
              <a:latin typeface="Arial" charset="0"/>
            </a:endParaRPr>
          </a:p>
        </p:txBody>
      </p:sp>
      <p:sp>
        <p:nvSpPr>
          <p:cNvPr id="12" name="Arrow: Down 11">
            <a:extLst>
              <a:ext uri="{FF2B5EF4-FFF2-40B4-BE49-F238E27FC236}">
                <a16:creationId xmlns:a16="http://schemas.microsoft.com/office/drawing/2014/main" id="{B01659F2-A445-9645-0F3C-287DA1008308}"/>
              </a:ext>
            </a:extLst>
          </p:cNvPr>
          <p:cNvSpPr/>
          <p:nvPr/>
        </p:nvSpPr>
        <p:spPr bwMode="auto">
          <a:xfrm>
            <a:off x="5300366" y="2646313"/>
            <a:ext cx="155214" cy="853150"/>
          </a:xfrm>
          <a:prstGeom prst="downArrow">
            <a:avLst/>
          </a:prstGeom>
          <a:solidFill>
            <a:srgbClr val="961C1F"/>
          </a:solidFill>
          <a:ln w="6350" cap="flat" cmpd="sng" algn="ctr">
            <a:solidFill>
              <a:srgbClr val="961C1F"/>
            </a:solidFill>
            <a:prstDash val="solid"/>
            <a:round/>
            <a:headEnd type="triangle" w="sm" len="lg"/>
            <a:tailEnd type="triangle" w="sm" len="lg"/>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3400" b="0" i="0" u="sng" strike="noStrike" cap="none" normalizeH="0" baseline="0">
              <a:ln>
                <a:noFill/>
              </a:ln>
              <a:solidFill>
                <a:schemeClr val="tx1"/>
              </a:solidFill>
              <a:effectLst/>
              <a:latin typeface="Arial" charset="0"/>
            </a:endParaRPr>
          </a:p>
        </p:txBody>
      </p:sp>
      <p:sp>
        <p:nvSpPr>
          <p:cNvPr id="13" name="Content Placeholder 6">
            <a:extLst>
              <a:ext uri="{FF2B5EF4-FFF2-40B4-BE49-F238E27FC236}">
                <a16:creationId xmlns:a16="http://schemas.microsoft.com/office/drawing/2014/main" id="{B3FD66B3-BEBE-1DFC-47F2-C556F060BB5F}"/>
              </a:ext>
            </a:extLst>
          </p:cNvPr>
          <p:cNvSpPr txBox="1">
            <a:spLocks/>
          </p:cNvSpPr>
          <p:nvPr/>
        </p:nvSpPr>
        <p:spPr bwMode="auto">
          <a:xfrm>
            <a:off x="243776" y="1983017"/>
            <a:ext cx="4328224" cy="1784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176" tIns="45588" rIns="91176" bIns="45588" numCol="1" anchor="t" anchorCtr="0" compatLnSpc="1">
            <a:prstTxWarp prst="textNoShape">
              <a:avLst/>
            </a:prstTxWarp>
          </a:bodyPr>
          <a:lstStyle>
            <a:lvl1pPr marL="342900" indent="-342900" algn="l" rtl="0" eaLnBrk="0" fontAlgn="base" hangingPunct="0">
              <a:spcBef>
                <a:spcPct val="20000"/>
              </a:spcBef>
              <a:spcAft>
                <a:spcPct val="0"/>
              </a:spcAft>
              <a:buClr>
                <a:srgbClr val="961C1F"/>
              </a:buClr>
              <a:buFont typeface="Wingdings" pitchFamily="2" charset="2"/>
              <a:buChar char="§"/>
              <a:defRPr sz="2800">
                <a:solidFill>
                  <a:schemeClr val="tx1"/>
                </a:solidFill>
                <a:latin typeface="+mn-lt"/>
                <a:ea typeface="+mn-ea"/>
                <a:cs typeface="+mn-cs"/>
              </a:defRPr>
            </a:lvl1pPr>
            <a:lvl2pPr marL="730250" indent="-284163" algn="l" rtl="0" eaLnBrk="0" fontAlgn="base" hangingPunct="0">
              <a:spcBef>
                <a:spcPct val="20000"/>
              </a:spcBef>
              <a:spcAft>
                <a:spcPct val="0"/>
              </a:spcAft>
              <a:buClr>
                <a:srgbClr val="961C1F"/>
              </a:buClr>
              <a:buFont typeface="Wingdings" pitchFamily="2" charset="2"/>
              <a:buChar char="§"/>
              <a:defRPr sz="2400">
                <a:solidFill>
                  <a:schemeClr val="tx1"/>
                </a:solidFill>
                <a:latin typeface="+mn-lt"/>
              </a:defRPr>
            </a:lvl2pPr>
            <a:lvl3pPr marL="1062038" indent="-228600" algn="l" rtl="0" eaLnBrk="0" fontAlgn="base" hangingPunct="0">
              <a:spcBef>
                <a:spcPct val="20000"/>
              </a:spcBef>
              <a:spcAft>
                <a:spcPct val="0"/>
              </a:spcAft>
              <a:buClr>
                <a:srgbClr val="961C1F"/>
              </a:buClr>
              <a:buFont typeface="Wingdings" pitchFamily="2" charset="2"/>
              <a:buChar char="§"/>
              <a:defRPr sz="2000">
                <a:solidFill>
                  <a:schemeClr val="tx1"/>
                </a:solidFill>
                <a:latin typeface="+mn-lt"/>
              </a:defRPr>
            </a:lvl3pPr>
            <a:lvl4pPr marL="1392238" indent="-228600" algn="l" rtl="0" eaLnBrk="0" fontAlgn="base" hangingPunct="0">
              <a:spcBef>
                <a:spcPct val="20000"/>
              </a:spcBef>
              <a:spcAft>
                <a:spcPct val="0"/>
              </a:spcAft>
              <a:buClr>
                <a:srgbClr val="961C1F"/>
              </a:buClr>
              <a:buFont typeface="Wingdings" pitchFamily="2" charset="2"/>
              <a:buChar char="§"/>
              <a:defRPr sz="1800">
                <a:solidFill>
                  <a:schemeClr val="tx1"/>
                </a:solidFill>
                <a:latin typeface="+mn-lt"/>
              </a:defRPr>
            </a:lvl4pPr>
            <a:lvl5pPr marL="1722438" indent="-228600" algn="l" rtl="0" eaLnBrk="0" fontAlgn="base" hangingPunct="0">
              <a:spcBef>
                <a:spcPct val="20000"/>
              </a:spcBef>
              <a:spcAft>
                <a:spcPct val="0"/>
              </a:spcAft>
              <a:buClr>
                <a:srgbClr val="961C1F"/>
              </a:buClr>
              <a:buFont typeface="Wingdings" pitchFamily="2" charset="2"/>
              <a:buChar char="§"/>
              <a:defRPr sz="1600">
                <a:solidFill>
                  <a:schemeClr val="tx1"/>
                </a:solidFill>
                <a:latin typeface="+mn-lt"/>
              </a:defRPr>
            </a:lvl5pPr>
            <a:lvl6pPr marL="2179638" indent="-228600" algn="l" rtl="0" eaLnBrk="0" fontAlgn="base" hangingPunct="0">
              <a:spcBef>
                <a:spcPct val="20000"/>
              </a:spcBef>
              <a:spcAft>
                <a:spcPct val="0"/>
              </a:spcAft>
              <a:buClr>
                <a:schemeClr val="tx1"/>
              </a:buClr>
              <a:buChar char="•"/>
              <a:defRPr sz="1400">
                <a:solidFill>
                  <a:schemeClr val="tx1"/>
                </a:solidFill>
                <a:latin typeface="+mn-lt"/>
              </a:defRPr>
            </a:lvl6pPr>
            <a:lvl7pPr marL="2636838" indent="-228600" algn="l" rtl="0" eaLnBrk="0" fontAlgn="base" hangingPunct="0">
              <a:spcBef>
                <a:spcPct val="20000"/>
              </a:spcBef>
              <a:spcAft>
                <a:spcPct val="0"/>
              </a:spcAft>
              <a:buClr>
                <a:schemeClr val="tx1"/>
              </a:buClr>
              <a:buChar char="•"/>
              <a:defRPr sz="1400">
                <a:solidFill>
                  <a:schemeClr val="tx1"/>
                </a:solidFill>
                <a:latin typeface="+mn-lt"/>
              </a:defRPr>
            </a:lvl7pPr>
            <a:lvl8pPr marL="3094038" indent="-228600" algn="l" rtl="0" eaLnBrk="0" fontAlgn="base" hangingPunct="0">
              <a:spcBef>
                <a:spcPct val="20000"/>
              </a:spcBef>
              <a:spcAft>
                <a:spcPct val="0"/>
              </a:spcAft>
              <a:buClr>
                <a:schemeClr val="tx1"/>
              </a:buClr>
              <a:buChar char="•"/>
              <a:defRPr sz="1400">
                <a:solidFill>
                  <a:schemeClr val="tx1"/>
                </a:solidFill>
                <a:latin typeface="+mn-lt"/>
              </a:defRPr>
            </a:lvl8pPr>
            <a:lvl9pPr marL="3551238" indent="-228600" algn="l" rtl="0" eaLnBrk="0" fontAlgn="base" hangingPunct="0">
              <a:spcBef>
                <a:spcPct val="20000"/>
              </a:spcBef>
              <a:spcAft>
                <a:spcPct val="0"/>
              </a:spcAft>
              <a:buClr>
                <a:schemeClr val="tx1"/>
              </a:buClr>
              <a:buChar char="•"/>
              <a:defRPr sz="1400">
                <a:solidFill>
                  <a:schemeClr val="tx1"/>
                </a:solidFill>
                <a:latin typeface="+mn-lt"/>
              </a:defRPr>
            </a:lvl9pPr>
          </a:lstStyle>
          <a:p>
            <a:pPr marL="833438" lvl="2" indent="0">
              <a:buFont typeface="Wingdings" pitchFamily="2" charset="2"/>
              <a:buNone/>
            </a:pPr>
            <a:endParaRPr lang="en-US" kern="0" dirty="0"/>
          </a:p>
          <a:p>
            <a:pPr lvl="1"/>
            <a:r>
              <a:rPr lang="en-US" sz="2000" kern="0" dirty="0"/>
              <a:t>Control Objective: </a:t>
            </a:r>
          </a:p>
          <a:p>
            <a:pPr lvl="2"/>
            <a:endParaRPr lang="en-US" kern="0" dirty="0"/>
          </a:p>
          <a:p>
            <a:pPr lvl="1"/>
            <a:endParaRPr lang="en-US" kern="0" dirty="0"/>
          </a:p>
          <a:p>
            <a:pPr lvl="1"/>
            <a:endParaRPr lang="en-US" kern="0" dirty="0"/>
          </a:p>
          <a:p>
            <a:pPr lvl="1"/>
            <a:endParaRPr lang="en-US" kern="0" dirty="0"/>
          </a:p>
          <a:p>
            <a:pPr lvl="1"/>
            <a:endParaRPr lang="en-US" kern="0" dirty="0"/>
          </a:p>
          <a:p>
            <a:pPr lvl="1"/>
            <a:endParaRPr lang="en-US" kern="0" dirty="0"/>
          </a:p>
          <a:p>
            <a:pPr lvl="1"/>
            <a:endParaRPr lang="en-US" kern="0" dirty="0"/>
          </a:p>
          <a:p>
            <a:pPr lvl="1"/>
            <a:endParaRPr lang="en-US" kern="0" dirty="0"/>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2E213F8A-CAF4-B800-73BD-7E5BE897A7DC}"/>
                  </a:ext>
                </a:extLst>
              </p:cNvPr>
              <p:cNvSpPr txBox="1"/>
              <p:nvPr/>
            </p:nvSpPr>
            <p:spPr>
              <a:xfrm>
                <a:off x="3563937" y="2029011"/>
                <a:ext cx="4933951" cy="646331"/>
              </a:xfrm>
              <a:prstGeom prst="rect">
                <a:avLst/>
              </a:prstGeom>
              <a:noFill/>
            </p:spPr>
            <p:txBody>
              <a:bodyPr wrap="square" rtlCol="0">
                <a:spAutoFit/>
              </a:bodyPr>
              <a:lstStyle/>
              <a:p>
                <a:pPr>
                  <a:buNone/>
                </a:pPr>
                <a:r>
                  <a:rPr lang="en-US" sz="1800" dirty="0"/>
                  <a:t>The difference between setpoint </a:t>
                </a:r>
                <a14:m>
                  <m:oMath xmlns:m="http://schemas.openxmlformats.org/officeDocument/2006/math">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𝑃</m:t>
                        </m:r>
                      </m:e>
                      <m:sub>
                        <m:r>
                          <a:rPr lang="en-US" sz="1800" b="0" i="1" smtClean="0">
                            <a:latin typeface="Cambria Math" panose="02040503050406030204" pitchFamily="18" charset="0"/>
                          </a:rPr>
                          <m:t>𝑠</m:t>
                        </m:r>
                      </m:sub>
                    </m:sSub>
                  </m:oMath>
                </a14:m>
                <a:r>
                  <a:rPr lang="en-US" sz="1800" dirty="0"/>
                  <a:t> and current power value </a:t>
                </a:r>
                <a14:m>
                  <m:oMath xmlns:m="http://schemas.openxmlformats.org/officeDocument/2006/math">
                    <m:r>
                      <a:rPr lang="en-US" sz="1800" i="1" dirty="0" smtClean="0">
                        <a:latin typeface="Cambria Math" panose="02040503050406030204" pitchFamily="18" charset="0"/>
                      </a:rPr>
                      <m:t>𝑝</m:t>
                    </m:r>
                    <m:r>
                      <a:rPr lang="en-US" sz="1800" i="1" dirty="0" smtClean="0">
                        <a:latin typeface="Cambria Math" panose="02040503050406030204" pitchFamily="18" charset="0"/>
                      </a:rPr>
                      <m:t>(</m:t>
                    </m:r>
                    <m:r>
                      <a:rPr lang="en-US" sz="1800" i="1" dirty="0" smtClean="0">
                        <a:latin typeface="Cambria Math" panose="02040503050406030204" pitchFamily="18" charset="0"/>
                      </a:rPr>
                      <m:t>𝑘</m:t>
                    </m:r>
                    <m:r>
                      <a:rPr lang="en-US" sz="1800" i="1" dirty="0" smtClean="0">
                        <a:latin typeface="Cambria Math" panose="02040503050406030204" pitchFamily="18" charset="0"/>
                      </a:rPr>
                      <m:t>)</m:t>
                    </m:r>
                  </m:oMath>
                </a14:m>
                <a:endParaRPr lang="en-US" sz="1800" dirty="0"/>
              </a:p>
            </p:txBody>
          </p:sp>
        </mc:Choice>
        <mc:Fallback xmlns="">
          <p:sp>
            <p:nvSpPr>
              <p:cNvPr id="16" name="TextBox 15">
                <a:extLst>
                  <a:ext uri="{FF2B5EF4-FFF2-40B4-BE49-F238E27FC236}">
                    <a16:creationId xmlns:a16="http://schemas.microsoft.com/office/drawing/2014/main" id="{2E213F8A-CAF4-B800-73BD-7E5BE897A7DC}"/>
                  </a:ext>
                </a:extLst>
              </p:cNvPr>
              <p:cNvSpPr txBox="1">
                <a:spLocks noRot="1" noChangeAspect="1" noMove="1" noResize="1" noEditPoints="1" noAdjustHandles="1" noChangeArrowheads="1" noChangeShapeType="1" noTextEdit="1"/>
              </p:cNvSpPr>
              <p:nvPr/>
            </p:nvSpPr>
            <p:spPr>
              <a:xfrm>
                <a:off x="3563937" y="2029011"/>
                <a:ext cx="4933951" cy="646331"/>
              </a:xfrm>
              <a:prstGeom prst="rect">
                <a:avLst/>
              </a:prstGeom>
              <a:blipFill>
                <a:blip r:embed="rId5"/>
                <a:stretch>
                  <a:fillRect l="-1112" t="-5660" r="-1607" b="-14151"/>
                </a:stretch>
              </a:blipFill>
            </p:spPr>
            <p:txBody>
              <a:bodyPr/>
              <a:lstStyle/>
              <a:p>
                <a:r>
                  <a:rPr lang="en-US">
                    <a:noFill/>
                  </a:rPr>
                  <a:t> </a:t>
                </a:r>
              </a:p>
            </p:txBody>
          </p:sp>
        </mc:Fallback>
      </mc:AlternateContent>
      <p:sp>
        <p:nvSpPr>
          <p:cNvPr id="3" name="矩形 2">
            <a:extLst>
              <a:ext uri="{FF2B5EF4-FFF2-40B4-BE49-F238E27FC236}">
                <a16:creationId xmlns:a16="http://schemas.microsoft.com/office/drawing/2014/main" id="{D7AAF122-8993-62E8-D9D2-75E0B1E160FF}"/>
              </a:ext>
            </a:extLst>
          </p:cNvPr>
          <p:cNvSpPr/>
          <p:nvPr/>
        </p:nvSpPr>
        <p:spPr bwMode="auto">
          <a:xfrm>
            <a:off x="6416414" y="3289955"/>
            <a:ext cx="1888331" cy="955944"/>
          </a:xfrm>
          <a:prstGeom prst="rect">
            <a:avLst/>
          </a:prstGeom>
          <a:solidFill>
            <a:schemeClr val="bg1"/>
          </a:solidFill>
          <a:ln w="6350" cap="flat" cmpd="sng" algn="ctr">
            <a:solidFill>
              <a:schemeClr val="bg1"/>
            </a:solidFill>
            <a:prstDash val="solid"/>
            <a:round/>
            <a:headEnd type="triangle" w="sm" len="lg"/>
            <a:tailEnd type="triangle" w="sm" len="lg"/>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3400" b="0" i="0" u="sng" strike="noStrike" cap="none" normalizeH="0" baseline="0">
              <a:ln>
                <a:noFill/>
              </a:ln>
              <a:solidFill>
                <a:schemeClr val="tx1"/>
              </a:solidFill>
              <a:effectLst/>
              <a:latin typeface="Arial" charset="0"/>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B4B5A8D2-05BE-BBA1-F901-15EEB51F2F1A}"/>
                  </a:ext>
                </a:extLst>
              </p:cNvPr>
              <p:cNvSpPr txBox="1"/>
              <p:nvPr/>
            </p:nvSpPr>
            <p:spPr>
              <a:xfrm>
                <a:off x="5882486" y="3232652"/>
                <a:ext cx="2956186" cy="1070549"/>
              </a:xfrm>
              <a:prstGeom prst="rect">
                <a:avLst/>
              </a:prstGeom>
              <a:noFill/>
            </p:spPr>
            <p:txBody>
              <a:bodyPr wrap="square" rtlCol="0">
                <a:spAutoFit/>
              </a:bodyPr>
              <a:lstStyle/>
              <a:p>
                <a:pPr>
                  <a:buNone/>
                </a:pPr>
                <a14:m>
                  <m:oMathPara xmlns:m="http://schemas.openxmlformats.org/officeDocument/2006/math">
                    <m:oMathParaPr>
                      <m:jc m:val="centerGroup"/>
                    </m:oMathParaPr>
                    <m:oMath xmlns:m="http://schemas.openxmlformats.org/officeDocument/2006/math">
                      <m:r>
                        <a:rPr lang="en-US" altLang="zh-CN" sz="2000" b="0" i="1" smtClean="0">
                          <a:latin typeface="Cambria Math" panose="02040503050406030204" pitchFamily="18" charset="0"/>
                        </a:rPr>
                        <m:t>𝑢</m:t>
                      </m:r>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𝑘</m:t>
                          </m:r>
                        </m:e>
                      </m:d>
                      <m:r>
                        <a:rPr lang="en-US" altLang="zh-CN" sz="2000" b="0" i="1" smtClean="0">
                          <a:latin typeface="Cambria Math" panose="02040503050406030204" pitchFamily="18" charset="0"/>
                        </a:rPr>
                        <m:t>=</m:t>
                      </m:r>
                      <m:d>
                        <m:dPr>
                          <m:begChr m:val="["/>
                          <m:endChr m:val="]"/>
                          <m:ctrlPr>
                            <a:rPr lang="en-US" altLang="zh-CN" sz="2000" b="0" i="1" smtClean="0">
                              <a:latin typeface="Cambria Math" panose="02040503050406030204" pitchFamily="18" charset="0"/>
                            </a:rPr>
                          </m:ctrlPr>
                        </m:dPr>
                        <m:e>
                          <m:eqArr>
                            <m:eqArrPr>
                              <m:ctrlPr>
                                <a:rPr lang="en-US" altLang="zh-CN" sz="2000" b="0" i="1" smtClean="0">
                                  <a:latin typeface="Cambria Math" panose="02040503050406030204" pitchFamily="18" charset="0"/>
                                </a:rPr>
                              </m:ctrlPr>
                            </m:eqArr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𝑓</m:t>
                                  </m:r>
                                </m:e>
                                <m:sub>
                                  <m:r>
                                    <a:rPr lang="en-US" altLang="zh-CN" sz="2000" b="0" i="1" smtClean="0">
                                      <a:latin typeface="Cambria Math" panose="02040503050406030204" pitchFamily="18" charset="0"/>
                                    </a:rPr>
                                    <m:t>𝑔</m:t>
                                  </m:r>
                                  <m:r>
                                    <a:rPr lang="en-US" altLang="zh-CN" sz="2000" b="0" i="1" smtClean="0">
                                      <a:latin typeface="Cambria Math" panose="02040503050406030204" pitchFamily="18" charset="0"/>
                                    </a:rPr>
                                    <m:t>,1</m:t>
                                  </m:r>
                                </m:sub>
                              </m:sSub>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𝑘</m:t>
                                  </m:r>
                                </m:e>
                              </m:d>
                              <m:r>
                                <a:rPr lang="en-US" altLang="zh-CN" sz="2000" b="0" i="1" smtClean="0">
                                  <a:latin typeface="Cambria Math" panose="02040503050406030204" pitchFamily="18" charset="0"/>
                                </a:rPr>
                                <m:t>,</m:t>
                              </m:r>
                            </m:e>
                            <m:e>
                              <m:r>
                                <a:rPr lang="en-US" altLang="zh-CN" sz="2000" b="0" i="1" smtClean="0">
                                  <a:latin typeface="Cambria Math" panose="02040503050406030204" pitchFamily="18" charset="0"/>
                                </a:rPr>
                                <m:t>…</m:t>
                              </m:r>
                            </m:e>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𝑓</m:t>
                                  </m:r>
                                </m:e>
                                <m:sub>
                                  <m:r>
                                    <a:rPr lang="en-US" altLang="zh-CN" sz="2000" i="1">
                                      <a:latin typeface="Cambria Math" panose="02040503050406030204" pitchFamily="18" charset="0"/>
                                    </a:rPr>
                                    <m:t>𝑔</m:t>
                                  </m:r>
                                  <m:r>
                                    <a:rPr lang="en-US" altLang="zh-CN" sz="2000" i="1">
                                      <a:latin typeface="Cambria Math" panose="02040503050406030204" pitchFamily="18" charset="0"/>
                                    </a:rPr>
                                    <m:t>,</m:t>
                                  </m:r>
                                  <m:r>
                                    <a:rPr lang="en-US" altLang="zh-CN" sz="2000" b="0" i="1" smtClean="0">
                                      <a:latin typeface="Cambria Math" panose="02040503050406030204" pitchFamily="18" charset="0"/>
                                    </a:rPr>
                                    <m:t>𝑛</m:t>
                                  </m:r>
                                </m:sub>
                              </m:sSub>
                              <m:d>
                                <m:dPr>
                                  <m:ctrlPr>
                                    <a:rPr lang="en-US" altLang="zh-CN" sz="2000" i="1">
                                      <a:latin typeface="Cambria Math" panose="02040503050406030204" pitchFamily="18" charset="0"/>
                                    </a:rPr>
                                  </m:ctrlPr>
                                </m:dPr>
                                <m:e>
                                  <m:r>
                                    <a:rPr lang="en-US" altLang="zh-CN" sz="2000" i="1">
                                      <a:latin typeface="Cambria Math" panose="02040503050406030204" pitchFamily="18" charset="0"/>
                                    </a:rPr>
                                    <m:t>𝑘</m:t>
                                  </m:r>
                                </m:e>
                              </m:d>
                              <m:r>
                                <a:rPr lang="en-US" altLang="zh-CN" sz="2000" i="1">
                                  <a:latin typeface="Cambria Math" panose="02040503050406030204" pitchFamily="18" charset="0"/>
                                </a:rPr>
                                <m:t>,</m:t>
                              </m:r>
                            </m:e>
                          </m:eqArr>
                        </m:e>
                      </m:d>
                    </m:oMath>
                  </m:oMathPara>
                </a14:m>
                <a:endParaRPr lang="zh-CN" altLang="en-US" sz="2000" dirty="0"/>
              </a:p>
            </p:txBody>
          </p:sp>
        </mc:Choice>
        <mc:Fallback xmlns="">
          <p:sp>
            <p:nvSpPr>
              <p:cNvPr id="4" name="文本框 3">
                <a:extLst>
                  <a:ext uri="{FF2B5EF4-FFF2-40B4-BE49-F238E27FC236}">
                    <a16:creationId xmlns:a16="http://schemas.microsoft.com/office/drawing/2014/main" id="{B4B5A8D2-05BE-BBA1-F901-15EEB51F2F1A}"/>
                  </a:ext>
                </a:extLst>
              </p:cNvPr>
              <p:cNvSpPr txBox="1">
                <a:spLocks noRot="1" noChangeAspect="1" noMove="1" noResize="1" noEditPoints="1" noAdjustHandles="1" noChangeArrowheads="1" noChangeShapeType="1" noTextEdit="1"/>
              </p:cNvSpPr>
              <p:nvPr/>
            </p:nvSpPr>
            <p:spPr>
              <a:xfrm>
                <a:off x="5882486" y="3232652"/>
                <a:ext cx="2956186" cy="1070549"/>
              </a:xfrm>
              <a:prstGeom prst="rect">
                <a:avLst/>
              </a:prstGeom>
              <a:blipFill>
                <a:blip r:embed="rId7"/>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3277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build="allAtOnce"/>
      <p:bldP spid="16" grpId="0"/>
      <p:bldP spid="3" grpId="0" animBg="1"/>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B6503-BF6E-B790-637C-BC686DA37C78}"/>
              </a:ext>
            </a:extLst>
          </p:cNvPr>
          <p:cNvSpPr>
            <a:spLocks noGrp="1"/>
          </p:cNvSpPr>
          <p:nvPr>
            <p:ph type="title"/>
          </p:nvPr>
        </p:nvSpPr>
        <p:spPr>
          <a:xfrm>
            <a:off x="769938" y="554038"/>
            <a:ext cx="7727950" cy="687387"/>
          </a:xfrm>
        </p:spPr>
        <p:txBody>
          <a:bodyPr wrap="square" anchor="t">
            <a:normAutofit/>
          </a:bodyPr>
          <a:lstStyle/>
          <a:p>
            <a:r>
              <a:rPr lang="en-US" dirty="0"/>
              <a:t>Proposed Solution</a:t>
            </a:r>
          </a:p>
        </p:txBody>
      </p:sp>
      <p:pic>
        <p:nvPicPr>
          <p:cNvPr id="4" name="Content Placeholder 8" descr="A diagram of a computer&#10;&#10;AI-generated content may be incorrect.">
            <a:extLst>
              <a:ext uri="{FF2B5EF4-FFF2-40B4-BE49-F238E27FC236}">
                <a16:creationId xmlns:a16="http://schemas.microsoft.com/office/drawing/2014/main" id="{9FD68E17-BAF9-68F2-FFC6-AB07205E72FF}"/>
              </a:ext>
            </a:extLst>
          </p:cNvPr>
          <p:cNvPicPr>
            <a:picLocks noGrp="1" noChangeAspect="1"/>
          </p:cNvPicPr>
          <p:nvPr/>
        </p:nvPicPr>
        <p:blipFill>
          <a:blip r:embed="rId3">
            <a:extLst>
              <a:ext uri="{28A0092B-C50C-407E-A947-70E740481C1C}">
                <a14:useLocalDpi xmlns:a14="http://schemas.microsoft.com/office/drawing/2010/main" val="0"/>
              </a:ext>
            </a:extLst>
          </a:blip>
          <a:stretch>
            <a:fillRect/>
          </a:stretch>
        </p:blipFill>
        <p:spPr bwMode="auto">
          <a:xfrm>
            <a:off x="450108" y="2329215"/>
            <a:ext cx="8341451" cy="3189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a:extLst>
              <a:ext uri="{FF2B5EF4-FFF2-40B4-BE49-F238E27FC236}">
                <a16:creationId xmlns:a16="http://schemas.microsoft.com/office/drawing/2014/main" id="{F76D7726-0252-8195-D3CC-CB07DFCF1E23}"/>
              </a:ext>
            </a:extLst>
          </p:cNvPr>
          <p:cNvSpPr/>
          <p:nvPr/>
        </p:nvSpPr>
        <p:spPr bwMode="auto">
          <a:xfrm>
            <a:off x="306883" y="2189018"/>
            <a:ext cx="2057400" cy="1219200"/>
          </a:xfrm>
          <a:prstGeom prst="rect">
            <a:avLst/>
          </a:prstGeom>
          <a:noFill/>
          <a:ln>
            <a:headEnd type="triangle" w="sm" len="lg"/>
            <a:tailEnd type="triangle" w="sm" len="lg"/>
          </a:ln>
        </p:spPr>
        <p:style>
          <a:lnRef idx="2">
            <a:schemeClr val="accent1"/>
          </a:lnRef>
          <a:fillRef idx="1">
            <a:schemeClr val="lt1"/>
          </a:fillRef>
          <a:effectRef idx="0">
            <a:schemeClr val="accent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3400" i="0" u="sng" strike="noStrike" cap="none" normalizeH="0" baseline="0" dirty="0">
              <a:ln>
                <a:noFill/>
              </a:ln>
              <a:solidFill>
                <a:schemeClr val="tx1"/>
              </a:solidFill>
              <a:effectLst/>
              <a:latin typeface="Arial" charset="0"/>
            </a:endParaRPr>
          </a:p>
        </p:txBody>
      </p:sp>
      <p:sp>
        <p:nvSpPr>
          <p:cNvPr id="9" name="Rectangle 8">
            <a:extLst>
              <a:ext uri="{FF2B5EF4-FFF2-40B4-BE49-F238E27FC236}">
                <a16:creationId xmlns:a16="http://schemas.microsoft.com/office/drawing/2014/main" id="{D2CB5866-7AD2-70D4-23ED-860FA2E0FF57}"/>
              </a:ext>
            </a:extLst>
          </p:cNvPr>
          <p:cNvSpPr/>
          <p:nvPr/>
        </p:nvSpPr>
        <p:spPr bwMode="auto">
          <a:xfrm>
            <a:off x="306883" y="3561196"/>
            <a:ext cx="1902917" cy="1219200"/>
          </a:xfrm>
          <a:prstGeom prst="rect">
            <a:avLst/>
          </a:prstGeom>
          <a:noFill/>
          <a:ln>
            <a:headEnd type="triangle" w="sm" len="lg"/>
            <a:tailEnd type="triangle" w="sm" len="lg"/>
          </a:ln>
        </p:spPr>
        <p:style>
          <a:lnRef idx="2">
            <a:schemeClr val="accent1"/>
          </a:lnRef>
          <a:fillRef idx="1">
            <a:schemeClr val="lt1"/>
          </a:fillRef>
          <a:effectRef idx="0">
            <a:schemeClr val="accent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3400" b="0" i="0" u="sng" strike="noStrike" cap="none" normalizeH="0" baseline="0">
              <a:ln>
                <a:noFill/>
              </a:ln>
              <a:solidFill>
                <a:schemeClr val="tx1"/>
              </a:solidFill>
              <a:effectLst/>
              <a:latin typeface="Arial" charset="0"/>
            </a:endParaRPr>
          </a:p>
        </p:txBody>
      </p:sp>
      <p:sp>
        <p:nvSpPr>
          <p:cNvPr id="10" name="Rectangle 9">
            <a:extLst>
              <a:ext uri="{FF2B5EF4-FFF2-40B4-BE49-F238E27FC236}">
                <a16:creationId xmlns:a16="http://schemas.microsoft.com/office/drawing/2014/main" id="{AB043211-6401-CA61-EFA0-682E0876A7C4}"/>
              </a:ext>
            </a:extLst>
          </p:cNvPr>
          <p:cNvSpPr/>
          <p:nvPr/>
        </p:nvSpPr>
        <p:spPr bwMode="auto">
          <a:xfrm>
            <a:off x="3618292" y="3200400"/>
            <a:ext cx="5075600" cy="1905000"/>
          </a:xfrm>
          <a:prstGeom prst="rect">
            <a:avLst/>
          </a:prstGeom>
          <a:noFill/>
          <a:ln>
            <a:headEnd type="triangle" w="sm" len="lg"/>
            <a:tailEnd type="triangle" w="sm" len="lg"/>
          </a:ln>
        </p:spPr>
        <p:style>
          <a:lnRef idx="2">
            <a:schemeClr val="accent1"/>
          </a:lnRef>
          <a:fillRef idx="1">
            <a:schemeClr val="lt1"/>
          </a:fillRef>
          <a:effectRef idx="0">
            <a:schemeClr val="accent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3400" b="0" i="0" u="sng" strike="noStrike" cap="none" normalizeH="0" baseline="0">
              <a:ln>
                <a:noFill/>
              </a:ln>
              <a:solidFill>
                <a:schemeClr val="tx1"/>
              </a:solidFill>
              <a:effectLst/>
              <a:latin typeface="Arial" charset="0"/>
            </a:endParaRPr>
          </a:p>
        </p:txBody>
      </p:sp>
      <p:sp>
        <p:nvSpPr>
          <p:cNvPr id="13" name="Rectangle 12">
            <a:extLst>
              <a:ext uri="{FF2B5EF4-FFF2-40B4-BE49-F238E27FC236}">
                <a16:creationId xmlns:a16="http://schemas.microsoft.com/office/drawing/2014/main" id="{DEA396B4-0FD5-6727-D36B-72AB42A3EE2A}"/>
              </a:ext>
            </a:extLst>
          </p:cNvPr>
          <p:cNvSpPr/>
          <p:nvPr/>
        </p:nvSpPr>
        <p:spPr bwMode="auto">
          <a:xfrm>
            <a:off x="2209800" y="3561196"/>
            <a:ext cx="1276189" cy="1219200"/>
          </a:xfrm>
          <a:prstGeom prst="rect">
            <a:avLst/>
          </a:prstGeom>
          <a:noFill/>
          <a:ln>
            <a:headEnd type="triangle" w="sm" len="lg"/>
            <a:tailEnd type="triangle" w="sm" len="lg"/>
          </a:ln>
        </p:spPr>
        <p:style>
          <a:lnRef idx="2">
            <a:schemeClr val="accent1"/>
          </a:lnRef>
          <a:fillRef idx="1">
            <a:schemeClr val="lt1"/>
          </a:fillRef>
          <a:effectRef idx="0">
            <a:schemeClr val="accent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3400" b="0" i="0" u="sng" strike="noStrike" cap="none" normalizeH="0" baseline="0">
              <a:ln>
                <a:noFill/>
              </a:ln>
              <a:solidFill>
                <a:schemeClr val="tx1"/>
              </a:solidFill>
              <a:effectLst/>
              <a:latin typeface="Arial" charset="0"/>
            </a:endParaRPr>
          </a:p>
        </p:txBody>
      </p:sp>
      <p:sp>
        <p:nvSpPr>
          <p:cNvPr id="5" name="对话气泡: 矩形 4">
            <a:extLst>
              <a:ext uri="{FF2B5EF4-FFF2-40B4-BE49-F238E27FC236}">
                <a16:creationId xmlns:a16="http://schemas.microsoft.com/office/drawing/2014/main" id="{FEDEC497-0AB2-7B6A-65D0-BEF57E97F6BA}"/>
              </a:ext>
            </a:extLst>
          </p:cNvPr>
          <p:cNvSpPr/>
          <p:nvPr/>
        </p:nvSpPr>
        <p:spPr bwMode="auto">
          <a:xfrm>
            <a:off x="1911962" y="1689717"/>
            <a:ext cx="1871863" cy="864103"/>
          </a:xfrm>
          <a:prstGeom prst="wedgeRectCallout">
            <a:avLst/>
          </a:prstGeom>
          <a:solidFill>
            <a:schemeClr val="accent5"/>
          </a:solidFill>
          <a:ln w="6350" cap="flat" cmpd="sng" algn="ctr">
            <a:solidFill>
              <a:schemeClr val="bg1"/>
            </a:solidFill>
            <a:prstDash val="solid"/>
            <a:round/>
            <a:headEnd type="triangle" w="sm" len="lg"/>
            <a:tailEnd type="triangle" w="sm" len="lg"/>
          </a:ln>
          <a:effectLst/>
        </p:spPr>
        <p:txBody>
          <a:bodyPr vert="horz" wrap="none" lIns="91440" tIns="45720" rIns="91440" bIns="45720" numCol="1" rtlCol="0" anchor="ctr" anchorCtr="0" compatLnSpc="1">
            <a:prstTxWarp prst="textNoShape">
              <a:avLst/>
            </a:prstTxWarp>
          </a:bodyPr>
          <a:lstStyle/>
          <a:p>
            <a:pPr algn="ctr">
              <a:buNone/>
            </a:pPr>
            <a:r>
              <a:rPr lang="en-US" altLang="zh-CN" sz="1800" dirty="0"/>
              <a:t>Measure </a:t>
            </a:r>
          </a:p>
          <a:p>
            <a:pPr algn="ctr">
              <a:buNone/>
            </a:pPr>
            <a:r>
              <a:rPr lang="en-US" altLang="zh-CN" sz="1800" dirty="0"/>
              <a:t>Real-Time Power </a:t>
            </a:r>
          </a:p>
        </p:txBody>
      </p:sp>
      <p:sp>
        <p:nvSpPr>
          <p:cNvPr id="7" name="对话气泡: 矩形 6">
            <a:extLst>
              <a:ext uri="{FF2B5EF4-FFF2-40B4-BE49-F238E27FC236}">
                <a16:creationId xmlns:a16="http://schemas.microsoft.com/office/drawing/2014/main" id="{5598FD34-2ED5-AEA9-2035-419F9F69E255}"/>
              </a:ext>
            </a:extLst>
          </p:cNvPr>
          <p:cNvSpPr/>
          <p:nvPr/>
        </p:nvSpPr>
        <p:spPr bwMode="auto">
          <a:xfrm>
            <a:off x="5715000" y="2244584"/>
            <a:ext cx="1871863" cy="864103"/>
          </a:xfrm>
          <a:prstGeom prst="wedgeRectCallout">
            <a:avLst/>
          </a:prstGeom>
          <a:solidFill>
            <a:schemeClr val="accent5"/>
          </a:solidFill>
          <a:ln w="6350" cap="flat" cmpd="sng" algn="ctr">
            <a:solidFill>
              <a:schemeClr val="bg1"/>
            </a:solidFill>
            <a:prstDash val="solid"/>
            <a:round/>
            <a:headEnd type="triangle" w="sm" len="lg"/>
            <a:tailEnd type="triangle" w="sm" len="lg"/>
          </a:ln>
          <a:effectLst/>
        </p:spPr>
        <p:txBody>
          <a:bodyPr vert="horz" wrap="none" lIns="91440" tIns="45720" rIns="91440" bIns="45720" numCol="1" rtlCol="0" anchor="ctr" anchorCtr="0" compatLnSpc="1">
            <a:prstTxWarp prst="textNoShape">
              <a:avLst/>
            </a:prstTxWarp>
          </a:bodyPr>
          <a:lstStyle/>
          <a:p>
            <a:pPr algn="ctr">
              <a:buNone/>
            </a:pPr>
            <a:r>
              <a:rPr lang="en-US" altLang="zh-CN" sz="1800" dirty="0"/>
              <a:t>Inference </a:t>
            </a:r>
          </a:p>
          <a:p>
            <a:pPr algn="ctr">
              <a:buNone/>
            </a:pPr>
            <a:r>
              <a:rPr lang="en-US" altLang="zh-CN" sz="1800" dirty="0"/>
              <a:t>workload</a:t>
            </a:r>
          </a:p>
        </p:txBody>
      </p:sp>
      <p:sp>
        <p:nvSpPr>
          <p:cNvPr id="11" name="对话气泡: 矩形 10">
            <a:extLst>
              <a:ext uri="{FF2B5EF4-FFF2-40B4-BE49-F238E27FC236}">
                <a16:creationId xmlns:a16="http://schemas.microsoft.com/office/drawing/2014/main" id="{F76AED01-554B-A5D6-87E9-BC76936041B8}"/>
              </a:ext>
            </a:extLst>
          </p:cNvPr>
          <p:cNvSpPr/>
          <p:nvPr/>
        </p:nvSpPr>
        <p:spPr bwMode="auto">
          <a:xfrm>
            <a:off x="3251414" y="5296082"/>
            <a:ext cx="1871863" cy="864103"/>
          </a:xfrm>
          <a:prstGeom prst="wedgeRectCallout">
            <a:avLst>
              <a:gd name="adj1" fmla="val -54689"/>
              <a:gd name="adj2" fmla="val -105137"/>
            </a:avLst>
          </a:prstGeom>
          <a:solidFill>
            <a:schemeClr val="accent5"/>
          </a:solidFill>
          <a:ln w="6350" cap="flat" cmpd="sng" algn="ctr">
            <a:solidFill>
              <a:schemeClr val="bg1"/>
            </a:solidFill>
            <a:prstDash val="solid"/>
            <a:round/>
            <a:headEnd type="triangle" w="sm" len="lg"/>
            <a:tailEnd type="triangle" w="sm" len="lg"/>
          </a:ln>
          <a:effectLst/>
        </p:spPr>
        <p:txBody>
          <a:bodyPr vert="horz" wrap="none" lIns="91440" tIns="45720" rIns="91440" bIns="45720" numCol="1" rtlCol="0" anchor="ctr" anchorCtr="0" compatLnSpc="1">
            <a:prstTxWarp prst="textNoShape">
              <a:avLst/>
            </a:prstTxWarp>
          </a:bodyPr>
          <a:lstStyle/>
          <a:p>
            <a:pPr algn="ctr">
              <a:buNone/>
            </a:pPr>
            <a:r>
              <a:rPr lang="en-US" altLang="zh-CN" sz="1800" dirty="0"/>
              <a:t>Controller</a:t>
            </a:r>
          </a:p>
        </p:txBody>
      </p:sp>
      <p:sp>
        <p:nvSpPr>
          <p:cNvPr id="15" name="对话气泡: 矩形 14">
            <a:extLst>
              <a:ext uri="{FF2B5EF4-FFF2-40B4-BE49-F238E27FC236}">
                <a16:creationId xmlns:a16="http://schemas.microsoft.com/office/drawing/2014/main" id="{97E0E80F-15ED-1EDB-43D1-B59ABB36DD8D}"/>
              </a:ext>
            </a:extLst>
          </p:cNvPr>
          <p:cNvSpPr/>
          <p:nvPr/>
        </p:nvSpPr>
        <p:spPr bwMode="auto">
          <a:xfrm>
            <a:off x="152400" y="5412890"/>
            <a:ext cx="1871863" cy="864103"/>
          </a:xfrm>
          <a:prstGeom prst="wedgeRectCallout">
            <a:avLst>
              <a:gd name="adj1" fmla="val -13578"/>
              <a:gd name="adj2" fmla="val -118757"/>
            </a:avLst>
          </a:prstGeom>
          <a:solidFill>
            <a:schemeClr val="accent5"/>
          </a:solidFill>
          <a:ln w="6350" cap="flat" cmpd="sng" algn="ctr">
            <a:solidFill>
              <a:schemeClr val="bg1"/>
            </a:solidFill>
            <a:prstDash val="solid"/>
            <a:round/>
            <a:headEnd type="triangle" w="sm" len="lg"/>
            <a:tailEnd type="triangle" w="sm" len="lg"/>
          </a:ln>
          <a:effectLst/>
        </p:spPr>
        <p:txBody>
          <a:bodyPr vert="horz" wrap="none" lIns="91440" tIns="45720" rIns="91440" bIns="45720" numCol="1" rtlCol="0" anchor="ctr" anchorCtr="0" compatLnSpc="1">
            <a:prstTxWarp prst="textNoShape">
              <a:avLst/>
            </a:prstTxWarp>
          </a:bodyPr>
          <a:lstStyle/>
          <a:p>
            <a:pPr algn="ctr">
              <a:buNone/>
            </a:pPr>
            <a:r>
              <a:rPr lang="en-US" altLang="zh-CN" sz="1800" dirty="0"/>
              <a:t>Data</a:t>
            </a:r>
          </a:p>
          <a:p>
            <a:pPr algn="ctr">
              <a:buNone/>
            </a:pPr>
            <a:r>
              <a:rPr lang="en-US" altLang="zh-CN" sz="1800" dirty="0"/>
              <a:t> Preprocessing</a:t>
            </a:r>
          </a:p>
        </p:txBody>
      </p:sp>
      <p:sp>
        <p:nvSpPr>
          <p:cNvPr id="23" name="Content Placeholder 6">
            <a:extLst>
              <a:ext uri="{FF2B5EF4-FFF2-40B4-BE49-F238E27FC236}">
                <a16:creationId xmlns:a16="http://schemas.microsoft.com/office/drawing/2014/main" id="{51DC7C2A-5799-E4E5-69BF-7DB12995D579}"/>
              </a:ext>
            </a:extLst>
          </p:cNvPr>
          <p:cNvSpPr txBox="1">
            <a:spLocks/>
          </p:cNvSpPr>
          <p:nvPr/>
        </p:nvSpPr>
        <p:spPr bwMode="auto">
          <a:xfrm>
            <a:off x="-152400" y="963899"/>
            <a:ext cx="8077200" cy="1784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176" tIns="45588" rIns="91176" bIns="45588" numCol="1" anchor="t" anchorCtr="0" compatLnSpc="1">
            <a:prstTxWarp prst="textNoShape">
              <a:avLst/>
            </a:prstTxWarp>
          </a:bodyPr>
          <a:lstStyle>
            <a:lvl1pPr marL="342900" indent="-342900" algn="l" rtl="0" eaLnBrk="0" fontAlgn="base" hangingPunct="0">
              <a:spcBef>
                <a:spcPct val="20000"/>
              </a:spcBef>
              <a:spcAft>
                <a:spcPct val="0"/>
              </a:spcAft>
              <a:buClr>
                <a:srgbClr val="961C1F"/>
              </a:buClr>
              <a:buFont typeface="Wingdings" pitchFamily="2" charset="2"/>
              <a:buChar char="§"/>
              <a:defRPr sz="2800">
                <a:solidFill>
                  <a:schemeClr val="tx1"/>
                </a:solidFill>
                <a:latin typeface="+mn-lt"/>
                <a:ea typeface="+mn-ea"/>
                <a:cs typeface="+mn-cs"/>
              </a:defRPr>
            </a:lvl1pPr>
            <a:lvl2pPr marL="730250" indent="-284163" algn="l" rtl="0" eaLnBrk="0" fontAlgn="base" hangingPunct="0">
              <a:spcBef>
                <a:spcPct val="20000"/>
              </a:spcBef>
              <a:spcAft>
                <a:spcPct val="0"/>
              </a:spcAft>
              <a:buClr>
                <a:srgbClr val="961C1F"/>
              </a:buClr>
              <a:buFont typeface="Wingdings" pitchFamily="2" charset="2"/>
              <a:buChar char="§"/>
              <a:defRPr sz="2400">
                <a:solidFill>
                  <a:schemeClr val="tx1"/>
                </a:solidFill>
                <a:latin typeface="+mn-lt"/>
              </a:defRPr>
            </a:lvl2pPr>
            <a:lvl3pPr marL="1062038" indent="-228600" algn="l" rtl="0" eaLnBrk="0" fontAlgn="base" hangingPunct="0">
              <a:spcBef>
                <a:spcPct val="20000"/>
              </a:spcBef>
              <a:spcAft>
                <a:spcPct val="0"/>
              </a:spcAft>
              <a:buClr>
                <a:srgbClr val="961C1F"/>
              </a:buClr>
              <a:buFont typeface="Wingdings" pitchFamily="2" charset="2"/>
              <a:buChar char="§"/>
              <a:defRPr sz="2000">
                <a:solidFill>
                  <a:schemeClr val="tx1"/>
                </a:solidFill>
                <a:latin typeface="+mn-lt"/>
              </a:defRPr>
            </a:lvl3pPr>
            <a:lvl4pPr marL="1392238" indent="-228600" algn="l" rtl="0" eaLnBrk="0" fontAlgn="base" hangingPunct="0">
              <a:spcBef>
                <a:spcPct val="20000"/>
              </a:spcBef>
              <a:spcAft>
                <a:spcPct val="0"/>
              </a:spcAft>
              <a:buClr>
                <a:srgbClr val="961C1F"/>
              </a:buClr>
              <a:buFont typeface="Wingdings" pitchFamily="2" charset="2"/>
              <a:buChar char="§"/>
              <a:defRPr sz="1800">
                <a:solidFill>
                  <a:schemeClr val="tx1"/>
                </a:solidFill>
                <a:latin typeface="+mn-lt"/>
              </a:defRPr>
            </a:lvl4pPr>
            <a:lvl5pPr marL="1722438" indent="-228600" algn="l" rtl="0" eaLnBrk="0" fontAlgn="base" hangingPunct="0">
              <a:spcBef>
                <a:spcPct val="20000"/>
              </a:spcBef>
              <a:spcAft>
                <a:spcPct val="0"/>
              </a:spcAft>
              <a:buClr>
                <a:srgbClr val="961C1F"/>
              </a:buClr>
              <a:buFont typeface="Wingdings" pitchFamily="2" charset="2"/>
              <a:buChar char="§"/>
              <a:defRPr sz="1600">
                <a:solidFill>
                  <a:schemeClr val="tx1"/>
                </a:solidFill>
                <a:latin typeface="+mn-lt"/>
              </a:defRPr>
            </a:lvl5pPr>
            <a:lvl6pPr marL="2179638" indent="-228600" algn="l" rtl="0" eaLnBrk="0" fontAlgn="base" hangingPunct="0">
              <a:spcBef>
                <a:spcPct val="20000"/>
              </a:spcBef>
              <a:spcAft>
                <a:spcPct val="0"/>
              </a:spcAft>
              <a:buClr>
                <a:schemeClr val="tx1"/>
              </a:buClr>
              <a:buChar char="•"/>
              <a:defRPr sz="1400">
                <a:solidFill>
                  <a:schemeClr val="tx1"/>
                </a:solidFill>
                <a:latin typeface="+mn-lt"/>
              </a:defRPr>
            </a:lvl6pPr>
            <a:lvl7pPr marL="2636838" indent="-228600" algn="l" rtl="0" eaLnBrk="0" fontAlgn="base" hangingPunct="0">
              <a:spcBef>
                <a:spcPct val="20000"/>
              </a:spcBef>
              <a:spcAft>
                <a:spcPct val="0"/>
              </a:spcAft>
              <a:buClr>
                <a:schemeClr val="tx1"/>
              </a:buClr>
              <a:buChar char="•"/>
              <a:defRPr sz="1400">
                <a:solidFill>
                  <a:schemeClr val="tx1"/>
                </a:solidFill>
                <a:latin typeface="+mn-lt"/>
              </a:defRPr>
            </a:lvl7pPr>
            <a:lvl8pPr marL="3094038" indent="-228600" algn="l" rtl="0" eaLnBrk="0" fontAlgn="base" hangingPunct="0">
              <a:spcBef>
                <a:spcPct val="20000"/>
              </a:spcBef>
              <a:spcAft>
                <a:spcPct val="0"/>
              </a:spcAft>
              <a:buClr>
                <a:schemeClr val="tx1"/>
              </a:buClr>
              <a:buChar char="•"/>
              <a:defRPr sz="1400">
                <a:solidFill>
                  <a:schemeClr val="tx1"/>
                </a:solidFill>
                <a:latin typeface="+mn-lt"/>
              </a:defRPr>
            </a:lvl8pPr>
            <a:lvl9pPr marL="3551238" indent="-228600" algn="l" rtl="0" eaLnBrk="0" fontAlgn="base" hangingPunct="0">
              <a:spcBef>
                <a:spcPct val="20000"/>
              </a:spcBef>
              <a:spcAft>
                <a:spcPct val="0"/>
              </a:spcAft>
              <a:buClr>
                <a:schemeClr val="tx1"/>
              </a:buClr>
              <a:buChar char="•"/>
              <a:defRPr sz="1400">
                <a:solidFill>
                  <a:schemeClr val="tx1"/>
                </a:solidFill>
                <a:latin typeface="+mn-lt"/>
              </a:defRPr>
            </a:lvl9pPr>
          </a:lstStyle>
          <a:p>
            <a:pPr marL="446087" lvl="1" indent="0">
              <a:buNone/>
            </a:pPr>
            <a:endParaRPr lang="en-US" sz="2000" kern="0" dirty="0"/>
          </a:p>
          <a:p>
            <a:pPr lvl="2"/>
            <a:r>
              <a:rPr lang="en-US" altLang="zh-CN" dirty="0" err="1"/>
              <a:t>CapGPU</a:t>
            </a:r>
            <a:r>
              <a:rPr lang="en-US" altLang="zh-CN" dirty="0"/>
              <a:t> is a MIMO feedback control framework.</a:t>
            </a:r>
          </a:p>
          <a:p>
            <a:pPr lvl="2"/>
            <a:endParaRPr lang="en-US" kern="0" dirty="0"/>
          </a:p>
          <a:p>
            <a:pPr lvl="1"/>
            <a:endParaRPr lang="en-US" kern="0" dirty="0"/>
          </a:p>
          <a:p>
            <a:pPr lvl="1"/>
            <a:endParaRPr lang="en-US" kern="0" dirty="0"/>
          </a:p>
          <a:p>
            <a:pPr lvl="1"/>
            <a:endParaRPr lang="en-US" kern="0" dirty="0"/>
          </a:p>
          <a:p>
            <a:pPr lvl="1"/>
            <a:endParaRPr lang="en-US" kern="0" dirty="0"/>
          </a:p>
          <a:p>
            <a:pPr lvl="1"/>
            <a:endParaRPr lang="en-US" kern="0" dirty="0"/>
          </a:p>
          <a:p>
            <a:pPr lvl="1"/>
            <a:endParaRPr lang="en-US" kern="0" dirty="0"/>
          </a:p>
          <a:p>
            <a:pPr lvl="1"/>
            <a:endParaRPr lang="en-US" kern="0" dirty="0"/>
          </a:p>
        </p:txBody>
      </p:sp>
    </p:spTree>
    <p:extLst>
      <p:ext uri="{BB962C8B-B14F-4D97-AF65-F5344CB8AC3E}">
        <p14:creationId xmlns:p14="http://schemas.microsoft.com/office/powerpoint/2010/main" val="3545661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3" grpId="0" animBg="1"/>
      <p:bldP spid="5" grpId="0" animBg="1"/>
      <p:bldP spid="7" grpId="0" animBg="1"/>
      <p:bldP spid="11" grpId="0" animBg="1"/>
      <p:bldP spid="15" grpId="0" animBg="1"/>
      <p:bldP spid="23" grpId="0" build="allAtOnce"/>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graph of a measured frequency&#10;&#10;AI-generated content may be incorrect.">
            <a:extLst>
              <a:ext uri="{FF2B5EF4-FFF2-40B4-BE49-F238E27FC236}">
                <a16:creationId xmlns:a16="http://schemas.microsoft.com/office/drawing/2014/main" id="{E9CC2ED4-C5B7-80BE-FBD3-303001E1AA3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40323" y="3682743"/>
            <a:ext cx="4087234" cy="2565657"/>
          </a:xfrm>
          <a:prstGeom prst="rect">
            <a:avLst/>
          </a:prstGeom>
        </p:spPr>
      </p:pic>
      <p:sp>
        <p:nvSpPr>
          <p:cNvPr id="2" name="Title 1">
            <a:extLst>
              <a:ext uri="{FF2B5EF4-FFF2-40B4-BE49-F238E27FC236}">
                <a16:creationId xmlns:a16="http://schemas.microsoft.com/office/drawing/2014/main" id="{55C40D26-CD0E-336F-8B49-226D5E39B957}"/>
              </a:ext>
            </a:extLst>
          </p:cNvPr>
          <p:cNvSpPr>
            <a:spLocks noGrp="1"/>
          </p:cNvSpPr>
          <p:nvPr>
            <p:ph type="title"/>
          </p:nvPr>
        </p:nvSpPr>
        <p:spPr/>
        <p:txBody>
          <a:bodyPr/>
          <a:lstStyle/>
          <a:p>
            <a:r>
              <a:rPr lang="en-US" dirty="0"/>
              <a:t>System</a:t>
            </a:r>
            <a:r>
              <a:rPr lang="en-US" altLang="zh-CN" dirty="0"/>
              <a:t> Model</a:t>
            </a:r>
            <a:endParaRPr lang="en-US" dirty="0"/>
          </a:p>
        </p:txBody>
      </p:sp>
      <p:pic>
        <p:nvPicPr>
          <p:cNvPr id="7" name="Picture 6" descr="A graph of a graph with blue lines and orange lines&#10;&#10;AI-generated content may be incorrect.">
            <a:extLst>
              <a:ext uri="{FF2B5EF4-FFF2-40B4-BE49-F238E27FC236}">
                <a16:creationId xmlns:a16="http://schemas.microsoft.com/office/drawing/2014/main" id="{BB6A1412-F993-109E-6D4F-C551E932EA6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3700534"/>
            <a:ext cx="4036694" cy="2525558"/>
          </a:xfrm>
          <a:prstGeom prst="rect">
            <a:avLst/>
          </a:prstGeom>
        </p:spPr>
      </p:pic>
      <p:sp>
        <p:nvSpPr>
          <p:cNvPr id="3" name="Content Placeholder 2">
            <a:extLst>
              <a:ext uri="{FF2B5EF4-FFF2-40B4-BE49-F238E27FC236}">
                <a16:creationId xmlns:a16="http://schemas.microsoft.com/office/drawing/2014/main" id="{3CF54B29-86BC-D49E-04AB-531E7338D9FA}"/>
              </a:ext>
            </a:extLst>
          </p:cNvPr>
          <p:cNvSpPr>
            <a:spLocks noGrp="1"/>
          </p:cNvSpPr>
          <p:nvPr>
            <p:ph idx="1"/>
          </p:nvPr>
        </p:nvSpPr>
        <p:spPr/>
        <p:txBody>
          <a:bodyPr/>
          <a:lstStyle/>
          <a:p>
            <a:r>
              <a:rPr lang="en-US" sz="2000" dirty="0"/>
              <a:t>CPU and GPU frequency scaling are actuation knobs:</a:t>
            </a:r>
          </a:p>
          <a:p>
            <a:pPr lvl="1"/>
            <a:r>
              <a:rPr lang="en-US" sz="2000" dirty="0"/>
              <a:t>Well-defined interface: </a:t>
            </a:r>
            <a:r>
              <a:rPr lang="en-US" sz="2000" i="1" dirty="0" err="1"/>
              <a:t>nvidia-smi</a:t>
            </a:r>
            <a:r>
              <a:rPr lang="en-US" sz="2000" i="1" dirty="0"/>
              <a:t>, AMD </a:t>
            </a:r>
            <a:r>
              <a:rPr lang="en-US" sz="2000" i="1" dirty="0" err="1"/>
              <a:t>ROCm</a:t>
            </a:r>
            <a:r>
              <a:rPr lang="en-US" sz="2000" i="1" dirty="0"/>
              <a:t>, </a:t>
            </a:r>
            <a:r>
              <a:rPr lang="en-US" sz="2000" i="1" dirty="0" err="1"/>
              <a:t>cpupower</a:t>
            </a:r>
            <a:endParaRPr lang="en-US" sz="2000" i="1" dirty="0"/>
          </a:p>
          <a:p>
            <a:endParaRPr lang="en-US" sz="2000" dirty="0"/>
          </a:p>
          <a:p>
            <a:r>
              <a:rPr lang="en-US" sz="2000" dirty="0"/>
              <a:t>Two system model:</a:t>
            </a:r>
          </a:p>
          <a:p>
            <a:pPr lvl="1"/>
            <a:r>
              <a:rPr lang="en-US" sz="2000" dirty="0"/>
              <a:t>Power model: helps controller reach setpoint.</a:t>
            </a:r>
          </a:p>
          <a:p>
            <a:pPr lvl="1"/>
            <a:r>
              <a:rPr lang="en-US" sz="2000" dirty="0"/>
              <a:t>Latency model: helps controller satisfyies constraints.</a:t>
            </a:r>
          </a:p>
        </p:txBody>
      </p:sp>
    </p:spTree>
    <p:extLst>
      <p:ext uri="{BB962C8B-B14F-4D97-AF65-F5344CB8AC3E}">
        <p14:creationId xmlns:p14="http://schemas.microsoft.com/office/powerpoint/2010/main" val="2484978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Rectangle 58">
            <a:extLst>
              <a:ext uri="{FF2B5EF4-FFF2-40B4-BE49-F238E27FC236}">
                <a16:creationId xmlns:a16="http://schemas.microsoft.com/office/drawing/2014/main" id="{820DF631-7377-6E23-DDF5-31D574627F00}"/>
              </a:ext>
            </a:extLst>
          </p:cNvPr>
          <p:cNvSpPr/>
          <p:nvPr/>
        </p:nvSpPr>
        <p:spPr bwMode="auto">
          <a:xfrm>
            <a:off x="1809040" y="2100422"/>
            <a:ext cx="4267200" cy="3157378"/>
          </a:xfrm>
          <a:prstGeom prst="rect">
            <a:avLst/>
          </a:prstGeom>
          <a:ln>
            <a:headEnd type="triangle" w="sm" len="lg"/>
            <a:tailEnd type="triangle" w="sm" len="lg"/>
          </a:ln>
        </p:spPr>
        <p:style>
          <a:lnRef idx="2">
            <a:schemeClr val="accent1"/>
          </a:lnRef>
          <a:fillRef idx="1">
            <a:schemeClr val="lt1"/>
          </a:fillRef>
          <a:effectRef idx="0">
            <a:schemeClr val="accent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3400" b="0" i="0" u="sng" strike="noStrike" cap="none" normalizeH="0" baseline="0">
              <a:ln>
                <a:noFill/>
              </a:ln>
              <a:solidFill>
                <a:schemeClr val="tx1"/>
              </a:solidFill>
              <a:effectLst/>
              <a:latin typeface="Arial" charset="0"/>
            </a:endParaRPr>
          </a:p>
        </p:txBody>
      </p:sp>
      <p:sp>
        <p:nvSpPr>
          <p:cNvPr id="2" name="Title 1">
            <a:extLst>
              <a:ext uri="{FF2B5EF4-FFF2-40B4-BE49-F238E27FC236}">
                <a16:creationId xmlns:a16="http://schemas.microsoft.com/office/drawing/2014/main" id="{4F22A258-4B43-56E9-9296-DC86AB2AE386}"/>
              </a:ext>
            </a:extLst>
          </p:cNvPr>
          <p:cNvSpPr>
            <a:spLocks noGrp="1"/>
          </p:cNvSpPr>
          <p:nvPr>
            <p:ph type="title"/>
          </p:nvPr>
        </p:nvSpPr>
        <p:spPr/>
        <p:txBody>
          <a:bodyPr/>
          <a:lstStyle/>
          <a:p>
            <a:r>
              <a:rPr lang="en-US" dirty="0"/>
              <a:t>Model Predictive Controller</a:t>
            </a:r>
          </a:p>
        </p:txBody>
      </p:sp>
      <p:pic>
        <p:nvPicPr>
          <p:cNvPr id="5" name="Content Placeholder 4">
            <a:extLst>
              <a:ext uri="{FF2B5EF4-FFF2-40B4-BE49-F238E27FC236}">
                <a16:creationId xmlns:a16="http://schemas.microsoft.com/office/drawing/2014/main" id="{9D3F017D-2D80-F82A-A3D6-2C4C913492FD}"/>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8739" y="5356902"/>
            <a:ext cx="8038461" cy="891498"/>
          </a:xfrm>
        </p:spPr>
      </p:pic>
      <p:sp>
        <p:nvSpPr>
          <p:cNvPr id="14" name="Rectangle: Rounded Corners 13">
            <a:extLst>
              <a:ext uri="{FF2B5EF4-FFF2-40B4-BE49-F238E27FC236}">
                <a16:creationId xmlns:a16="http://schemas.microsoft.com/office/drawing/2014/main" id="{4D7068DA-AA7E-D572-BB5B-2A74658C7DEB}"/>
              </a:ext>
            </a:extLst>
          </p:cNvPr>
          <p:cNvSpPr/>
          <p:nvPr/>
        </p:nvSpPr>
        <p:spPr bwMode="auto">
          <a:xfrm>
            <a:off x="2362200" y="2304982"/>
            <a:ext cx="1524000" cy="626863"/>
          </a:xfrm>
          <a:prstGeom prst="roundRect">
            <a:avLst/>
          </a:prstGeom>
          <a:noFill/>
          <a:ln w="6350" cap="flat" cmpd="sng" algn="ctr">
            <a:solidFill>
              <a:schemeClr val="tx1"/>
            </a:solidFill>
            <a:prstDash val="solid"/>
            <a:round/>
            <a:headEnd type="triangle" w="sm" len="lg"/>
            <a:tailEnd type="triangle" w="sm" len="lg"/>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dirty="0">
                <a:latin typeface="Arial" charset="0"/>
              </a:rPr>
              <a:t>Power Model</a:t>
            </a:r>
            <a:endParaRPr kumimoji="0" lang="en-US" sz="1800" b="0" i="0" strike="noStrike" cap="none" normalizeH="0" baseline="0" dirty="0">
              <a:ln>
                <a:noFill/>
              </a:ln>
              <a:solidFill>
                <a:schemeClr val="tx1"/>
              </a:solidFill>
              <a:effectLst/>
              <a:latin typeface="Arial" charset="0"/>
            </a:endParaRPr>
          </a:p>
        </p:txBody>
      </p:sp>
      <p:sp>
        <p:nvSpPr>
          <p:cNvPr id="17" name="Rectangle: Rounded Corners 16">
            <a:extLst>
              <a:ext uri="{FF2B5EF4-FFF2-40B4-BE49-F238E27FC236}">
                <a16:creationId xmlns:a16="http://schemas.microsoft.com/office/drawing/2014/main" id="{DBEF9F71-A2F3-97CE-1F95-3BB6250D6E4D}"/>
              </a:ext>
            </a:extLst>
          </p:cNvPr>
          <p:cNvSpPr/>
          <p:nvPr/>
        </p:nvSpPr>
        <p:spPr bwMode="auto">
          <a:xfrm>
            <a:off x="2743199" y="3339019"/>
            <a:ext cx="2484335" cy="842241"/>
          </a:xfrm>
          <a:prstGeom prst="roundRect">
            <a:avLst/>
          </a:prstGeom>
          <a:noFill/>
          <a:ln w="6350" cap="flat" cmpd="sng" algn="ctr">
            <a:solidFill>
              <a:schemeClr val="tx1"/>
            </a:solidFill>
            <a:prstDash val="solid"/>
            <a:round/>
            <a:headEnd type="triangle" w="sm" len="lg"/>
            <a:tailEnd type="triangle" w="sm" len="lg"/>
          </a:ln>
          <a:effectLst/>
        </p:spPr>
        <p:txBody>
          <a:bodyPr vert="horz" wrap="none" lIns="91440" tIns="45720" rIns="91440" bIns="45720" numCol="1" rtlCol="0" anchor="ctr" anchorCtr="0" compatLnSpc="1">
            <a:prstTxWarp prst="textNoShape">
              <a:avLst/>
            </a:prstTxWarp>
          </a:bodyPr>
          <a:lstStyle/>
          <a:p>
            <a:pPr algn="ctr">
              <a:buNone/>
            </a:pPr>
            <a:r>
              <a:rPr lang="en-US" sz="1800" dirty="0"/>
              <a:t>optimization solver</a:t>
            </a:r>
          </a:p>
        </p:txBody>
      </p:sp>
      <p:sp>
        <p:nvSpPr>
          <p:cNvPr id="19" name="Oval 18">
            <a:extLst>
              <a:ext uri="{FF2B5EF4-FFF2-40B4-BE49-F238E27FC236}">
                <a16:creationId xmlns:a16="http://schemas.microsoft.com/office/drawing/2014/main" id="{03960529-47FA-F59E-9E65-818EF4DA2DB5}"/>
              </a:ext>
            </a:extLst>
          </p:cNvPr>
          <p:cNvSpPr/>
          <p:nvPr/>
        </p:nvSpPr>
        <p:spPr bwMode="auto">
          <a:xfrm>
            <a:off x="384918" y="2291737"/>
            <a:ext cx="990600" cy="858997"/>
          </a:xfrm>
          <a:prstGeom prst="ellipse">
            <a:avLst/>
          </a:prstGeom>
          <a:noFill/>
          <a:ln w="6350" cap="flat" cmpd="sng" algn="ctr">
            <a:solidFill>
              <a:schemeClr val="tx1"/>
            </a:solidFill>
            <a:prstDash val="solid"/>
            <a:round/>
            <a:headEnd type="triangle" w="sm" len="lg"/>
            <a:tailEnd type="triangle" w="sm" len="lg"/>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1800" i="1" dirty="0">
                <a:latin typeface="Arial" charset="0"/>
              </a:rPr>
              <a:t>Ps</a:t>
            </a:r>
          </a:p>
        </p:txBody>
      </p:sp>
      <p:sp>
        <p:nvSpPr>
          <p:cNvPr id="20" name="Oval 19">
            <a:extLst>
              <a:ext uri="{FF2B5EF4-FFF2-40B4-BE49-F238E27FC236}">
                <a16:creationId xmlns:a16="http://schemas.microsoft.com/office/drawing/2014/main" id="{2F4E1D81-EABF-0760-A0C3-D12062BCBF95}"/>
              </a:ext>
            </a:extLst>
          </p:cNvPr>
          <p:cNvSpPr/>
          <p:nvPr/>
        </p:nvSpPr>
        <p:spPr bwMode="auto">
          <a:xfrm>
            <a:off x="360363" y="4181260"/>
            <a:ext cx="990600" cy="858997"/>
          </a:xfrm>
          <a:prstGeom prst="ellipse">
            <a:avLst/>
          </a:prstGeom>
          <a:noFill/>
          <a:ln w="6350" cap="flat" cmpd="sng" algn="ctr">
            <a:solidFill>
              <a:schemeClr val="tx1"/>
            </a:solidFill>
            <a:prstDash val="solid"/>
            <a:round/>
            <a:headEnd type="triangle" w="sm" len="lg"/>
            <a:tailEnd type="triangle" w="sm" len="lg"/>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1" strike="noStrike" cap="none" normalizeH="0" baseline="0" dirty="0">
                <a:ln>
                  <a:noFill/>
                </a:ln>
                <a:solidFill>
                  <a:schemeClr val="tx1"/>
                </a:solidFill>
                <a:effectLst/>
                <a:latin typeface="Arial" charset="0"/>
              </a:rPr>
              <a:t>p(k)</a:t>
            </a:r>
          </a:p>
        </p:txBody>
      </p:sp>
      <p:sp>
        <p:nvSpPr>
          <p:cNvPr id="33" name="Arrow: Down 32">
            <a:extLst>
              <a:ext uri="{FF2B5EF4-FFF2-40B4-BE49-F238E27FC236}">
                <a16:creationId xmlns:a16="http://schemas.microsoft.com/office/drawing/2014/main" id="{E6E168E5-2F72-6BFB-E271-E2AAC9647F5A}"/>
              </a:ext>
            </a:extLst>
          </p:cNvPr>
          <p:cNvSpPr/>
          <p:nvPr/>
        </p:nvSpPr>
        <p:spPr bwMode="auto">
          <a:xfrm rot="17397095">
            <a:off x="1832421" y="2637039"/>
            <a:ext cx="184065" cy="1076548"/>
          </a:xfrm>
          <a:prstGeom prst="downArrow">
            <a:avLst/>
          </a:prstGeom>
          <a:solidFill>
            <a:srgbClr val="961C1F"/>
          </a:solidFill>
          <a:ln w="6350" cap="flat" cmpd="sng" algn="ctr">
            <a:solidFill>
              <a:srgbClr val="961C1F"/>
            </a:solidFill>
            <a:prstDash val="solid"/>
            <a:round/>
            <a:headEnd type="triangle" w="sm" len="lg"/>
            <a:tailEnd type="triangle" w="sm" len="lg"/>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3400" b="0" i="0" u="sng" strike="noStrike" cap="none" normalizeH="0" baseline="0">
              <a:ln>
                <a:noFill/>
              </a:ln>
              <a:solidFill>
                <a:schemeClr val="tx1"/>
              </a:solidFill>
              <a:effectLst/>
              <a:latin typeface="Arial" charset="0"/>
            </a:endParaRPr>
          </a:p>
        </p:txBody>
      </p:sp>
      <p:sp>
        <p:nvSpPr>
          <p:cNvPr id="35" name="Arrow: Down 34">
            <a:extLst>
              <a:ext uri="{FF2B5EF4-FFF2-40B4-BE49-F238E27FC236}">
                <a16:creationId xmlns:a16="http://schemas.microsoft.com/office/drawing/2014/main" id="{A6304C78-776B-777D-A1F8-580EA2564C7E}"/>
              </a:ext>
            </a:extLst>
          </p:cNvPr>
          <p:cNvSpPr/>
          <p:nvPr/>
        </p:nvSpPr>
        <p:spPr bwMode="auto">
          <a:xfrm rot="14995981">
            <a:off x="1811866" y="3777970"/>
            <a:ext cx="184065" cy="1076548"/>
          </a:xfrm>
          <a:prstGeom prst="downArrow">
            <a:avLst/>
          </a:prstGeom>
          <a:solidFill>
            <a:srgbClr val="961C1F"/>
          </a:solidFill>
          <a:ln w="6350" cap="flat" cmpd="sng" algn="ctr">
            <a:solidFill>
              <a:srgbClr val="961C1F"/>
            </a:solidFill>
            <a:prstDash val="solid"/>
            <a:round/>
            <a:headEnd type="triangle" w="sm" len="lg"/>
            <a:tailEnd type="triangle" w="sm" len="lg"/>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3400" b="0" i="0" u="sng" strike="noStrike" cap="none" normalizeH="0" baseline="0">
              <a:ln>
                <a:noFill/>
              </a:ln>
              <a:solidFill>
                <a:schemeClr val="tx1"/>
              </a:solidFill>
              <a:effectLst/>
              <a:latin typeface="Arial" charset="0"/>
            </a:endParaRPr>
          </a:p>
        </p:txBody>
      </p:sp>
      <p:sp>
        <p:nvSpPr>
          <p:cNvPr id="36" name="Rectangle: Rounded Corners 35">
            <a:extLst>
              <a:ext uri="{FF2B5EF4-FFF2-40B4-BE49-F238E27FC236}">
                <a16:creationId xmlns:a16="http://schemas.microsoft.com/office/drawing/2014/main" id="{92397640-3CDC-A0F0-8EB5-F87B4B68DA2F}"/>
              </a:ext>
            </a:extLst>
          </p:cNvPr>
          <p:cNvSpPr/>
          <p:nvPr/>
        </p:nvSpPr>
        <p:spPr bwMode="auto">
          <a:xfrm>
            <a:off x="4114800" y="2306798"/>
            <a:ext cx="1524000" cy="625048"/>
          </a:xfrm>
          <a:prstGeom prst="roundRect">
            <a:avLst/>
          </a:prstGeom>
          <a:noFill/>
          <a:ln w="6350" cap="flat" cmpd="sng" algn="ctr">
            <a:solidFill>
              <a:schemeClr val="tx1"/>
            </a:solidFill>
            <a:prstDash val="solid"/>
            <a:round/>
            <a:headEnd type="triangle" w="sm" len="lg"/>
            <a:tailEnd type="triangle" w="sm" len="lg"/>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strike="noStrike" cap="none" normalizeH="0" baseline="0" dirty="0">
                <a:ln>
                  <a:noFill/>
                </a:ln>
                <a:solidFill>
                  <a:schemeClr val="tx1"/>
                </a:solidFill>
                <a:effectLst/>
                <a:latin typeface="Arial" charset="0"/>
              </a:rPr>
              <a:t>SLO</a:t>
            </a:r>
          </a:p>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strike="noStrike" cap="none" normalizeH="0" baseline="0" dirty="0">
                <a:ln>
                  <a:noFill/>
                </a:ln>
                <a:solidFill>
                  <a:schemeClr val="tx1"/>
                </a:solidFill>
                <a:effectLst/>
                <a:latin typeface="Arial" charset="0"/>
              </a:rPr>
              <a:t>C</a:t>
            </a:r>
            <a:r>
              <a:rPr kumimoji="0" lang="en-US" altLang="zh-CN" sz="1800" b="0" i="0" strike="noStrike" cap="none" normalizeH="0" baseline="0" dirty="0">
                <a:ln>
                  <a:noFill/>
                </a:ln>
                <a:solidFill>
                  <a:schemeClr val="tx1"/>
                </a:solidFill>
                <a:effectLst/>
                <a:latin typeface="Arial" charset="0"/>
              </a:rPr>
              <a:t>onstraints</a:t>
            </a:r>
            <a:endParaRPr kumimoji="0" lang="en-US" sz="1800" b="0" i="0" strike="noStrike" cap="none" normalizeH="0" baseline="0" dirty="0">
              <a:ln>
                <a:noFill/>
              </a:ln>
              <a:solidFill>
                <a:schemeClr val="tx1"/>
              </a:solidFill>
              <a:effectLst/>
              <a:latin typeface="Arial" charset="0"/>
            </a:endParaRPr>
          </a:p>
        </p:txBody>
      </p:sp>
      <p:sp>
        <p:nvSpPr>
          <p:cNvPr id="37" name="Rectangle: Rounded Corners 36">
            <a:extLst>
              <a:ext uri="{FF2B5EF4-FFF2-40B4-BE49-F238E27FC236}">
                <a16:creationId xmlns:a16="http://schemas.microsoft.com/office/drawing/2014/main" id="{0CF834CF-E5C6-EBD1-91C7-58DDE6AC6C31}"/>
              </a:ext>
            </a:extLst>
          </p:cNvPr>
          <p:cNvSpPr/>
          <p:nvPr/>
        </p:nvSpPr>
        <p:spPr bwMode="auto">
          <a:xfrm>
            <a:off x="3223367" y="4495800"/>
            <a:ext cx="1524000" cy="625048"/>
          </a:xfrm>
          <a:prstGeom prst="roundRect">
            <a:avLst/>
          </a:prstGeom>
          <a:noFill/>
          <a:ln w="6350" cap="flat" cmpd="sng" algn="ctr">
            <a:solidFill>
              <a:schemeClr val="tx1"/>
            </a:solidFill>
            <a:prstDash val="solid"/>
            <a:round/>
            <a:headEnd type="triangle" w="sm" len="lg"/>
            <a:tailEnd type="triangle" w="sm" len="lg"/>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0" i="0" strike="noStrike" cap="none" normalizeH="0" baseline="0" dirty="0">
                <a:ln>
                  <a:noFill/>
                </a:ln>
                <a:solidFill>
                  <a:schemeClr val="tx1"/>
                </a:solidFill>
                <a:effectLst/>
                <a:latin typeface="Arial" charset="0"/>
              </a:rPr>
              <a:t>C</a:t>
            </a:r>
            <a:r>
              <a:rPr kumimoji="0" lang="en-US" altLang="zh-CN" sz="1800" b="0" i="0" strike="noStrike" cap="none" normalizeH="0" baseline="0" dirty="0">
                <a:ln>
                  <a:noFill/>
                </a:ln>
                <a:solidFill>
                  <a:schemeClr val="tx1"/>
                </a:solidFill>
                <a:effectLst/>
                <a:latin typeface="Arial" charset="0"/>
              </a:rPr>
              <a:t>ost Function</a:t>
            </a:r>
            <a:endParaRPr kumimoji="0" lang="en-US" sz="1800" b="0" i="0" strike="noStrike" cap="none" normalizeH="0" baseline="0" dirty="0">
              <a:ln>
                <a:noFill/>
              </a:ln>
              <a:solidFill>
                <a:schemeClr val="tx1"/>
              </a:solidFill>
              <a:effectLst/>
              <a:latin typeface="Arial" charset="0"/>
            </a:endParaRPr>
          </a:p>
        </p:txBody>
      </p:sp>
      <p:sp>
        <p:nvSpPr>
          <p:cNvPr id="39" name="Arrow: Down 38">
            <a:extLst>
              <a:ext uri="{FF2B5EF4-FFF2-40B4-BE49-F238E27FC236}">
                <a16:creationId xmlns:a16="http://schemas.microsoft.com/office/drawing/2014/main" id="{B9B3796A-A47E-EEF6-9C89-637927DB3C0C}"/>
              </a:ext>
            </a:extLst>
          </p:cNvPr>
          <p:cNvSpPr/>
          <p:nvPr/>
        </p:nvSpPr>
        <p:spPr bwMode="auto">
          <a:xfrm rot="16200000">
            <a:off x="5780242" y="3211640"/>
            <a:ext cx="184065" cy="1076548"/>
          </a:xfrm>
          <a:prstGeom prst="downArrow">
            <a:avLst/>
          </a:prstGeom>
          <a:solidFill>
            <a:srgbClr val="961C1F"/>
          </a:solidFill>
          <a:ln w="6350" cap="flat" cmpd="sng" algn="ctr">
            <a:solidFill>
              <a:srgbClr val="961C1F"/>
            </a:solidFill>
            <a:prstDash val="solid"/>
            <a:round/>
            <a:headEnd type="triangle" w="sm" len="lg"/>
            <a:tailEnd type="triangle" w="sm" len="lg"/>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3400" b="0" i="0" u="sng" strike="noStrike" cap="none" normalizeH="0" baseline="0">
              <a:ln>
                <a:noFill/>
              </a:ln>
              <a:solidFill>
                <a:schemeClr val="tx1"/>
              </a:solidFill>
              <a:effectLst/>
              <a:latin typeface="Arial" charset="0"/>
            </a:endParaRPr>
          </a:p>
        </p:txBody>
      </p:sp>
      <p:sp>
        <p:nvSpPr>
          <p:cNvPr id="51" name="Rectangle: Rounded Corners 50">
            <a:extLst>
              <a:ext uri="{FF2B5EF4-FFF2-40B4-BE49-F238E27FC236}">
                <a16:creationId xmlns:a16="http://schemas.microsoft.com/office/drawing/2014/main" id="{E93DB9F9-783F-DE04-716D-B05BC5F97B91}"/>
              </a:ext>
            </a:extLst>
          </p:cNvPr>
          <p:cNvSpPr/>
          <p:nvPr/>
        </p:nvSpPr>
        <p:spPr bwMode="auto">
          <a:xfrm rot="1407475" flipV="1">
            <a:off x="2942049" y="3108060"/>
            <a:ext cx="940166" cy="45719"/>
          </a:xfrm>
          <a:prstGeom prst="roundRect">
            <a:avLst/>
          </a:prstGeom>
          <a:solidFill>
            <a:srgbClr val="961C1F"/>
          </a:solidFill>
          <a:ln w="6350" cap="flat" cmpd="sng" algn="ctr">
            <a:solidFill>
              <a:srgbClr val="961C1F"/>
            </a:solidFill>
            <a:prstDash val="solid"/>
            <a:round/>
            <a:headEnd type="triangle" w="sm" len="lg"/>
            <a:tailEnd type="triangle" w="sm" len="lg"/>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3400" b="0" i="0" u="sng" strike="noStrike" cap="none" normalizeH="0" baseline="0">
              <a:ln>
                <a:noFill/>
              </a:ln>
              <a:solidFill>
                <a:schemeClr val="tx1"/>
              </a:solidFill>
              <a:effectLst/>
              <a:latin typeface="Arial" charset="0"/>
            </a:endParaRPr>
          </a:p>
        </p:txBody>
      </p:sp>
      <p:sp>
        <p:nvSpPr>
          <p:cNvPr id="52" name="Rectangle: Rounded Corners 51">
            <a:extLst>
              <a:ext uri="{FF2B5EF4-FFF2-40B4-BE49-F238E27FC236}">
                <a16:creationId xmlns:a16="http://schemas.microsoft.com/office/drawing/2014/main" id="{6B4028FB-B731-A37A-9556-0BB91B264FEB}"/>
              </a:ext>
            </a:extLst>
          </p:cNvPr>
          <p:cNvSpPr/>
          <p:nvPr/>
        </p:nvSpPr>
        <p:spPr bwMode="auto">
          <a:xfrm rot="20258341" flipV="1">
            <a:off x="3913955" y="3120345"/>
            <a:ext cx="940166" cy="45719"/>
          </a:xfrm>
          <a:prstGeom prst="roundRect">
            <a:avLst/>
          </a:prstGeom>
          <a:solidFill>
            <a:srgbClr val="961C1F"/>
          </a:solidFill>
          <a:ln w="6350" cap="flat" cmpd="sng" algn="ctr">
            <a:solidFill>
              <a:srgbClr val="961C1F"/>
            </a:solidFill>
            <a:prstDash val="solid"/>
            <a:round/>
            <a:headEnd type="triangle" w="sm" len="lg"/>
            <a:tailEnd type="triangle" w="sm" len="lg"/>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3400" b="0" i="0" u="sng" strike="noStrike" cap="none" normalizeH="0" baseline="0">
              <a:ln>
                <a:noFill/>
              </a:ln>
              <a:solidFill>
                <a:schemeClr val="tx1"/>
              </a:solidFill>
              <a:effectLst/>
              <a:latin typeface="Arial" charset="0"/>
            </a:endParaRPr>
          </a:p>
        </p:txBody>
      </p:sp>
      <p:sp>
        <p:nvSpPr>
          <p:cNvPr id="53" name="Rectangle: Rounded Corners 52">
            <a:extLst>
              <a:ext uri="{FF2B5EF4-FFF2-40B4-BE49-F238E27FC236}">
                <a16:creationId xmlns:a16="http://schemas.microsoft.com/office/drawing/2014/main" id="{7446984B-5D20-216D-1257-D105EAA71CC8}"/>
              </a:ext>
            </a:extLst>
          </p:cNvPr>
          <p:cNvSpPr/>
          <p:nvPr/>
        </p:nvSpPr>
        <p:spPr bwMode="auto">
          <a:xfrm rot="16200000" flipV="1">
            <a:off x="3751790" y="4315670"/>
            <a:ext cx="314540" cy="45720"/>
          </a:xfrm>
          <a:prstGeom prst="roundRect">
            <a:avLst/>
          </a:prstGeom>
          <a:solidFill>
            <a:srgbClr val="961C1F"/>
          </a:solidFill>
          <a:ln w="6350" cap="flat" cmpd="sng" algn="ctr">
            <a:solidFill>
              <a:srgbClr val="961C1F"/>
            </a:solidFill>
            <a:prstDash val="solid"/>
            <a:round/>
            <a:headEnd type="triangle" w="sm" len="lg"/>
            <a:tailEnd type="triangle" w="sm" len="lg"/>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3400" b="0" i="0" u="sng" strike="noStrike" cap="none" normalizeH="0" baseline="0">
              <a:ln>
                <a:noFill/>
              </a:ln>
              <a:solidFill>
                <a:schemeClr val="tx1"/>
              </a:solidFill>
              <a:effectLst/>
              <a:latin typeface="Arial" charset="0"/>
            </a:endParaRPr>
          </a:p>
        </p:txBody>
      </p:sp>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EBA72ECF-B7C1-08B8-1C18-21E408F3A249}"/>
                  </a:ext>
                </a:extLst>
              </p:cNvPr>
              <p:cNvSpPr txBox="1"/>
              <p:nvPr/>
            </p:nvSpPr>
            <p:spPr>
              <a:xfrm>
                <a:off x="6517015" y="2922820"/>
                <a:ext cx="2115644" cy="1538050"/>
              </a:xfrm>
              <a:prstGeom prst="rect">
                <a:avLst/>
              </a:prstGeom>
              <a:noFill/>
            </p:spPr>
            <p:txBody>
              <a:bodyPr wrap="none" lIns="0" tIns="0" rIns="0" bIns="0" rtlCol="0">
                <a:spAutoFit/>
              </a:bodyPr>
              <a:lstStyle/>
              <a:p>
                <a:pPr>
                  <a:buNone/>
                </a:pPr>
                <a14:m>
                  <m:oMathPara xmlns:m="http://schemas.openxmlformats.org/officeDocument/2006/math">
                    <m:oMathParaPr>
                      <m:jc m:val="centerGroup"/>
                    </m:oMathParaPr>
                    <m:oMath xmlns:m="http://schemas.openxmlformats.org/officeDocument/2006/math">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𝑑</m:t>
                                  </m:r>
                                </m:e>
                                <m:sub>
                                  <m:r>
                                    <a:rPr lang="en-US" b="0" i="1" smtClean="0">
                                      <a:latin typeface="Cambria Math" panose="02040503050406030204" pitchFamily="18" charset="0"/>
                                    </a:rPr>
                                    <m:t>𝑐𝑝𝑢</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𝑘</m:t>
                                  </m:r>
                                  <m:r>
                                    <a:rPr lang="en-US" b="0" i="1" smtClean="0">
                                      <a:latin typeface="Cambria Math" panose="02040503050406030204" pitchFamily="18" charset="0"/>
                                    </a:rPr>
                                    <m:t>+1</m:t>
                                  </m:r>
                                </m:e>
                              </m:d>
                            </m:e>
                            <m:e>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b="0" i="1" smtClean="0">
                                      <a:latin typeface="Cambria Math" panose="02040503050406030204" pitchFamily="18" charset="0"/>
                                    </a:rPr>
                                    <m:t>𝑔</m:t>
                                  </m:r>
                                  <m:r>
                                    <a:rPr lang="en-US" i="1">
                                      <a:latin typeface="Cambria Math" panose="02040503050406030204" pitchFamily="18" charset="0"/>
                                    </a:rPr>
                                    <m:t>𝑝𝑢</m:t>
                                  </m:r>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r>
                                    <a:rPr lang="en-US" i="1">
                                      <a:latin typeface="Cambria Math" panose="02040503050406030204" pitchFamily="18" charset="0"/>
                                    </a:rPr>
                                    <m:t>𝑘</m:t>
                                  </m:r>
                                  <m:r>
                                    <a:rPr lang="en-US" i="1">
                                      <a:latin typeface="Cambria Math" panose="02040503050406030204" pitchFamily="18" charset="0"/>
                                    </a:rPr>
                                    <m:t>+1</m:t>
                                  </m:r>
                                </m:e>
                              </m:d>
                            </m:e>
                            <m:e>
                              <m:r>
                                <a:rPr lang="en-US" b="0" i="1" smtClean="0">
                                  <a:latin typeface="Cambria Math" panose="02040503050406030204" pitchFamily="18" charset="0"/>
                                </a:rPr>
                                <m:t>…</m:t>
                              </m:r>
                            </m:e>
                            <m:e>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b="0" i="1" smtClean="0">
                                      <a:latin typeface="Cambria Math" panose="02040503050406030204" pitchFamily="18" charset="0"/>
                                    </a:rPr>
                                    <m:t>𝑔</m:t>
                                  </m:r>
                                  <m:r>
                                    <a:rPr lang="en-US" i="1">
                                      <a:latin typeface="Cambria Math" panose="02040503050406030204" pitchFamily="18" charset="0"/>
                                    </a:rPr>
                                    <m:t>𝑝𝑢</m:t>
                                  </m:r>
                                  <m:r>
                                    <a:rPr lang="en-US" b="0" i="1" smtClean="0">
                                      <a:latin typeface="Cambria Math" panose="02040503050406030204" pitchFamily="18" charset="0"/>
                                    </a:rPr>
                                    <m:t>𝑁</m:t>
                                  </m:r>
                                </m:sub>
                              </m:sSub>
                              <m:d>
                                <m:dPr>
                                  <m:ctrlPr>
                                    <a:rPr lang="en-US" b="0" i="1">
                                      <a:latin typeface="Cambria Math" panose="02040503050406030204" pitchFamily="18" charset="0"/>
                                    </a:rPr>
                                  </m:ctrlPr>
                                </m:dPr>
                                <m:e>
                                  <m:r>
                                    <a:rPr lang="en-US" i="1">
                                      <a:latin typeface="Cambria Math" panose="02040503050406030204" pitchFamily="18" charset="0"/>
                                    </a:rPr>
                                    <m:t>𝑘</m:t>
                                  </m:r>
                                  <m:r>
                                    <a:rPr lang="en-US" i="1">
                                      <a:latin typeface="Cambria Math" panose="02040503050406030204" pitchFamily="18" charset="0"/>
                                    </a:rPr>
                                    <m:t>+1</m:t>
                                  </m:r>
                                </m:e>
                              </m:d>
                            </m:e>
                          </m:eqArr>
                        </m:e>
                      </m:d>
                    </m:oMath>
                  </m:oMathPara>
                </a14:m>
                <a:endParaRPr lang="en-US" dirty="0"/>
              </a:p>
            </p:txBody>
          </p:sp>
        </mc:Choice>
        <mc:Fallback xmlns="">
          <p:sp>
            <p:nvSpPr>
              <p:cNvPr id="54" name="TextBox 53">
                <a:extLst>
                  <a:ext uri="{FF2B5EF4-FFF2-40B4-BE49-F238E27FC236}">
                    <a16:creationId xmlns:a16="http://schemas.microsoft.com/office/drawing/2014/main" id="{EBA72ECF-B7C1-08B8-1C18-21E408F3A249}"/>
                  </a:ext>
                </a:extLst>
              </p:cNvPr>
              <p:cNvSpPr txBox="1">
                <a:spLocks noRot="1" noChangeAspect="1" noMove="1" noResize="1" noEditPoints="1" noAdjustHandles="1" noChangeArrowheads="1" noChangeShapeType="1" noTextEdit="1"/>
              </p:cNvSpPr>
              <p:nvPr/>
            </p:nvSpPr>
            <p:spPr>
              <a:xfrm>
                <a:off x="6517015" y="2922820"/>
                <a:ext cx="2115644" cy="1538050"/>
              </a:xfrm>
              <a:prstGeom prst="rect">
                <a:avLst/>
              </a:prstGeom>
              <a:blipFill>
                <a:blip r:embed="rId4"/>
                <a:stretch>
                  <a:fillRect/>
                </a:stretch>
              </a:blipFill>
            </p:spPr>
            <p:txBody>
              <a:bodyPr/>
              <a:lstStyle/>
              <a:p>
                <a:r>
                  <a:rPr lang="en-US">
                    <a:noFill/>
                  </a:rPr>
                  <a:t> </a:t>
                </a:r>
              </a:p>
            </p:txBody>
          </p:sp>
        </mc:Fallback>
      </mc:AlternateContent>
      <p:sp>
        <p:nvSpPr>
          <p:cNvPr id="55" name="TextBox 54">
            <a:extLst>
              <a:ext uri="{FF2B5EF4-FFF2-40B4-BE49-F238E27FC236}">
                <a16:creationId xmlns:a16="http://schemas.microsoft.com/office/drawing/2014/main" id="{87FDEDC6-2A6F-9B9C-CD31-9C4EB1945CA0}"/>
              </a:ext>
            </a:extLst>
          </p:cNvPr>
          <p:cNvSpPr txBox="1"/>
          <p:nvPr/>
        </p:nvSpPr>
        <p:spPr>
          <a:xfrm>
            <a:off x="6515116" y="2019895"/>
            <a:ext cx="2545126" cy="923330"/>
          </a:xfrm>
          <a:prstGeom prst="rect">
            <a:avLst/>
          </a:prstGeom>
          <a:noFill/>
        </p:spPr>
        <p:txBody>
          <a:bodyPr wrap="square" rtlCol="0">
            <a:spAutoFit/>
          </a:bodyPr>
          <a:lstStyle/>
          <a:p>
            <a:pPr>
              <a:buNone/>
            </a:pPr>
            <a:r>
              <a:rPr lang="en-US" sz="1800" dirty="0"/>
              <a:t>F</a:t>
            </a:r>
            <a:r>
              <a:rPr lang="en-US" altLang="zh-CN" sz="1800" dirty="0"/>
              <a:t>requency Changes for </a:t>
            </a:r>
            <a:r>
              <a:rPr lang="en-US" altLang="zh-CN" sz="1800" dirty="0">
                <a:solidFill>
                  <a:srgbClr val="961C1F"/>
                </a:solidFill>
              </a:rPr>
              <a:t>each GPU </a:t>
            </a:r>
            <a:r>
              <a:rPr lang="en-US" altLang="zh-CN" sz="1800" dirty="0"/>
              <a:t>and CPU</a:t>
            </a:r>
            <a:endParaRPr lang="en-US" sz="1800" dirty="0"/>
          </a:p>
        </p:txBody>
      </p:sp>
      <p:sp>
        <p:nvSpPr>
          <p:cNvPr id="56" name="TextBox 55">
            <a:extLst>
              <a:ext uri="{FF2B5EF4-FFF2-40B4-BE49-F238E27FC236}">
                <a16:creationId xmlns:a16="http://schemas.microsoft.com/office/drawing/2014/main" id="{EE0A72CB-DC47-B119-99A3-82B4F4991524}"/>
              </a:ext>
            </a:extLst>
          </p:cNvPr>
          <p:cNvSpPr txBox="1"/>
          <p:nvPr/>
        </p:nvSpPr>
        <p:spPr>
          <a:xfrm>
            <a:off x="97601" y="3197735"/>
            <a:ext cx="1740014" cy="369332"/>
          </a:xfrm>
          <a:prstGeom prst="rect">
            <a:avLst/>
          </a:prstGeom>
          <a:noFill/>
        </p:spPr>
        <p:txBody>
          <a:bodyPr wrap="square" rtlCol="0">
            <a:spAutoFit/>
          </a:bodyPr>
          <a:lstStyle/>
          <a:p>
            <a:pPr>
              <a:buNone/>
            </a:pPr>
            <a:r>
              <a:rPr lang="en-US" sz="1800" dirty="0"/>
              <a:t>Power Budget</a:t>
            </a:r>
          </a:p>
        </p:txBody>
      </p:sp>
      <p:sp>
        <p:nvSpPr>
          <p:cNvPr id="57" name="TextBox 56">
            <a:extLst>
              <a:ext uri="{FF2B5EF4-FFF2-40B4-BE49-F238E27FC236}">
                <a16:creationId xmlns:a16="http://schemas.microsoft.com/office/drawing/2014/main" id="{14E26C31-C266-70DD-4B91-0CA9DABD376D}"/>
              </a:ext>
            </a:extLst>
          </p:cNvPr>
          <p:cNvSpPr txBox="1"/>
          <p:nvPr/>
        </p:nvSpPr>
        <p:spPr>
          <a:xfrm>
            <a:off x="97601" y="5063469"/>
            <a:ext cx="1740014" cy="369332"/>
          </a:xfrm>
          <a:prstGeom prst="rect">
            <a:avLst/>
          </a:prstGeom>
          <a:noFill/>
        </p:spPr>
        <p:txBody>
          <a:bodyPr wrap="square" rtlCol="0">
            <a:spAutoFit/>
          </a:bodyPr>
          <a:lstStyle/>
          <a:p>
            <a:pPr>
              <a:buNone/>
            </a:pPr>
            <a:r>
              <a:rPr lang="en-US" sz="1800" dirty="0"/>
              <a:t>Current Power</a:t>
            </a:r>
          </a:p>
        </p:txBody>
      </p:sp>
      <p:sp>
        <p:nvSpPr>
          <p:cNvPr id="58" name="Arrow: Down 57">
            <a:extLst>
              <a:ext uri="{FF2B5EF4-FFF2-40B4-BE49-F238E27FC236}">
                <a16:creationId xmlns:a16="http://schemas.microsoft.com/office/drawing/2014/main" id="{58ACFD0E-4BEE-8CD8-C06D-8FBA6C70E6A2}"/>
              </a:ext>
            </a:extLst>
          </p:cNvPr>
          <p:cNvSpPr/>
          <p:nvPr/>
        </p:nvSpPr>
        <p:spPr bwMode="auto">
          <a:xfrm>
            <a:off x="3894065" y="5120848"/>
            <a:ext cx="68335" cy="497804"/>
          </a:xfrm>
          <a:prstGeom prst="downArrow">
            <a:avLst/>
          </a:prstGeom>
          <a:solidFill>
            <a:srgbClr val="961C1F"/>
          </a:solidFill>
          <a:ln w="6350" cap="flat" cmpd="sng" algn="ctr">
            <a:solidFill>
              <a:srgbClr val="961C1F"/>
            </a:solidFill>
            <a:prstDash val="solid"/>
            <a:round/>
            <a:headEnd type="triangle" w="sm" len="lg"/>
            <a:tailEnd type="triangle" w="sm" len="lg"/>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3400" b="0" i="0" u="sng" strike="noStrike" cap="none" normalizeH="0" baseline="0">
              <a:ln>
                <a:noFill/>
              </a:ln>
              <a:solidFill>
                <a:schemeClr val="tx1"/>
              </a:solidFill>
              <a:effectLst/>
              <a:latin typeface="Arial" charset="0"/>
            </a:endParaRPr>
          </a:p>
        </p:txBody>
      </p:sp>
      <p:sp>
        <p:nvSpPr>
          <p:cNvPr id="3" name="Content Placeholder 2">
            <a:extLst>
              <a:ext uri="{FF2B5EF4-FFF2-40B4-BE49-F238E27FC236}">
                <a16:creationId xmlns:a16="http://schemas.microsoft.com/office/drawing/2014/main" id="{C88CBB4B-CF81-B9E8-E8C8-56F6C21A56FE}"/>
              </a:ext>
            </a:extLst>
          </p:cNvPr>
          <p:cNvSpPr txBox="1">
            <a:spLocks/>
          </p:cNvSpPr>
          <p:nvPr/>
        </p:nvSpPr>
        <p:spPr bwMode="auto">
          <a:xfrm>
            <a:off x="770663" y="1195181"/>
            <a:ext cx="7745413" cy="472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176" tIns="45588" rIns="91176" bIns="45588" numCol="1" anchor="t" anchorCtr="0" compatLnSpc="1">
            <a:prstTxWarp prst="textNoShape">
              <a:avLst/>
            </a:prstTxWarp>
          </a:bodyPr>
          <a:lstStyle>
            <a:lvl1pPr marL="342900" indent="-342900" algn="l" rtl="0" eaLnBrk="0" fontAlgn="base" hangingPunct="0">
              <a:spcBef>
                <a:spcPct val="20000"/>
              </a:spcBef>
              <a:spcAft>
                <a:spcPct val="0"/>
              </a:spcAft>
              <a:buClr>
                <a:srgbClr val="961C1F"/>
              </a:buClr>
              <a:buFont typeface="Wingdings" pitchFamily="2" charset="2"/>
              <a:buChar char="§"/>
              <a:defRPr sz="2800">
                <a:solidFill>
                  <a:schemeClr val="tx1"/>
                </a:solidFill>
                <a:latin typeface="+mn-lt"/>
                <a:ea typeface="+mn-ea"/>
                <a:cs typeface="+mn-cs"/>
              </a:defRPr>
            </a:lvl1pPr>
            <a:lvl2pPr marL="730250" indent="-284163" algn="l" rtl="0" eaLnBrk="0" fontAlgn="base" hangingPunct="0">
              <a:spcBef>
                <a:spcPct val="20000"/>
              </a:spcBef>
              <a:spcAft>
                <a:spcPct val="0"/>
              </a:spcAft>
              <a:buClr>
                <a:srgbClr val="961C1F"/>
              </a:buClr>
              <a:buFont typeface="Wingdings" pitchFamily="2" charset="2"/>
              <a:buChar char="§"/>
              <a:defRPr sz="2400">
                <a:solidFill>
                  <a:schemeClr val="tx1"/>
                </a:solidFill>
                <a:latin typeface="+mn-lt"/>
              </a:defRPr>
            </a:lvl2pPr>
            <a:lvl3pPr marL="1062038" indent="-228600" algn="l" rtl="0" eaLnBrk="0" fontAlgn="base" hangingPunct="0">
              <a:spcBef>
                <a:spcPct val="20000"/>
              </a:spcBef>
              <a:spcAft>
                <a:spcPct val="0"/>
              </a:spcAft>
              <a:buClr>
                <a:srgbClr val="961C1F"/>
              </a:buClr>
              <a:buFont typeface="Wingdings" pitchFamily="2" charset="2"/>
              <a:buChar char="§"/>
              <a:defRPr sz="2000">
                <a:solidFill>
                  <a:schemeClr val="tx1"/>
                </a:solidFill>
                <a:latin typeface="+mn-lt"/>
              </a:defRPr>
            </a:lvl3pPr>
            <a:lvl4pPr marL="1392238" indent="-228600" algn="l" rtl="0" eaLnBrk="0" fontAlgn="base" hangingPunct="0">
              <a:spcBef>
                <a:spcPct val="20000"/>
              </a:spcBef>
              <a:spcAft>
                <a:spcPct val="0"/>
              </a:spcAft>
              <a:buClr>
                <a:srgbClr val="961C1F"/>
              </a:buClr>
              <a:buFont typeface="Wingdings" pitchFamily="2" charset="2"/>
              <a:buChar char="§"/>
              <a:defRPr sz="1800">
                <a:solidFill>
                  <a:schemeClr val="tx1"/>
                </a:solidFill>
                <a:latin typeface="+mn-lt"/>
              </a:defRPr>
            </a:lvl4pPr>
            <a:lvl5pPr marL="1722438" indent="-228600" algn="l" rtl="0" eaLnBrk="0" fontAlgn="base" hangingPunct="0">
              <a:spcBef>
                <a:spcPct val="20000"/>
              </a:spcBef>
              <a:spcAft>
                <a:spcPct val="0"/>
              </a:spcAft>
              <a:buClr>
                <a:srgbClr val="961C1F"/>
              </a:buClr>
              <a:buFont typeface="Wingdings" pitchFamily="2" charset="2"/>
              <a:buChar char="§"/>
              <a:defRPr sz="1600">
                <a:solidFill>
                  <a:schemeClr val="tx1"/>
                </a:solidFill>
                <a:latin typeface="+mn-lt"/>
              </a:defRPr>
            </a:lvl5pPr>
            <a:lvl6pPr marL="2179638" indent="-228600" algn="l" rtl="0" eaLnBrk="0" fontAlgn="base" hangingPunct="0">
              <a:spcBef>
                <a:spcPct val="20000"/>
              </a:spcBef>
              <a:spcAft>
                <a:spcPct val="0"/>
              </a:spcAft>
              <a:buClr>
                <a:schemeClr val="tx1"/>
              </a:buClr>
              <a:buChar char="•"/>
              <a:defRPr sz="1400">
                <a:solidFill>
                  <a:schemeClr val="tx1"/>
                </a:solidFill>
                <a:latin typeface="+mn-lt"/>
              </a:defRPr>
            </a:lvl6pPr>
            <a:lvl7pPr marL="2636838" indent="-228600" algn="l" rtl="0" eaLnBrk="0" fontAlgn="base" hangingPunct="0">
              <a:spcBef>
                <a:spcPct val="20000"/>
              </a:spcBef>
              <a:spcAft>
                <a:spcPct val="0"/>
              </a:spcAft>
              <a:buClr>
                <a:schemeClr val="tx1"/>
              </a:buClr>
              <a:buChar char="•"/>
              <a:defRPr sz="1400">
                <a:solidFill>
                  <a:schemeClr val="tx1"/>
                </a:solidFill>
                <a:latin typeface="+mn-lt"/>
              </a:defRPr>
            </a:lvl7pPr>
            <a:lvl8pPr marL="3094038" indent="-228600" algn="l" rtl="0" eaLnBrk="0" fontAlgn="base" hangingPunct="0">
              <a:spcBef>
                <a:spcPct val="20000"/>
              </a:spcBef>
              <a:spcAft>
                <a:spcPct val="0"/>
              </a:spcAft>
              <a:buClr>
                <a:schemeClr val="tx1"/>
              </a:buClr>
              <a:buChar char="•"/>
              <a:defRPr sz="1400">
                <a:solidFill>
                  <a:schemeClr val="tx1"/>
                </a:solidFill>
                <a:latin typeface="+mn-lt"/>
              </a:defRPr>
            </a:lvl8pPr>
            <a:lvl9pPr marL="3551238" indent="-228600" algn="l" rtl="0" eaLnBrk="0" fontAlgn="base" hangingPunct="0">
              <a:spcBef>
                <a:spcPct val="20000"/>
              </a:spcBef>
              <a:spcAft>
                <a:spcPct val="0"/>
              </a:spcAft>
              <a:buClr>
                <a:schemeClr val="tx1"/>
              </a:buClr>
              <a:buChar char="•"/>
              <a:defRPr sz="1400">
                <a:solidFill>
                  <a:schemeClr val="tx1"/>
                </a:solidFill>
                <a:latin typeface="+mn-lt"/>
              </a:defRPr>
            </a:lvl9pPr>
          </a:lstStyle>
          <a:p>
            <a:r>
              <a:rPr lang="en-US" altLang="en-US" sz="2000" kern="0" dirty="0">
                <a:latin typeface="Arial" panose="020B0604020202020204" pitchFamily="34" charset="0"/>
              </a:rPr>
              <a:t>Why Model Predictive Controller?</a:t>
            </a:r>
          </a:p>
          <a:p>
            <a:pPr lvl="1"/>
            <a:r>
              <a:rPr lang="en-US" altLang="en-US" sz="1800" kern="0" dirty="0">
                <a:latin typeface="Arial" panose="020B0604020202020204" pitchFamily="34" charset="0"/>
              </a:rPr>
              <a:t>MPC can solve problem with constraints and dynamic allocation easily.</a:t>
            </a:r>
          </a:p>
          <a:p>
            <a:endParaRPr lang="en-US" sz="2000" kern="0" dirty="0"/>
          </a:p>
        </p:txBody>
      </p:sp>
      <p:sp>
        <p:nvSpPr>
          <p:cNvPr id="6" name="对话气泡: 矩形 5">
            <a:extLst>
              <a:ext uri="{FF2B5EF4-FFF2-40B4-BE49-F238E27FC236}">
                <a16:creationId xmlns:a16="http://schemas.microsoft.com/office/drawing/2014/main" id="{26EC8C81-919E-F702-C68A-707E6A290EFB}"/>
              </a:ext>
            </a:extLst>
          </p:cNvPr>
          <p:cNvSpPr/>
          <p:nvPr/>
        </p:nvSpPr>
        <p:spPr bwMode="auto">
          <a:xfrm>
            <a:off x="4937404" y="4458180"/>
            <a:ext cx="3155556" cy="1068509"/>
          </a:xfrm>
          <a:prstGeom prst="wedgeRectCallout">
            <a:avLst/>
          </a:prstGeom>
          <a:solidFill>
            <a:schemeClr val="accent5"/>
          </a:solidFill>
          <a:ln w="6350" cap="flat" cmpd="sng" algn="ctr">
            <a:solidFill>
              <a:schemeClr val="bg1"/>
            </a:solidFill>
            <a:prstDash val="solid"/>
            <a:round/>
            <a:headEnd type="triangle" w="sm" len="lg"/>
            <a:tailEnd type="triangle" w="sm" len="lg"/>
          </a:ln>
          <a:effectLst/>
        </p:spPr>
        <p:txBody>
          <a:bodyPr vert="horz" wrap="none" lIns="91440" tIns="45720" rIns="91440" bIns="45720" numCol="1" rtlCol="0" anchor="ctr" anchorCtr="0" compatLnSpc="1">
            <a:prstTxWarp prst="textNoShape">
              <a:avLst/>
            </a:prstTxWarp>
          </a:bodyPr>
          <a:lstStyle/>
          <a:p>
            <a:pPr algn="ctr">
              <a:buNone/>
            </a:pPr>
            <a:r>
              <a:rPr lang="en-US" altLang="zh-CN" sz="1800" dirty="0"/>
              <a:t>Manage the</a:t>
            </a:r>
          </a:p>
          <a:p>
            <a:pPr algn="ctr">
              <a:buNone/>
            </a:pPr>
            <a:r>
              <a:rPr lang="en-US" altLang="zh-CN" sz="1800" dirty="0"/>
              <a:t>control step</a:t>
            </a:r>
          </a:p>
        </p:txBody>
      </p:sp>
      <p:sp>
        <p:nvSpPr>
          <p:cNvPr id="4" name="对话气泡: 矩形 3">
            <a:extLst>
              <a:ext uri="{FF2B5EF4-FFF2-40B4-BE49-F238E27FC236}">
                <a16:creationId xmlns:a16="http://schemas.microsoft.com/office/drawing/2014/main" id="{3B2C64C4-B624-3783-45C5-79A77E580B20}"/>
              </a:ext>
            </a:extLst>
          </p:cNvPr>
          <p:cNvSpPr/>
          <p:nvPr/>
        </p:nvSpPr>
        <p:spPr bwMode="auto">
          <a:xfrm>
            <a:off x="1290614" y="4495800"/>
            <a:ext cx="2915983" cy="1030889"/>
          </a:xfrm>
          <a:prstGeom prst="wedgeRectCallout">
            <a:avLst/>
          </a:prstGeom>
          <a:solidFill>
            <a:schemeClr val="accent5"/>
          </a:solidFill>
          <a:ln w="6350" cap="flat" cmpd="sng" algn="ctr">
            <a:solidFill>
              <a:schemeClr val="bg1"/>
            </a:solidFill>
            <a:prstDash val="solid"/>
            <a:round/>
            <a:headEnd type="triangle" w="sm" len="lg"/>
            <a:tailEnd type="triangle" w="sm" len="lg"/>
          </a:ln>
          <a:effectLst/>
        </p:spPr>
        <p:txBody>
          <a:bodyPr vert="horz" wrap="none" lIns="91440" tIns="45720" rIns="91440" bIns="45720" numCol="1" rtlCol="0" anchor="ctr" anchorCtr="0" compatLnSpc="1">
            <a:prstTxWarp prst="textNoShape">
              <a:avLst/>
            </a:prstTxWarp>
          </a:bodyPr>
          <a:lstStyle/>
          <a:p>
            <a:pPr algn="ctr">
              <a:buNone/>
            </a:pPr>
            <a:r>
              <a:rPr lang="en-US" altLang="zh-CN" sz="1800" dirty="0"/>
              <a:t>Minimize difference</a:t>
            </a:r>
          </a:p>
          <a:p>
            <a:pPr algn="ctr">
              <a:buNone/>
            </a:pPr>
            <a:r>
              <a:rPr lang="en-US" altLang="zh-CN" sz="1800" dirty="0"/>
              <a:t>between power and setpoint</a:t>
            </a:r>
          </a:p>
        </p:txBody>
      </p:sp>
    </p:spTree>
    <p:extLst>
      <p:ext uri="{BB962C8B-B14F-4D97-AF65-F5344CB8AC3E}">
        <p14:creationId xmlns:p14="http://schemas.microsoft.com/office/powerpoint/2010/main" val="3856896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14" grpId="0" animBg="1"/>
      <p:bldP spid="17" grpId="0" animBg="1"/>
      <p:bldP spid="19" grpId="0" animBg="1"/>
      <p:bldP spid="20" grpId="0" animBg="1"/>
      <p:bldP spid="33" grpId="0" animBg="1"/>
      <p:bldP spid="35" grpId="0" animBg="1"/>
      <p:bldP spid="36" grpId="0" animBg="1"/>
      <p:bldP spid="37" grpId="0" animBg="1"/>
      <p:bldP spid="39" grpId="0" animBg="1"/>
      <p:bldP spid="51" grpId="0" animBg="1"/>
      <p:bldP spid="52" grpId="0" animBg="1"/>
      <p:bldP spid="53" grpId="0" animBg="1"/>
      <p:bldP spid="54" grpId="0"/>
      <p:bldP spid="55" grpId="0"/>
      <p:bldP spid="56" grpId="0"/>
      <p:bldP spid="57" grpId="0"/>
      <p:bldP spid="58" grpId="0" animBg="1"/>
      <p:bldP spid="6" grpId="0" animBg="1"/>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9B4D49-BC2C-0581-A090-79A756C225C2}"/>
              </a:ext>
            </a:extLst>
          </p:cNvPr>
          <p:cNvSpPr>
            <a:spLocks noGrp="1"/>
          </p:cNvSpPr>
          <p:nvPr>
            <p:ph type="title"/>
          </p:nvPr>
        </p:nvSpPr>
        <p:spPr/>
        <p:txBody>
          <a:bodyPr/>
          <a:lstStyle/>
          <a:p>
            <a:r>
              <a:rPr lang="en-US" altLang="zh-CN" dirty="0"/>
              <a:t>Weight Assignment</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A98B619B-686C-CAB8-A60B-C94FC7184C0F}"/>
                  </a:ext>
                </a:extLst>
              </p:cNvPr>
              <p:cNvSpPr>
                <a:spLocks noGrp="1"/>
              </p:cNvSpPr>
              <p:nvPr>
                <p:ph idx="1"/>
              </p:nvPr>
            </p:nvSpPr>
            <p:spPr/>
            <p:txBody>
              <a:bodyPr/>
              <a:lstStyle/>
              <a:p>
                <a:r>
                  <a:rPr lang="en-HK" altLang="zh-CN" sz="2000" dirty="0"/>
                  <a:t>Different components (CPU / GPUs) have different workload intensities.</a:t>
                </a:r>
              </a:p>
              <a:p>
                <a:pPr lvl="1"/>
                <a:r>
                  <a:rPr lang="en-HK" altLang="zh-CN" sz="1800" dirty="0"/>
                  <a:t>Static penalty weights may unfairly penalize busy components.</a:t>
                </a:r>
              </a:p>
              <a:p>
                <a:endParaRPr lang="en-HK" altLang="zh-CN" sz="2000" dirty="0"/>
              </a:p>
              <a:p>
                <a14:m>
                  <m:oMath xmlns:m="http://schemas.openxmlformats.org/officeDocument/2006/math">
                    <m:sSub>
                      <m:sSubPr>
                        <m:ctrlPr>
                          <a:rPr lang="en-HK" altLang="zh-CN" sz="2000" i="1" smtClean="0">
                            <a:latin typeface="Cambria Math" panose="02040503050406030204" pitchFamily="18" charset="0"/>
                          </a:rPr>
                        </m:ctrlPr>
                      </m:sSubPr>
                      <m:e>
                        <m:r>
                          <a:rPr lang="en-US" altLang="zh-CN" sz="2000" b="0" i="1" smtClean="0">
                            <a:latin typeface="Cambria Math" panose="02040503050406030204" pitchFamily="18" charset="0"/>
                          </a:rPr>
                          <m:t>𝑅</m:t>
                        </m:r>
                      </m:e>
                      <m:sub>
                        <m:r>
                          <a:rPr lang="en-US" altLang="zh-CN" sz="2000" b="0" i="1" smtClean="0">
                            <a:latin typeface="Cambria Math" panose="02040503050406030204" pitchFamily="18" charset="0"/>
                          </a:rPr>
                          <m:t>𝑗</m:t>
                        </m:r>
                      </m:sub>
                    </m:sSub>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1</m:t>
                        </m:r>
                      </m:num>
                      <m:den>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𝑇</m:t>
                            </m:r>
                          </m:e>
                          <m:sub>
                            <m:r>
                              <a:rPr lang="en-US" altLang="zh-CN" sz="2000" b="0" i="1" smtClean="0">
                                <a:latin typeface="Cambria Math" panose="02040503050406030204" pitchFamily="18" charset="0"/>
                              </a:rPr>
                              <m:t>𝑗</m:t>
                            </m:r>
                          </m:sub>
                        </m:sSub>
                        <m:r>
                          <a:rPr lang="en-US" altLang="zh-CN" sz="2000" b="0" i="1" smtClean="0">
                            <a:latin typeface="Cambria Math" panose="02040503050406030204" pitchFamily="18" charset="0"/>
                          </a:rPr>
                          <m:t>+</m:t>
                        </m:r>
                        <m:r>
                          <m:rPr>
                            <m:sty m:val="p"/>
                          </m:rPr>
                          <a:rPr lang="el-GR" altLang="zh-CN" sz="2000" b="0" i="1" smtClean="0">
                            <a:latin typeface="Cambria Math" panose="02040503050406030204" pitchFamily="18" charset="0"/>
                          </a:rPr>
                          <m:t>ε</m:t>
                        </m:r>
                      </m:den>
                    </m:f>
                  </m:oMath>
                </a14:m>
                <a:endParaRPr lang="en-HK" altLang="zh-CN" sz="2000" dirty="0"/>
              </a:p>
              <a:p>
                <a:endParaRPr lang="en-HK" altLang="zh-CN" sz="2000" dirty="0"/>
              </a:p>
              <a:p>
                <a:r>
                  <a:rPr lang="en-HK" altLang="zh-CN" sz="2000" dirty="0"/>
                  <a:t>Achieved by assigning smaller penalty weights to high-throughput units in MPC cost.</a:t>
                </a:r>
              </a:p>
              <a:p>
                <a:endParaRPr lang="en-HK" altLang="zh-CN" sz="2000" dirty="0"/>
              </a:p>
              <a:p>
                <a:r>
                  <a:rPr lang="en-HK" altLang="zh-CN" sz="2000" dirty="0"/>
                  <a:t>MPC tends to increase busy component’s frequency.</a:t>
                </a:r>
              </a:p>
              <a:p>
                <a:pPr marL="0" indent="0">
                  <a:buNone/>
                </a:pPr>
                <a:endParaRPr lang="en-HK" altLang="zh-CN" sz="2000" dirty="0"/>
              </a:p>
              <a:p>
                <a:endParaRPr lang="en-HK" altLang="zh-CN" sz="2000" dirty="0"/>
              </a:p>
            </p:txBody>
          </p:sp>
        </mc:Choice>
        <mc:Fallback xmlns="">
          <p:sp>
            <p:nvSpPr>
              <p:cNvPr id="3" name="内容占位符 2">
                <a:extLst>
                  <a:ext uri="{FF2B5EF4-FFF2-40B4-BE49-F238E27FC236}">
                    <a16:creationId xmlns:a16="http://schemas.microsoft.com/office/drawing/2014/main" id="{A98B619B-686C-CAB8-A60B-C94FC7184C0F}"/>
                  </a:ext>
                </a:extLst>
              </p:cNvPr>
              <p:cNvSpPr>
                <a:spLocks noGrp="1" noRot="1" noChangeAspect="1" noMove="1" noResize="1" noEditPoints="1" noAdjustHandles="1" noChangeArrowheads="1" noChangeShapeType="1" noTextEdit="1"/>
              </p:cNvSpPr>
              <p:nvPr>
                <p:ph idx="1"/>
              </p:nvPr>
            </p:nvSpPr>
            <p:spPr>
              <a:blipFill>
                <a:blip r:embed="rId3"/>
                <a:stretch>
                  <a:fillRect l="-787" t="-64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48031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E2136F-7FBD-D099-FC25-009B03468FD7}"/>
              </a:ext>
            </a:extLst>
          </p:cNvPr>
          <p:cNvSpPr>
            <a:spLocks noGrp="1"/>
          </p:cNvSpPr>
          <p:nvPr>
            <p:ph type="title"/>
          </p:nvPr>
        </p:nvSpPr>
        <p:spPr/>
        <p:txBody>
          <a:bodyPr/>
          <a:lstStyle/>
          <a:p>
            <a:r>
              <a:rPr lang="en-US" dirty="0"/>
              <a:t>Experimental Setup</a:t>
            </a:r>
          </a:p>
        </p:txBody>
      </p:sp>
      <p:sp>
        <p:nvSpPr>
          <p:cNvPr id="3" name="Content Placeholder 2">
            <a:extLst>
              <a:ext uri="{FF2B5EF4-FFF2-40B4-BE49-F238E27FC236}">
                <a16:creationId xmlns:a16="http://schemas.microsoft.com/office/drawing/2014/main" id="{6BFE3A2F-CD60-BA3A-227A-019C2CD472C0}"/>
              </a:ext>
            </a:extLst>
          </p:cNvPr>
          <p:cNvSpPr>
            <a:spLocks noGrp="1"/>
          </p:cNvSpPr>
          <p:nvPr>
            <p:ph idx="1"/>
          </p:nvPr>
        </p:nvSpPr>
        <p:spPr/>
        <p:txBody>
          <a:bodyPr/>
          <a:lstStyle/>
          <a:p>
            <a:r>
              <a:rPr lang="en-US" sz="2000" dirty="0"/>
              <a:t>Testbed:</a:t>
            </a:r>
          </a:p>
          <a:p>
            <a:pPr lvl="1"/>
            <a:r>
              <a:rPr lang="en-US" sz="2000" dirty="0"/>
              <a:t>A server hosts three Nvidia V100 GPUs and Intel Xeon Gold 5215.</a:t>
            </a:r>
          </a:p>
          <a:p>
            <a:r>
              <a:rPr lang="en-US" sz="2000" dirty="0"/>
              <a:t>Frequency Modulators:</a:t>
            </a:r>
          </a:p>
          <a:p>
            <a:pPr lvl="1"/>
            <a:r>
              <a:rPr lang="en-US" sz="2000" dirty="0"/>
              <a:t>CPU DVFS: </a:t>
            </a:r>
            <a:r>
              <a:rPr lang="en-US" sz="2000" dirty="0" err="1"/>
              <a:t>cpupower</a:t>
            </a:r>
            <a:endParaRPr lang="en-US" sz="2000" dirty="0"/>
          </a:p>
          <a:p>
            <a:pPr lvl="1"/>
            <a:r>
              <a:rPr lang="en-US" sz="2000" dirty="0"/>
              <a:t>GPU frequency scaling: </a:t>
            </a:r>
            <a:r>
              <a:rPr lang="en-US" sz="2000" dirty="0" err="1"/>
              <a:t>nvidia-smi</a:t>
            </a:r>
            <a:endParaRPr lang="en-US" sz="2000" dirty="0"/>
          </a:p>
          <a:p>
            <a:pPr lvl="1"/>
            <a:r>
              <a:rPr lang="en-US" sz="2000" dirty="0"/>
              <a:t>Approximate a fractional level with discrete </a:t>
            </a:r>
            <a:r>
              <a:rPr lang="en-US" sz="2000" dirty="0" err="1"/>
              <a:t>freq</a:t>
            </a:r>
            <a:r>
              <a:rPr lang="en-US" sz="2000" dirty="0"/>
              <a:t> levels?</a:t>
            </a:r>
          </a:p>
          <a:p>
            <a:pPr lvl="2"/>
            <a:r>
              <a:rPr lang="en-US" sz="1800" dirty="0"/>
              <a:t>Delta-sigma: For 2.25 GHz, do 2, 2, 2, and 3 on a subinterval.</a:t>
            </a:r>
          </a:p>
          <a:p>
            <a:r>
              <a:rPr lang="en-US" sz="2000" dirty="0"/>
              <a:t>Workload:</a:t>
            </a:r>
          </a:p>
          <a:p>
            <a:pPr lvl="1"/>
            <a:r>
              <a:rPr lang="en-US" sz="2000" dirty="0"/>
              <a:t>GPU inference: Swin Transformer, ResNet50, and VGG16 .</a:t>
            </a:r>
          </a:p>
          <a:p>
            <a:pPr lvl="1"/>
            <a:r>
              <a:rPr lang="en-US" sz="2000" dirty="0"/>
              <a:t>CPU: a data analysis workload based on Alibaba PAI dataset.</a:t>
            </a:r>
          </a:p>
          <a:p>
            <a:endParaRPr lang="en-US" dirty="0"/>
          </a:p>
        </p:txBody>
      </p:sp>
    </p:spTree>
    <p:extLst>
      <p:ext uri="{BB962C8B-B14F-4D97-AF65-F5344CB8AC3E}">
        <p14:creationId xmlns:p14="http://schemas.microsoft.com/office/powerpoint/2010/main" val="1053107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E018D-13ED-50B2-E37F-F7B2284FF59E}"/>
              </a:ext>
            </a:extLst>
          </p:cNvPr>
          <p:cNvSpPr>
            <a:spLocks noGrp="1"/>
          </p:cNvSpPr>
          <p:nvPr>
            <p:ph type="title"/>
          </p:nvPr>
        </p:nvSpPr>
        <p:spPr/>
        <p:txBody>
          <a:bodyPr/>
          <a:lstStyle/>
          <a:p>
            <a:r>
              <a:rPr lang="en-US" dirty="0"/>
              <a:t>Baselines</a:t>
            </a:r>
          </a:p>
        </p:txBody>
      </p:sp>
      <p:sp>
        <p:nvSpPr>
          <p:cNvPr id="3" name="Content Placeholder 2">
            <a:extLst>
              <a:ext uri="{FF2B5EF4-FFF2-40B4-BE49-F238E27FC236}">
                <a16:creationId xmlns:a16="http://schemas.microsoft.com/office/drawing/2014/main" id="{65189C73-0B0C-1023-3FBD-06A7282AF74F}"/>
              </a:ext>
            </a:extLst>
          </p:cNvPr>
          <p:cNvSpPr>
            <a:spLocks noGrp="1"/>
          </p:cNvSpPr>
          <p:nvPr>
            <p:ph idx="1"/>
          </p:nvPr>
        </p:nvSpPr>
        <p:spPr>
          <a:xfrm>
            <a:off x="769938" y="1295400"/>
            <a:ext cx="7745413" cy="4722813"/>
          </a:xfrm>
        </p:spPr>
        <p:txBody>
          <a:bodyPr/>
          <a:lstStyle/>
          <a:p>
            <a:r>
              <a:rPr lang="en-US" sz="2000" dirty="0">
                <a:solidFill>
                  <a:srgbClr val="FF0000"/>
                </a:solidFill>
              </a:rPr>
              <a:t>Fixed-step</a:t>
            </a:r>
            <a:r>
              <a:rPr lang="en-US" sz="2000" dirty="0"/>
              <a:t>: a controller that only changes frequency of GPU and CPU with fixed value.(TPDS’22)</a:t>
            </a:r>
          </a:p>
          <a:p>
            <a:endParaRPr lang="en-US" sz="2000" dirty="0"/>
          </a:p>
          <a:p>
            <a:r>
              <a:rPr lang="en-US" sz="2000" dirty="0">
                <a:solidFill>
                  <a:srgbClr val="FF0000"/>
                </a:solidFill>
              </a:rPr>
              <a:t>GPU-Only</a:t>
            </a:r>
            <a:r>
              <a:rPr lang="en-US" sz="2000" dirty="0"/>
              <a:t>: a proportional controller to control power by adjusting GPU frequency.(ICDCS’22)</a:t>
            </a:r>
          </a:p>
          <a:p>
            <a:endParaRPr lang="en-US" sz="2000" dirty="0"/>
          </a:p>
          <a:p>
            <a:r>
              <a:rPr lang="en-US" sz="2000" dirty="0">
                <a:solidFill>
                  <a:srgbClr val="FF0000"/>
                </a:solidFill>
              </a:rPr>
              <a:t>CPU-Only</a:t>
            </a:r>
            <a:r>
              <a:rPr lang="en-US" sz="2000" dirty="0"/>
              <a:t>: a proportional controller to control power by adjusting CPU frequency. (HPCA’08)</a:t>
            </a:r>
          </a:p>
          <a:p>
            <a:endParaRPr lang="en-US" sz="2000" dirty="0"/>
          </a:p>
          <a:p>
            <a:r>
              <a:rPr lang="en-US" sz="2000" dirty="0">
                <a:solidFill>
                  <a:srgbClr val="FF0000"/>
                </a:solidFill>
              </a:rPr>
              <a:t>CPU+GPU</a:t>
            </a:r>
            <a:r>
              <a:rPr lang="en-US" sz="2000" dirty="0"/>
              <a:t>: control the CPU and GPU power independently by 2 separate loops.(IGSC’18)</a:t>
            </a:r>
          </a:p>
          <a:p>
            <a:endParaRPr lang="en-US" sz="2000" dirty="0"/>
          </a:p>
        </p:txBody>
      </p:sp>
    </p:spTree>
    <p:extLst>
      <p:ext uri="{BB962C8B-B14F-4D97-AF65-F5344CB8AC3E}">
        <p14:creationId xmlns:p14="http://schemas.microsoft.com/office/powerpoint/2010/main" val="3619358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71EC9-738E-7985-628F-ADE7D860087A}"/>
              </a:ext>
            </a:extLst>
          </p:cNvPr>
          <p:cNvSpPr>
            <a:spLocks noGrp="1"/>
          </p:cNvSpPr>
          <p:nvPr>
            <p:ph type="title"/>
          </p:nvPr>
        </p:nvSpPr>
        <p:spPr/>
        <p:txBody>
          <a:bodyPr/>
          <a:lstStyle/>
          <a:p>
            <a:r>
              <a:rPr lang="en-US" dirty="0"/>
              <a:t>Comparison with Baselines</a:t>
            </a:r>
          </a:p>
        </p:txBody>
      </p:sp>
      <p:pic>
        <p:nvPicPr>
          <p:cNvPr id="5" name="Content Placeholder 4" descr="A graph of different colored lines&#10;&#10;AI-generated content may be incorrect.">
            <a:extLst>
              <a:ext uri="{FF2B5EF4-FFF2-40B4-BE49-F238E27FC236}">
                <a16:creationId xmlns:a16="http://schemas.microsoft.com/office/drawing/2014/main" id="{B35244A5-BF52-BE2F-4145-15A240500F0A}"/>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39605" y="2286000"/>
            <a:ext cx="4436961" cy="2090491"/>
          </a:xfrm>
        </p:spPr>
      </p:pic>
      <p:pic>
        <p:nvPicPr>
          <p:cNvPr id="10" name="Picture 9" descr="A graph of different colors and numbers&#10;&#10;AI-generated content may be incorrect.">
            <a:extLst>
              <a:ext uri="{FF2B5EF4-FFF2-40B4-BE49-F238E27FC236}">
                <a16:creationId xmlns:a16="http://schemas.microsoft.com/office/drawing/2014/main" id="{3A1A037E-C175-16ED-C986-E63DBFC8AF6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343400" y="2285999"/>
            <a:ext cx="4373795" cy="2090491"/>
          </a:xfrm>
          <a:prstGeom prst="rect">
            <a:avLst/>
          </a:prstGeom>
        </p:spPr>
      </p:pic>
      <p:sp>
        <p:nvSpPr>
          <p:cNvPr id="11" name="TextBox 10">
            <a:extLst>
              <a:ext uri="{FF2B5EF4-FFF2-40B4-BE49-F238E27FC236}">
                <a16:creationId xmlns:a16="http://schemas.microsoft.com/office/drawing/2014/main" id="{7F0B280C-F939-0688-CEA6-F8E06FC27AAF}"/>
              </a:ext>
            </a:extLst>
          </p:cNvPr>
          <p:cNvSpPr txBox="1"/>
          <p:nvPr/>
        </p:nvSpPr>
        <p:spPr>
          <a:xfrm>
            <a:off x="769938" y="4580542"/>
            <a:ext cx="8269288" cy="400110"/>
          </a:xfrm>
          <a:prstGeom prst="rect">
            <a:avLst/>
          </a:prstGeom>
          <a:noFill/>
        </p:spPr>
        <p:txBody>
          <a:bodyPr wrap="square">
            <a:spAutoFit/>
          </a:bodyPr>
          <a:lstStyle/>
          <a:p>
            <a:pPr marL="342900" indent="-342900"/>
            <a:r>
              <a:rPr lang="en-US" sz="2000" dirty="0" err="1"/>
              <a:t>CapGPU</a:t>
            </a:r>
            <a:r>
              <a:rPr lang="en-US" sz="2000" dirty="0"/>
              <a:t> has the most precise power control.</a:t>
            </a:r>
          </a:p>
        </p:txBody>
      </p:sp>
    </p:spTree>
    <p:extLst>
      <p:ext uri="{BB962C8B-B14F-4D97-AF65-F5344CB8AC3E}">
        <p14:creationId xmlns:p14="http://schemas.microsoft.com/office/powerpoint/2010/main" val="417759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内容占位符 15">
            <a:extLst>
              <a:ext uri="{FF2B5EF4-FFF2-40B4-BE49-F238E27FC236}">
                <a16:creationId xmlns:a16="http://schemas.microsoft.com/office/drawing/2014/main" id="{01813F30-3932-095F-D9A6-DF0E968B2AF6}"/>
              </a:ext>
            </a:extLst>
          </p:cNvPr>
          <p:cNvSpPr>
            <a:spLocks noGrp="1"/>
          </p:cNvSpPr>
          <p:nvPr>
            <p:ph idx="1"/>
          </p:nvPr>
        </p:nvSpPr>
        <p:spPr/>
        <p:txBody>
          <a:bodyPr/>
          <a:lstStyle/>
          <a:p>
            <a:r>
              <a:rPr lang="en-US" altLang="zh-CN" sz="2000" dirty="0"/>
              <a:t>In this experiments, we compare the performance of all the solutions.</a:t>
            </a:r>
          </a:p>
          <a:p>
            <a:endParaRPr lang="en-US" altLang="zh-CN" sz="2000" dirty="0"/>
          </a:p>
          <a:p>
            <a:endParaRPr lang="en-US" altLang="zh-CN" sz="2000" dirty="0"/>
          </a:p>
          <a:p>
            <a:endParaRPr lang="en-US" altLang="zh-CN" sz="2000" dirty="0"/>
          </a:p>
          <a:p>
            <a:endParaRPr lang="en-US" altLang="zh-CN" sz="2000" dirty="0"/>
          </a:p>
          <a:p>
            <a:endParaRPr lang="en-US" altLang="zh-CN" sz="2000" dirty="0"/>
          </a:p>
          <a:p>
            <a:endParaRPr lang="en-US" altLang="zh-CN" sz="2000" dirty="0"/>
          </a:p>
          <a:p>
            <a:endParaRPr lang="en-US" altLang="zh-CN" sz="2000" dirty="0"/>
          </a:p>
          <a:p>
            <a:endParaRPr lang="en-US" altLang="zh-CN" sz="2000" dirty="0"/>
          </a:p>
          <a:p>
            <a:r>
              <a:rPr lang="en-US" altLang="zh-CN" sz="2000" dirty="0"/>
              <a:t>CapGPU delivers the highest GPU inference throughput and the lowest latency.</a:t>
            </a:r>
          </a:p>
          <a:p>
            <a:r>
              <a:rPr lang="en-US" altLang="zh-CN" sz="2000" dirty="0"/>
              <a:t>More results are shown in the paper.</a:t>
            </a:r>
          </a:p>
          <a:p>
            <a:endParaRPr lang="en-US" altLang="zh-CN" sz="2000" dirty="0"/>
          </a:p>
          <a:p>
            <a:endParaRPr lang="en-US" altLang="zh-CN" sz="2000" dirty="0"/>
          </a:p>
          <a:p>
            <a:endParaRPr lang="en-US" altLang="zh-CN" sz="2000" dirty="0"/>
          </a:p>
          <a:p>
            <a:endParaRPr lang="en-US" altLang="zh-CN" sz="2000" dirty="0"/>
          </a:p>
          <a:p>
            <a:endParaRPr lang="en-US" altLang="zh-CN" sz="2000" dirty="0"/>
          </a:p>
          <a:p>
            <a:endParaRPr lang="en-US" altLang="zh-CN" sz="2000" dirty="0"/>
          </a:p>
          <a:p>
            <a:endParaRPr lang="en-US" altLang="zh-CN" sz="2000" dirty="0"/>
          </a:p>
          <a:p>
            <a:endParaRPr lang="zh-CN" altLang="en-US" sz="2000" dirty="0"/>
          </a:p>
        </p:txBody>
      </p:sp>
      <p:sp>
        <p:nvSpPr>
          <p:cNvPr id="2" name="Title 1">
            <a:extLst>
              <a:ext uri="{FF2B5EF4-FFF2-40B4-BE49-F238E27FC236}">
                <a16:creationId xmlns:a16="http://schemas.microsoft.com/office/drawing/2014/main" id="{BDD94244-5C96-76D1-1473-98A95C570FCE}"/>
              </a:ext>
            </a:extLst>
          </p:cNvPr>
          <p:cNvSpPr>
            <a:spLocks noGrp="1"/>
          </p:cNvSpPr>
          <p:nvPr>
            <p:ph type="title"/>
          </p:nvPr>
        </p:nvSpPr>
        <p:spPr/>
        <p:txBody>
          <a:bodyPr/>
          <a:lstStyle/>
          <a:p>
            <a:pPr marL="342900" indent="-342900"/>
            <a:r>
              <a:rPr lang="en-US" dirty="0"/>
              <a:t>Comparison for Different Setpoints</a:t>
            </a:r>
          </a:p>
        </p:txBody>
      </p:sp>
      <p:pic>
        <p:nvPicPr>
          <p:cNvPr id="11" name="图片 10" descr="图表, 条形图&#10;&#10;AI 生成的内容可能不正确。">
            <a:extLst>
              <a:ext uri="{FF2B5EF4-FFF2-40B4-BE49-F238E27FC236}">
                <a16:creationId xmlns:a16="http://schemas.microsoft.com/office/drawing/2014/main" id="{B43D5DDC-EDD6-FE81-3465-CAD58CFD1F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6800" y="2742967"/>
            <a:ext cx="3147280" cy="2192699"/>
          </a:xfrm>
          <a:prstGeom prst="rect">
            <a:avLst/>
          </a:prstGeom>
        </p:spPr>
      </p:pic>
      <p:pic>
        <p:nvPicPr>
          <p:cNvPr id="13" name="图片 12" descr="图表, 条形图&#10;&#10;AI 生成的内容可能不正确。">
            <a:extLst>
              <a:ext uri="{FF2B5EF4-FFF2-40B4-BE49-F238E27FC236}">
                <a16:creationId xmlns:a16="http://schemas.microsoft.com/office/drawing/2014/main" id="{1E769DF8-5FBE-0F80-C1FA-34E2E3869D4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84339" y="2911496"/>
            <a:ext cx="3147280" cy="1912868"/>
          </a:xfrm>
          <a:prstGeom prst="rect">
            <a:avLst/>
          </a:prstGeom>
        </p:spPr>
      </p:pic>
      <p:pic>
        <p:nvPicPr>
          <p:cNvPr id="15" name="图片 14">
            <a:extLst>
              <a:ext uri="{FF2B5EF4-FFF2-40B4-BE49-F238E27FC236}">
                <a16:creationId xmlns:a16="http://schemas.microsoft.com/office/drawing/2014/main" id="{5E86A5DD-8B65-0FC7-450B-FB45FD4039F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43200" y="2550847"/>
            <a:ext cx="3360711" cy="259102"/>
          </a:xfrm>
          <a:prstGeom prst="rect">
            <a:avLst/>
          </a:prstGeom>
        </p:spPr>
      </p:pic>
    </p:spTree>
    <p:extLst>
      <p:ext uri="{BB962C8B-B14F-4D97-AF65-F5344CB8AC3E}">
        <p14:creationId xmlns:p14="http://schemas.microsoft.com/office/powerpoint/2010/main" val="3444181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FC93E-385B-B693-048A-64544D514089}"/>
              </a:ext>
            </a:extLst>
          </p:cNvPr>
          <p:cNvSpPr>
            <a:spLocks noGrp="1"/>
          </p:cNvSpPr>
          <p:nvPr>
            <p:ph type="title"/>
          </p:nvPr>
        </p:nvSpPr>
        <p:spPr/>
        <p:txBody>
          <a:bodyPr/>
          <a:lstStyle/>
          <a:p>
            <a:r>
              <a:rPr lang="en-US" dirty="0"/>
              <a:t>Time Varying SLO</a:t>
            </a:r>
          </a:p>
        </p:txBody>
      </p:sp>
      <p:sp>
        <p:nvSpPr>
          <p:cNvPr id="3" name="Content Placeholder 2">
            <a:extLst>
              <a:ext uri="{FF2B5EF4-FFF2-40B4-BE49-F238E27FC236}">
                <a16:creationId xmlns:a16="http://schemas.microsoft.com/office/drawing/2014/main" id="{559F4F24-244C-7599-F85C-0DFE327865E0}"/>
              </a:ext>
            </a:extLst>
          </p:cNvPr>
          <p:cNvSpPr>
            <a:spLocks noGrp="1"/>
          </p:cNvSpPr>
          <p:nvPr>
            <p:ph idx="1"/>
          </p:nvPr>
        </p:nvSpPr>
        <p:spPr/>
        <p:txBody>
          <a:bodyPr/>
          <a:lstStyle/>
          <a:p>
            <a:r>
              <a:rPr lang="en-US" sz="2000" dirty="0"/>
              <a:t>S</a:t>
            </a:r>
            <a:r>
              <a:rPr lang="en-US" altLang="zh-CN" sz="2000" dirty="0"/>
              <a:t>ervice Level Objective (SLO)</a:t>
            </a:r>
          </a:p>
          <a:p>
            <a:endParaRPr lang="en-US" altLang="zh-CN" sz="2000" dirty="0"/>
          </a:p>
          <a:p>
            <a:endParaRPr lang="en-US" altLang="zh-CN" sz="2000" dirty="0"/>
          </a:p>
          <a:p>
            <a:endParaRPr lang="en-US" altLang="zh-CN" sz="2000" dirty="0"/>
          </a:p>
          <a:p>
            <a:endParaRPr lang="en-US" altLang="zh-CN" sz="2000" dirty="0"/>
          </a:p>
          <a:p>
            <a:endParaRPr lang="en-US" altLang="zh-CN" sz="2000" dirty="0"/>
          </a:p>
          <a:p>
            <a:endParaRPr lang="en-US" altLang="zh-CN" sz="2000" dirty="0"/>
          </a:p>
          <a:p>
            <a:endParaRPr lang="en-US" altLang="zh-CN" sz="2000" dirty="0"/>
          </a:p>
          <a:p>
            <a:endParaRPr lang="en-US" altLang="zh-CN" sz="2000" dirty="0"/>
          </a:p>
          <a:p>
            <a:endParaRPr lang="en-US" altLang="zh-CN" sz="2000" dirty="0"/>
          </a:p>
          <a:p>
            <a:endParaRPr lang="en-US" altLang="zh-CN" sz="2000" dirty="0"/>
          </a:p>
          <a:p>
            <a:r>
              <a:rPr lang="en-US" altLang="zh-CN" sz="2000" dirty="0"/>
              <a:t>CapGPU is able to adapt changing SLOs of each inference task because of SLO constraints in MPC.</a:t>
            </a:r>
          </a:p>
        </p:txBody>
      </p:sp>
      <p:pic>
        <p:nvPicPr>
          <p:cNvPr id="4" name="Picture 3" descr="A graph of a graph&#10;&#10;AI-generated content may be incorrect.">
            <a:extLst>
              <a:ext uri="{FF2B5EF4-FFF2-40B4-BE49-F238E27FC236}">
                <a16:creationId xmlns:a16="http://schemas.microsoft.com/office/drawing/2014/main" id="{B5720766-3BFB-F449-DEB2-D40AB95B76D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19754" y="2943841"/>
            <a:ext cx="4743450" cy="1814229"/>
          </a:xfrm>
          <a:prstGeom prst="rect">
            <a:avLst/>
          </a:prstGeom>
        </p:spPr>
      </p:pic>
      <p:pic>
        <p:nvPicPr>
          <p:cNvPr id="6" name="Picture 5" descr="A screenshot of a graph&#10;&#10;AI-generated content may be incorrect.">
            <a:extLst>
              <a:ext uri="{FF2B5EF4-FFF2-40B4-BE49-F238E27FC236}">
                <a16:creationId xmlns:a16="http://schemas.microsoft.com/office/drawing/2014/main" id="{7965D501-1233-86CA-ACDA-804B07E905E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0947" y="2341702"/>
            <a:ext cx="4597232" cy="2805399"/>
          </a:xfrm>
          <a:prstGeom prst="rect">
            <a:avLst/>
          </a:prstGeom>
        </p:spPr>
      </p:pic>
      <p:sp>
        <p:nvSpPr>
          <p:cNvPr id="5" name="Rectangle 4">
            <a:extLst>
              <a:ext uri="{FF2B5EF4-FFF2-40B4-BE49-F238E27FC236}">
                <a16:creationId xmlns:a16="http://schemas.microsoft.com/office/drawing/2014/main" id="{0E7E9826-C61B-40B1-8EC9-8D2DFA54AC7F}"/>
              </a:ext>
            </a:extLst>
          </p:cNvPr>
          <p:cNvSpPr/>
          <p:nvPr/>
        </p:nvSpPr>
        <p:spPr bwMode="auto">
          <a:xfrm>
            <a:off x="4508668" y="2009752"/>
            <a:ext cx="4597232" cy="3006299"/>
          </a:xfrm>
          <a:prstGeom prst="rect">
            <a:avLst/>
          </a:prstGeom>
          <a:noFill/>
          <a:ln w="6350" cap="flat" cmpd="sng" algn="ctr">
            <a:solidFill>
              <a:srgbClr val="961C1F"/>
            </a:solidFill>
            <a:prstDash val="solid"/>
            <a:round/>
            <a:headEnd type="triangle" w="sm" len="lg"/>
            <a:tailEnd type="triangle" w="sm" len="lg"/>
          </a:ln>
          <a:effectLst/>
        </p:spPr>
        <p:txBody>
          <a:bodyPr vert="horz" wrap="non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3400" b="0" i="0" u="sng" strike="noStrike" cap="none" normalizeH="0" baseline="0">
              <a:ln>
                <a:noFill/>
              </a:ln>
              <a:solidFill>
                <a:schemeClr val="tx1"/>
              </a:solidFill>
              <a:effectLst/>
              <a:latin typeface="Arial" charset="0"/>
            </a:endParaRPr>
          </a:p>
        </p:txBody>
      </p:sp>
    </p:spTree>
    <p:extLst>
      <p:ext uri="{BB962C8B-B14F-4D97-AF65-F5344CB8AC3E}">
        <p14:creationId xmlns:p14="http://schemas.microsoft.com/office/powerpoint/2010/main" val="4201686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a:t>
            </a:r>
          </a:p>
        </p:txBody>
      </p:sp>
      <p:sp>
        <p:nvSpPr>
          <p:cNvPr id="7" name="Content Placeholder 6"/>
          <p:cNvSpPr>
            <a:spLocks noGrp="1"/>
          </p:cNvSpPr>
          <p:nvPr>
            <p:ph idx="1"/>
          </p:nvPr>
        </p:nvSpPr>
        <p:spPr>
          <a:xfrm>
            <a:off x="762000" y="1219200"/>
            <a:ext cx="7772400" cy="4722813"/>
          </a:xfrm>
        </p:spPr>
        <p:txBody>
          <a:bodyPr/>
          <a:lstStyle/>
          <a:p>
            <a:pPr marL="446087" lvl="1" indent="0">
              <a:buNone/>
            </a:pPr>
            <a:endParaRPr lang="en-US" sz="2000" dirty="0"/>
          </a:p>
          <a:p>
            <a:r>
              <a:rPr lang="en-US" sz="2000" dirty="0"/>
              <a:t>Power oversubscription</a:t>
            </a:r>
          </a:p>
          <a:p>
            <a:r>
              <a:rPr lang="en-US" sz="2000" dirty="0"/>
              <a:t>Power demand of modern inference server</a:t>
            </a:r>
          </a:p>
          <a:p>
            <a:r>
              <a:rPr lang="en-US" altLang="zh-CN" sz="2000" dirty="0"/>
              <a:t>Existing power capping </a:t>
            </a:r>
            <a:r>
              <a:rPr lang="en-US" sz="2000" dirty="0"/>
              <a:t>cannot take coordinated control of GPU + CPU for inference servers.</a:t>
            </a:r>
          </a:p>
          <a:p>
            <a:endParaRPr lang="en-US" sz="2000" dirty="0"/>
          </a:p>
          <a:p>
            <a:r>
              <a:rPr lang="en-US" sz="2000" dirty="0" err="1"/>
              <a:t>CapGPU</a:t>
            </a:r>
            <a:r>
              <a:rPr lang="en-US" sz="2000" dirty="0"/>
              <a:t> is the first MIMO power capping method coordinating both GPU and CPU on ML inference server.</a:t>
            </a:r>
          </a:p>
          <a:p>
            <a:pPr lvl="1"/>
            <a:r>
              <a:rPr lang="en-US" sz="2000" dirty="0"/>
              <a:t>More precise power control </a:t>
            </a:r>
          </a:p>
          <a:p>
            <a:pPr lvl="1"/>
            <a:r>
              <a:rPr lang="en-US" sz="2000" dirty="0"/>
              <a:t>Higher inference throughput</a:t>
            </a:r>
          </a:p>
          <a:p>
            <a:pPr lvl="1"/>
            <a:r>
              <a:rPr lang="en-US" sz="2000" dirty="0"/>
              <a:t>Better inference latency guarantees</a:t>
            </a:r>
          </a:p>
        </p:txBody>
      </p:sp>
    </p:spTree>
    <p:extLst>
      <p:ext uri="{BB962C8B-B14F-4D97-AF65-F5344CB8AC3E}">
        <p14:creationId xmlns:p14="http://schemas.microsoft.com/office/powerpoint/2010/main" val="4101723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BEE78F-B78C-8812-C0FC-AB43045FD7CF}"/>
              </a:ext>
            </a:extLst>
          </p:cNvPr>
          <p:cNvSpPr>
            <a:spLocks noGrp="1"/>
          </p:cNvSpPr>
          <p:nvPr>
            <p:ph type="title"/>
          </p:nvPr>
        </p:nvSpPr>
        <p:spPr/>
        <p:txBody>
          <a:bodyPr/>
          <a:lstStyle/>
          <a:p>
            <a:r>
              <a:rPr lang="en-US" dirty="0"/>
              <a:t>Acknowledgement</a:t>
            </a:r>
          </a:p>
        </p:txBody>
      </p:sp>
      <p:sp>
        <p:nvSpPr>
          <p:cNvPr id="3" name="Content Placeholder 2">
            <a:extLst>
              <a:ext uri="{FF2B5EF4-FFF2-40B4-BE49-F238E27FC236}">
                <a16:creationId xmlns:a16="http://schemas.microsoft.com/office/drawing/2014/main" id="{C4A413AC-30A8-7936-26AB-2C1E7CA226B0}"/>
              </a:ext>
            </a:extLst>
          </p:cNvPr>
          <p:cNvSpPr>
            <a:spLocks noGrp="1"/>
          </p:cNvSpPr>
          <p:nvPr>
            <p:ph idx="1"/>
          </p:nvPr>
        </p:nvSpPr>
        <p:spPr/>
        <p:txBody>
          <a:bodyPr/>
          <a:lstStyle/>
          <a:p>
            <a:r>
              <a:rPr lang="en-US" sz="2000" dirty="0"/>
              <a:t>This work was supported in part by the U.S. National Science Foundation under Grants CNS-2336886 and CNS-2344505. </a:t>
            </a:r>
          </a:p>
          <a:p>
            <a:pPr marL="0" indent="0">
              <a:buNone/>
            </a:pPr>
            <a:endParaRPr lang="en-US" sz="2000" dirty="0"/>
          </a:p>
        </p:txBody>
      </p:sp>
    </p:spTree>
    <p:extLst>
      <p:ext uri="{BB962C8B-B14F-4D97-AF65-F5344CB8AC3E}">
        <p14:creationId xmlns:p14="http://schemas.microsoft.com/office/powerpoint/2010/main" val="27605528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E86665B-89B4-CCA5-3B9B-9D0C76D29D86}"/>
              </a:ext>
            </a:extLst>
          </p:cNvPr>
          <p:cNvSpPr>
            <a:spLocks noGrp="1"/>
          </p:cNvSpPr>
          <p:nvPr>
            <p:ph type="ctrTitle" sz="quarter"/>
          </p:nvPr>
        </p:nvSpPr>
        <p:spPr/>
        <p:txBody>
          <a:bodyPr/>
          <a:lstStyle/>
          <a:p>
            <a:r>
              <a:rPr lang="en-US" dirty="0"/>
              <a:t>Thank you for listening!</a:t>
            </a:r>
          </a:p>
        </p:txBody>
      </p:sp>
      <p:sp>
        <p:nvSpPr>
          <p:cNvPr id="5" name="Subtitle 4">
            <a:extLst>
              <a:ext uri="{FF2B5EF4-FFF2-40B4-BE49-F238E27FC236}">
                <a16:creationId xmlns:a16="http://schemas.microsoft.com/office/drawing/2014/main" id="{AF4DBD01-0148-9F7D-3AC8-A424F757F14C}"/>
              </a:ext>
            </a:extLst>
          </p:cNvPr>
          <p:cNvSpPr>
            <a:spLocks noGrp="1"/>
          </p:cNvSpPr>
          <p:nvPr>
            <p:ph type="subTitle" sz="quarter" idx="1"/>
          </p:nvPr>
        </p:nvSpPr>
        <p:spPr>
          <a:xfrm>
            <a:off x="1066800" y="3278188"/>
            <a:ext cx="7467599" cy="1827212"/>
          </a:xfrm>
        </p:spPr>
        <p:txBody>
          <a:bodyPr/>
          <a:lstStyle/>
          <a:p>
            <a:endParaRPr lang="en-US" sz="2000" i="1" u="sng" dirty="0"/>
          </a:p>
        </p:txBody>
      </p:sp>
    </p:spTree>
    <p:extLst>
      <p:ext uri="{BB962C8B-B14F-4D97-AF65-F5344CB8AC3E}">
        <p14:creationId xmlns:p14="http://schemas.microsoft.com/office/powerpoint/2010/main" val="3160711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nodePh="1">
                                  <p:stCondLst>
                                    <p:cond delay="0"/>
                                  </p:stCondLst>
                                  <p:endCondLst>
                                    <p:cond evt="begin" delay="0">
                                      <p:tn val="5"/>
                                    </p:cond>
                                  </p:end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56CD5-4DD4-B649-4E41-26D7F760DDC0}"/>
              </a:ext>
            </a:extLst>
          </p:cNvPr>
          <p:cNvSpPr>
            <a:spLocks noGrp="1"/>
          </p:cNvSpPr>
          <p:nvPr>
            <p:ph type="title"/>
          </p:nvPr>
        </p:nvSpPr>
        <p:spPr/>
        <p:txBody>
          <a:bodyPr/>
          <a:lstStyle/>
          <a:p>
            <a:r>
              <a:rPr lang="en-US" dirty="0"/>
              <a:t>Stability Analysis</a:t>
            </a:r>
          </a:p>
        </p:txBody>
      </p:sp>
      <p:sp>
        <p:nvSpPr>
          <p:cNvPr id="3" name="Content Placeholder 2">
            <a:extLst>
              <a:ext uri="{FF2B5EF4-FFF2-40B4-BE49-F238E27FC236}">
                <a16:creationId xmlns:a16="http://schemas.microsoft.com/office/drawing/2014/main" id="{77432FF2-DB7C-CDC2-9DA9-F0862E971B2B}"/>
              </a:ext>
            </a:extLst>
          </p:cNvPr>
          <p:cNvSpPr>
            <a:spLocks noGrp="1"/>
          </p:cNvSpPr>
          <p:nvPr>
            <p:ph idx="1"/>
          </p:nvPr>
        </p:nvSpPr>
        <p:spPr>
          <a:xfrm>
            <a:off x="788988" y="1612900"/>
            <a:ext cx="7745413" cy="4722813"/>
          </a:xfrm>
        </p:spPr>
        <p:txBody>
          <a:bodyPr/>
          <a:lstStyle/>
          <a:p>
            <a:endParaRPr lang="en-US" sz="2000" dirty="0"/>
          </a:p>
          <a:p>
            <a:endParaRPr lang="en-US" sz="2000" dirty="0"/>
          </a:p>
          <a:p>
            <a:r>
              <a:rPr lang="en-US" sz="2000" dirty="0"/>
              <a:t>The system is stable if the total power converges to the desired setpoint.</a:t>
            </a:r>
          </a:p>
          <a:p>
            <a:pPr lvl="1"/>
            <a:r>
              <a:rPr lang="en-US" sz="2000" dirty="0"/>
              <a:t>Ps is the desired setpoint.</a:t>
            </a:r>
          </a:p>
          <a:p>
            <a:pPr lvl="1"/>
            <a:r>
              <a:rPr lang="en-US" sz="2000" dirty="0"/>
              <a:t>p(k) is the total power.</a:t>
            </a:r>
          </a:p>
          <a:p>
            <a:r>
              <a:rPr lang="en-US" sz="2000" dirty="0"/>
              <a:t>Nominal Control Inputs</a:t>
            </a:r>
          </a:p>
          <a:p>
            <a:r>
              <a:rPr lang="en-US" sz="2000" dirty="0"/>
              <a:t>Actual System Model</a:t>
            </a:r>
          </a:p>
          <a:p>
            <a:r>
              <a:rPr lang="en-US" sz="2000" dirty="0"/>
              <a:t>Closed-Loop System</a:t>
            </a:r>
          </a:p>
          <a:p>
            <a:r>
              <a:rPr lang="en-US" sz="2000" dirty="0"/>
              <a:t>Pole Analysis</a:t>
            </a:r>
          </a:p>
          <a:p>
            <a:endParaRPr lang="en-US" dirty="0"/>
          </a:p>
        </p:txBody>
      </p:sp>
      <p:pic>
        <p:nvPicPr>
          <p:cNvPr id="5" name="Picture 4" descr="A group of black letters&#10;&#10;AI-generated content may be incorrect.">
            <a:extLst>
              <a:ext uri="{FF2B5EF4-FFF2-40B4-BE49-F238E27FC236}">
                <a16:creationId xmlns:a16="http://schemas.microsoft.com/office/drawing/2014/main" id="{82B9C731-EAA8-F4DE-5A00-6F9D0A2F82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06435" y="1676400"/>
            <a:ext cx="3131129" cy="533400"/>
          </a:xfrm>
          <a:prstGeom prst="rect">
            <a:avLst/>
          </a:prstGeom>
        </p:spPr>
      </p:pic>
    </p:spTree>
    <p:extLst>
      <p:ext uri="{BB962C8B-B14F-4D97-AF65-F5344CB8AC3E}">
        <p14:creationId xmlns:p14="http://schemas.microsoft.com/office/powerpoint/2010/main" val="2030290908"/>
      </p:ext>
    </p:extLst>
  </p:cSld>
  <p:clrMapOvr>
    <a:masterClrMapping/>
  </p:clrMapOvr>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6350" cap="flat" cmpd="sng" algn="ctr">
          <a:solidFill>
            <a:schemeClr val="tx1"/>
          </a:solidFill>
          <a:prstDash val="solid"/>
          <a:round/>
          <a:headEnd type="triangle" w="sm" len="lg"/>
          <a:tailEnd type="triangle" w="sm" len="lg"/>
        </a:ln>
        <a:effectLst/>
      </a:spPr>
      <a:bodyPr vert="horz" wrap="non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3400" b="0" i="0" u="sng"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6350" cap="flat" cmpd="sng" algn="ctr">
          <a:solidFill>
            <a:schemeClr val="tx1"/>
          </a:solidFill>
          <a:prstDash val="solid"/>
          <a:round/>
          <a:headEnd type="triangle" w="sm" len="lg"/>
          <a:tailEnd type="triangle" w="sm" len="lg"/>
        </a:ln>
        <a:effectLst/>
      </a:spPr>
      <a:bodyPr vert="horz" wrap="none" lIns="91440" tIns="45720" rIns="91440" bIns="45720" numCol="1" anchor="ctr"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3400" b="0" i="0" u="sng"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5E574E"/>
        </a:dk1>
        <a:lt1>
          <a:srgbClr val="FFFFCC"/>
        </a:lt1>
        <a:dk2>
          <a:srgbClr val="000000"/>
        </a:dk2>
        <a:lt2>
          <a:srgbClr val="FFCC00"/>
        </a:lt2>
        <a:accent1>
          <a:srgbClr val="CC9900"/>
        </a:accent1>
        <a:accent2>
          <a:srgbClr val="FF6600"/>
        </a:accent2>
        <a:accent3>
          <a:srgbClr val="AA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8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FF0000"/>
        </a:hlink>
        <a:folHlink>
          <a:srgbClr val="FFFFCC"/>
        </a:folHlink>
      </a:clrScheme>
      <a:clrMap bg1="lt1" tx1="dk1" bg2="lt2" tx2="dk2" accent1="accent1" accent2="accent2" accent3="accent3" accent4="accent4" accent5="accent5" accent6="accent6" hlink="hlink" folHlink="folHlink"/>
    </a:extraClrScheme>
    <a:extraClrScheme>
      <a:clrScheme name="Default Design 5">
        <a:dk1>
          <a:srgbClr val="000066"/>
        </a:dk1>
        <a:lt1>
          <a:srgbClr val="FFFFFF"/>
        </a:lt1>
        <a:dk2>
          <a:srgbClr val="0000FF"/>
        </a:dk2>
        <a:lt2>
          <a:srgbClr val="000000"/>
        </a:lt2>
        <a:accent1>
          <a:srgbClr val="0066FF"/>
        </a:accent1>
        <a:accent2>
          <a:srgbClr val="33CCCC"/>
        </a:accent2>
        <a:accent3>
          <a:srgbClr val="FFFFFF"/>
        </a:accent3>
        <a:accent4>
          <a:srgbClr val="000056"/>
        </a:accent4>
        <a:accent5>
          <a:srgbClr val="AAB8FF"/>
        </a:accent5>
        <a:accent6>
          <a:srgbClr val="2DB9B9"/>
        </a:accent6>
        <a:hlink>
          <a:srgbClr val="FF00FF"/>
        </a:hlink>
        <a:folHlink>
          <a:srgbClr val="9933FF"/>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66"/>
        </a:dk2>
        <a:lt2>
          <a:srgbClr val="FFCC00"/>
        </a:lt2>
        <a:accent1>
          <a:srgbClr val="0066FF"/>
        </a:accent1>
        <a:accent2>
          <a:srgbClr val="33CCCC"/>
        </a:accent2>
        <a:accent3>
          <a:srgbClr val="AAAAB8"/>
        </a:accent3>
        <a:accent4>
          <a:srgbClr val="DADADA"/>
        </a:accent4>
        <a:accent5>
          <a:srgbClr val="AAB8FF"/>
        </a:accent5>
        <a:accent6>
          <a:srgbClr val="2DB9B9"/>
        </a:accent6>
        <a:hlink>
          <a:srgbClr val="FF00FF"/>
        </a:hlink>
        <a:folHlink>
          <a:srgbClr val="9933FF"/>
        </a:folHlink>
      </a:clrScheme>
      <a:clrMap bg1="dk2" tx1="lt1" bg2="dk1" tx2="lt2" accent1="accent1" accent2="accent2" accent3="accent3" accent4="accent4" accent5="accent5" accent6="accent6" hlink="hlink" folHlink="folHlink"/>
    </a:extraClrScheme>
    <a:extraClrScheme>
      <a:clrScheme name="Default Design 7">
        <a:dk1>
          <a:srgbClr val="5E574E"/>
        </a:dk1>
        <a:lt1>
          <a:srgbClr val="FFFFCC"/>
        </a:lt1>
        <a:dk2>
          <a:srgbClr val="800000"/>
        </a:dk2>
        <a:lt2>
          <a:srgbClr val="FFCC00"/>
        </a:lt2>
        <a:accent1>
          <a:srgbClr val="CC9900"/>
        </a:accent1>
        <a:accent2>
          <a:srgbClr val="FF6600"/>
        </a:accent2>
        <a:accent3>
          <a:srgbClr val="C0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145aced0-3c40-47b0-b9bf-3fe1deb57209"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3C99CB9CD566A4C904B87086A1433C7" ma:contentTypeVersion="11" ma:contentTypeDescription="Create a new document." ma:contentTypeScope="" ma:versionID="a72e2c11a57b37d85bba7ab1978c1d37">
  <xsd:schema xmlns:xsd="http://www.w3.org/2001/XMLSchema" xmlns:xs="http://www.w3.org/2001/XMLSchema" xmlns:p="http://schemas.microsoft.com/office/2006/metadata/properties" xmlns:ns3="145aced0-3c40-47b0-b9bf-3fe1deb57209" targetNamespace="http://schemas.microsoft.com/office/2006/metadata/properties" ma:root="true" ma:fieldsID="058b42c46622c591f38d4a21f50d0701" ns3:_="">
    <xsd:import namespace="145aced0-3c40-47b0-b9bf-3fe1deb57209"/>
    <xsd:element name="properties">
      <xsd:complexType>
        <xsd:sequence>
          <xsd:element name="documentManagement">
            <xsd:complexType>
              <xsd:all>
                <xsd:element ref="ns3:_activity" minOccurs="0"/>
                <xsd:element ref="ns3:MediaServiceMetadata" minOccurs="0"/>
                <xsd:element ref="ns3:MediaServiceFastMetadata" minOccurs="0"/>
                <xsd:element ref="ns3:MediaServiceSearchProperties" minOccurs="0"/>
                <xsd:element ref="ns3:MediaServiceObjectDetectorVersions" minOccurs="0"/>
                <xsd:element ref="ns3:MediaServiceDateTaken" minOccurs="0"/>
                <xsd:element ref="ns3:MediaServiceSystemTags" minOccurs="0"/>
                <xsd:element ref="ns3:MediaServiceOCR"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45aced0-3c40-47b0-b9bf-3fe1deb57209"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A0CBF0B-E4D6-4F6A-A0AD-7F27BB49D0A5}">
  <ds:schemaRefs>
    <ds:schemaRef ds:uri="http://schemas.microsoft.com/sharepoint/v3/contenttype/forms"/>
  </ds:schemaRefs>
</ds:datastoreItem>
</file>

<file path=customXml/itemProps2.xml><?xml version="1.0" encoding="utf-8"?>
<ds:datastoreItem xmlns:ds="http://schemas.openxmlformats.org/officeDocument/2006/customXml" ds:itemID="{213249E7-EB68-4224-9EE5-57F4518130A1}">
  <ds:schemaRefs>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145aced0-3c40-47b0-b9bf-3fe1deb57209"/>
    <ds:schemaRef ds:uri="http://purl.org/dc/elements/1.1/"/>
    <ds:schemaRef ds:uri="http://www.w3.org/XML/1998/namespace"/>
    <ds:schemaRef ds:uri="http://purl.org/dc/dcmitype/"/>
  </ds:schemaRefs>
</ds:datastoreItem>
</file>

<file path=customXml/itemProps3.xml><?xml version="1.0" encoding="utf-8"?>
<ds:datastoreItem xmlns:ds="http://schemas.openxmlformats.org/officeDocument/2006/customXml" ds:itemID="{70F09BD8-6AD6-4FE5-8690-40980118B5F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45aced0-3c40-47b0-b9bf-3fe1deb5720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56964</TotalTime>
  <Words>3900</Words>
  <Application>Microsoft Office PowerPoint</Application>
  <PresentationFormat>全屏显示(4:3)</PresentationFormat>
  <Paragraphs>369</Paragraphs>
  <Slides>19</Slides>
  <Notes>17</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19</vt:i4>
      </vt:variant>
    </vt:vector>
  </HeadingPairs>
  <TitlesOfParts>
    <vt:vector size="28" baseType="lpstr">
      <vt:lpstr>cmbxsl10</vt:lpstr>
      <vt:lpstr>宋体</vt:lpstr>
      <vt:lpstr>Aharoni</vt:lpstr>
      <vt:lpstr>Arial</vt:lpstr>
      <vt:lpstr>Bernard MT Condensed</vt:lpstr>
      <vt:lpstr>Cambria Math</vt:lpstr>
      <vt:lpstr>Times New Roman</vt:lpstr>
      <vt:lpstr>Wingdings</vt:lpstr>
      <vt:lpstr>Default Design</vt:lpstr>
      <vt:lpstr>Power Capping of GPU Servers for Machine Learning Inference Optimization</vt:lpstr>
      <vt:lpstr>The Impact of AI on Datacenter</vt:lpstr>
      <vt:lpstr>Why Power Capping</vt:lpstr>
      <vt:lpstr>Power Capping Technique</vt:lpstr>
      <vt:lpstr>Objectives</vt:lpstr>
      <vt:lpstr>Problem Formulation</vt:lpstr>
      <vt:lpstr>Proposed Solution</vt:lpstr>
      <vt:lpstr>System Model</vt:lpstr>
      <vt:lpstr>Model Predictive Controller</vt:lpstr>
      <vt:lpstr>Weight Assignment</vt:lpstr>
      <vt:lpstr>Experimental Setup</vt:lpstr>
      <vt:lpstr>Baselines</vt:lpstr>
      <vt:lpstr>Comparison with Baselines</vt:lpstr>
      <vt:lpstr>Comparison for Different Setpoints</vt:lpstr>
      <vt:lpstr>Time Varying SLO</vt:lpstr>
      <vt:lpstr>Conclusion</vt:lpstr>
      <vt:lpstr>Acknowledgement</vt:lpstr>
      <vt:lpstr>Thank you for listening!</vt:lpstr>
      <vt:lpstr>Stability Analysis</vt:lpstr>
    </vt:vector>
  </TitlesOfParts>
  <Company>PDF Solutions,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TC90: Presentation Title</dc:title>
  <dc:creator>John Kim</dc:creator>
  <cp:lastModifiedBy>Ma, Yuan</cp:lastModifiedBy>
  <cp:revision>1384</cp:revision>
  <dcterms:created xsi:type="dcterms:W3CDTF">2005-12-12T23:58:54Z</dcterms:created>
  <dcterms:modified xsi:type="dcterms:W3CDTF">2025-09-12T17:35:35Z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0x01010063C99CB9CD566A4C904B87086A1433C7</vt:lpwstr>
  </property>
</Properties>
</file>